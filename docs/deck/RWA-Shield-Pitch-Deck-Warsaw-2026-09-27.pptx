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Oracle price is not cash. I'm Dorian, and this is RWA Shield. We price recoverable collateral.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 deposit USDC to tokenized stock pool to get some yield,  against a tokenized stock. The oracle says collateral it is worth one hundred. But the market is closed, or the book is thin. Lender get liquidated, and you get much less. That gap is bad debt. Press reports: over two hundred million dollars of tokenized stocks traded on Solana in one day. Our first user is not retail — it is a lending venue on Solana that accepts xStocks.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built ECV — Executable Collateral Value. How much USDC can you really recover, right now? Five outputs: max borrow, cap, route, premium, and borrow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Watch the breaker.
This is our Kamino risk dashboard. Recorded Kamino market data, Jupiter quotes measured at four-seventeen, stress sandbox — not a live signal.
Tesla xStock, one hundred thousand dollars, weekend. Oracle price: about three hundred seventy-two dollars.
ECV: about eighty-four thousand of that hundred thousand — a haircut of about sixteen percent, mostly our weekend buffer — a policy choice.
Safe max borrow: about fifty-nine thousand, next to Kamino's LTV limit of fifty-five thousand. Status: WARNING, because USDC utilization is at the ninety-percent rate kink.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label: synthetic, in-sample. On a synthetic in-sample book, not historical mainnet data. A fixed seventy percent LTV could leave potentially about three point nine eight million dollars of bad debt. ECV: zero bad debt. How? In the tail scenario it refuses all three hundred sixty-nine new loans. In the calm base scenario it lends about the same as fixed LTV.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our last pitch, ECV went on-chain: our Anchor program, published on Solana devnet yesterday. Scan the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Solana? Because the collateral already lives here. xStocks are native on Solana, and Jupiter routes are the real liquidation path. And publishing is cheap: the base fee is 5,000 lamports per signature, a fraction of a cent, so the ECV record can be refreshed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make money? First, a risk API and SDK: lending venues pay for ECV quotes and breakers. Second, we may build our own money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Mieszko Manijak, our DeFi expert, built the Anchor program and the Rust poster. Julita Szaruta leads legal and regulatory, experience in WEB3. Adam Książkiewicz did the devnet deployment. And as an Advisor we have experienced staff-level COBOL/ mainframe, 20 years core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fourteen days: we fix the xStocks mint mapping on-chain, then a vault and a borrow gate that reads the ECV record. From you: intros to lending venues that hold xStocks, and Rust and frontend engineers. Oracle price is not cash.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Dorianos85/rwa-shield/tree/main/onchain" TargetMode="External"/><Relationship Id="rId1" Type="http://schemas.openxmlformats.org/officeDocument/2006/relationships/image" Target="../media/Slide-10-image-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b1-tile"/>
          <p:cNvSpPr/>
          <p:nvPr/>
        </p:nvSpPr>
        <p:spPr>
          <a:xfrm>
            <a:off x="812800" y="952500"/>
            <a:ext cx="1117600" cy="1117600"/>
          </a:xfrm>
          <a:prstGeom prst="roundRect">
            <a:avLst>
              <a:gd name="adj" fmla="val 15909"/>
            </a:avLst>
          </a:prstGeom>
          <a:solidFill>
            <a:srgbClr val="0B0E14"/>
          </a:solidFill>
          <a:ln w="9525">
            <a:solidFill>
              <a:srgbClr val="2CD8DF">
                <a:alpha val="28000"/>
              </a:srgbClr>
            </a:solidFill>
            <a:prstDash val="solid"/>
          </a:ln>
          <a:effectLst>
            <a:outerShdw sx="100000" sy="100000" kx="0" ky="0" algn="bl" rotWithShape="0" blurRad="381000" dist="1270" dir="16200000">
              <a:srgbClr val="2CD8DF">
                <a:alpha val="30000"/>
              </a:srgbClr>
            </a:outerShdw>
          </a:effectLst>
        </p:spPr>
      </p:sp>
      <p:pic>
        <p:nvPicPr>
          <p:cNvPr id="3" name="b1-logo" descr="RWA Shield logo">    </p:cNvPr>
          <p:cNvPicPr>
            <a:picLocks noChangeAspect="1"/>
          </p:cNvPicPr>
          <p:nvPr/>
        </p:nvPicPr>
        <p:blipFill>
          <a:blip r:embed="rId2"/>
          <a:stretch>
            <a:fillRect/>
          </a:stretch>
        </p:blipFill>
        <p:spPr>
          <a:xfrm>
            <a:off x="914400" y="1054100"/>
            <a:ext cx="914400" cy="914400"/>
          </a:xfrm>
          <a:prstGeom prst="rect">
            <a:avLst/>
          </a:prstGeom>
        </p:spPr>
      </p:pic>
      <p:sp>
        <p:nvSpPr>
          <p:cNvPr id="4" name="b2-title"/>
          <p:cNvSpPr txBox="1"/>
          <p:nvPr/>
        </p:nvSpPr>
        <p:spPr>
          <a:xfrm>
            <a:off x="812800" y="2514600"/>
            <a:ext cx="4445000" cy="1841500"/>
          </a:xfrm>
          <a:prstGeom prst="rect">
            <a:avLst/>
          </a:prstGeom>
          <a:noFill/>
          <a:ln/>
        </p:spPr>
        <p:txBody>
          <a:bodyPr wrap="square" lIns="0" tIns="0" rIns="0" bIns="0" rtlCol="0" anchor="t"/>
          <a:lstStyle/>
          <a:p>
            <a:pPr algn="l" indent="0" marL="0">
              <a:lnSpc>
                <a:spcPct val="92000"/>
              </a:lnSpc>
              <a:buNone/>
            </a:pPr>
            <a:r>
              <a:rPr lang="en-US" sz="7200" b="1" spc="300" kern="0" dirty="0">
                <a:solidFill>
                  <a:srgbClr val="E8F1F2"/>
                </a:solidFill>
                <a:effectLst>
                  <a:glow rad="203200">
                    <a:srgbClr val="2CD8DF">
                      <a:alpha val="25000"/>
                    </a:srgbClr>
                  </a:glow>
                </a:effectLst>
                <a:latin typeface="Calibri" pitchFamily="34" charset="0"/>
                <a:ea typeface="Calibri" pitchFamily="34" charset="-122"/>
                <a:cs typeface="Calibri" pitchFamily="34" charset="-120"/>
              </a:rPr>
              <a:t>RWA</a:t>
            </a:r>
            <a:endParaRPr lang="en-US" sz="7200" dirty="0"/>
          </a:p>
          <a:p>
            <a:pPr algn="l" indent="0" marL="0">
              <a:lnSpc>
                <a:spcPct val="92000"/>
              </a:lnSpc>
              <a:buNone/>
            </a:pPr>
            <a:r>
              <a:rPr lang="en-US" sz="7200" b="1" spc="300" kern="0" dirty="0">
                <a:solidFill>
                  <a:srgbClr val="E8F1F2"/>
                </a:solidFill>
                <a:effectLst>
                  <a:glow rad="203200">
                    <a:srgbClr val="2CD8DF">
                      <a:alpha val="25000"/>
                    </a:srgbClr>
                  </a:glow>
                </a:effectLst>
                <a:latin typeface="Calibri" pitchFamily="34" charset="0"/>
                <a:ea typeface="Calibri" pitchFamily="34" charset="-122"/>
                <a:cs typeface="Calibri" pitchFamily="34" charset="-120"/>
              </a:rPr>
              <a:t>SHIELD</a:t>
            </a:r>
            <a:endParaRPr lang="en-US" sz="7200" dirty="0"/>
          </a:p>
        </p:txBody>
      </p:sp>
      <p:sp>
        <p:nvSpPr>
          <p:cNvPr id="5" name="b3-tag"/>
          <p:cNvSpPr txBox="1"/>
          <p:nvPr/>
        </p:nvSpPr>
        <p:spPr>
          <a:xfrm>
            <a:off x="812800" y="4597400"/>
            <a:ext cx="4953000" cy="825500"/>
          </a:xfrm>
          <a:prstGeom prst="rect">
            <a:avLst/>
          </a:prstGeom>
          <a:noFill/>
          <a:ln/>
        </p:spPr>
        <p:txBody>
          <a:bodyPr wrap="square" lIns="0" tIns="0" rIns="0" bIns="0" rtlCol="0" anchor="t"/>
          <a:lstStyle/>
          <a:p>
            <a:pPr algn="l" indent="0" marL="0">
              <a:lnSpc>
                <a:spcPct val="125000"/>
              </a:lnSpc>
              <a:buNone/>
            </a:pPr>
            <a:r>
              <a:rPr lang="en-US" sz="2200" dirty="0">
                <a:solidFill>
                  <a:srgbClr val="E8F1F2"/>
                </a:solidFill>
                <a:latin typeface="Calibri" pitchFamily="34" charset="0"/>
                <a:ea typeface="Calibri" pitchFamily="34" charset="-122"/>
                <a:cs typeface="Calibri" pitchFamily="34" charset="-120"/>
              </a:rPr>
              <a:t>Oracle price is not cash.</a:t>
            </a:r>
            <a:endParaRPr lang="en-US" sz="2200" dirty="0"/>
          </a:p>
          <a:p>
            <a:pPr algn="l" indent="0" marL="0">
              <a:lnSpc>
                <a:spcPct val="125000"/>
              </a:lnSpc>
              <a:buNone/>
            </a:pPr>
            <a:r>
              <a:rPr lang="en-US" sz="2200" dirty="0">
                <a:solidFill>
                  <a:srgbClr val="2CD8DF"/>
                </a:solidFill>
                <a:latin typeface="Calibri" pitchFamily="34" charset="0"/>
                <a:ea typeface="Calibri" pitchFamily="34" charset="-122"/>
                <a:cs typeface="Calibri" pitchFamily="34" charset="-120"/>
              </a:rPr>
              <a:t>We price recoverable collateral.</a:t>
            </a:r>
            <a:endParaRPr lang="en-US" sz="2200" dirty="0"/>
          </a:p>
        </p:txBody>
      </p:sp>
      <p:sp>
        <p:nvSpPr>
          <p:cNvPr id="6" name="b4-date"/>
          <p:cNvSpPr txBox="1"/>
          <p:nvPr/>
        </p:nvSpPr>
        <p:spPr>
          <a:xfrm>
            <a:off x="812800" y="5943600"/>
            <a:ext cx="4445000" cy="254000"/>
          </a:xfrm>
          <a:prstGeom prst="rect">
            <a:avLst/>
          </a:prstGeom>
          <a:noFill/>
          <a:ln/>
        </p:spPr>
        <p:txBody>
          <a:bodyPr wrap="square" lIns="0" tIns="0" rIns="0" bIns="0" rtlCol="0" anchor="t"/>
          <a:lstStyle/>
          <a:p>
            <a:pPr algn="l" indent="0" marL="0">
              <a:lnSpc>
                <a:spcPct val="115000"/>
              </a:lnSpc>
              <a:buNone/>
            </a:pPr>
            <a:r>
              <a:rPr lang="en-US" sz="1200" spc="150" kern="0" dirty="0">
                <a:solidFill>
                  <a:srgbClr val="8FA3A7"/>
                </a:solidFill>
                <a:latin typeface="Calibri" pitchFamily="34" charset="0"/>
                <a:ea typeface="Calibri" pitchFamily="34" charset="-122"/>
                <a:cs typeface="Calibri" pitchFamily="34" charset="-120"/>
              </a:rPr>
              <a:t>Warsaw  ·  27.09.2026</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400"/>
                                        <p:tgtEl>
                                          <p:spTgt spid="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400"/>
                                        <p:tgtEl>
                                          <p:spTgt spid="3"/>
                                        </p:tgtEl>
                                      </p:cBhvr>
                                    </p:animEffect>
                                  </p:childTnLst>
                                </p:cTn>
                              </p:par>
                            </p:childTnLst>
                          </p:cTn>
                        </p:par>
                        <p:par>
                          <p:cTn id="14" fill="hold">
                            <p:stCondLst>
                              <p:cond delay="4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00"/>
                                        <p:tgtEl>
                                          <p:spTgt spid="4"/>
                                        </p:tgtEl>
                                      </p:cBhvr>
                                    </p:animEffect>
                                  </p:childTnLst>
                                </p:cTn>
                              </p:par>
                            </p:childTnLst>
                          </p:cTn>
                        </p:par>
                        <p:par>
                          <p:cTn id="18" fill="hold">
                            <p:stCondLst>
                              <p:cond delay="80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par>
                          <p:cTn id="22" fill="hold">
                            <p:stCondLst>
                              <p:cond delay="1200"/>
                            </p:stCondLst>
                            <p:childTnLst>
                              <p:par>
                                <p:cTn id="19" presetID="10"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87400"/>
            <a:ext cx="10566400" cy="609600"/>
          </a:xfrm>
          <a:prstGeom prst="rect">
            <a:avLst/>
          </a:prstGeom>
          <a:noFill/>
          <a:ln/>
        </p:spPr>
        <p:txBody>
          <a:bodyPr wrap="square" lIns="0" tIns="0" rIns="0" bIns="0" rtlCol="0" anchor="t"/>
          <a:lstStyle/>
          <a:p>
            <a:pPr algn="l" indent="0" marL="0">
              <a:lnSpc>
                <a:spcPct val="105000"/>
              </a:lnSpc>
              <a:buNone/>
            </a:pPr>
            <a:r>
              <a:rPr lang="en-US" sz="3600" b="1" dirty="0">
                <a:solidFill>
                  <a:srgbClr val="E8F1F2"/>
                </a:solidFill>
                <a:latin typeface="Calibri" pitchFamily="34" charset="0"/>
                <a:ea typeface="Calibri" pitchFamily="34" charset="-122"/>
                <a:cs typeface="Calibri" pitchFamily="34" charset="-120"/>
              </a:rPr>
              <a:t>Oracle price ≠ cash in the pool</a:t>
            </a:r>
            <a:endParaRPr lang="en-US" sz="3600" dirty="0"/>
          </a:p>
        </p:txBody>
      </p:sp>
      <p:sp>
        <p:nvSpPr>
          <p:cNvPr id="3" name="Text 1"/>
          <p:cNvSpPr txBox="1"/>
          <p:nvPr/>
        </p:nvSpPr>
        <p:spPr>
          <a:xfrm>
            <a:off x="812800" y="1422400"/>
            <a:ext cx="10566400" cy="317500"/>
          </a:xfrm>
          <a:prstGeom prst="rect">
            <a:avLst/>
          </a:prstGeom>
          <a:noFill/>
          <a:ln/>
        </p:spPr>
        <p:txBody>
          <a:bodyPr wrap="square" lIns="0" tIns="0" rIns="0" bIns="0" rtlCol="0" anchor="t"/>
          <a:lstStyle/>
          <a:p>
            <a:pPr algn="l" indent="0" marL="0">
              <a:lnSpc>
                <a:spcPct val="115000"/>
              </a:lnSpc>
              <a:buNone/>
            </a:pPr>
            <a:r>
              <a:rPr lang="en-US" sz="1600" dirty="0">
                <a:solidFill>
                  <a:srgbClr val="8FA3A7"/>
                </a:solidFill>
                <a:latin typeface="Calibri" pitchFamily="34" charset="0"/>
                <a:ea typeface="Calibri" pitchFamily="34" charset="-122"/>
                <a:cs typeface="Calibri" pitchFamily="34" charset="-120"/>
              </a:rPr>
              <a:t>First user: Solana lending / vault integrating xStocks — not retail.</a:t>
            </a:r>
            <a:endParaRPr lang="en-US" sz="1600" dirty="0"/>
          </a:p>
        </p:txBody>
      </p:sp>
      <p:sp>
        <p:nvSpPr>
          <p:cNvPr id="4" name="b1-card"/>
          <p:cNvSpPr/>
          <p:nvPr/>
        </p:nvSpPr>
        <p:spPr>
          <a:xfrm>
            <a:off x="812800" y="2032000"/>
            <a:ext cx="3352800" cy="2222500"/>
          </a:xfrm>
          <a:prstGeom prst="roundRect">
            <a:avLst>
              <a:gd name="adj" fmla="val 6857"/>
            </a:avLst>
          </a:prstGeom>
          <a:solidFill>
            <a:srgbClr val="0E151C">
              <a:alpha val="88000"/>
            </a:srgbClr>
          </a:solidFill>
          <a:ln w="9525">
            <a:solidFill>
              <a:srgbClr val="2CD8DF">
                <a:alpha val="28000"/>
              </a:srgbClr>
            </a:solidFill>
            <a:prstDash val="solid"/>
          </a:ln>
          <a:effectLst>
            <a:outerShdw sx="100000" sy="100000" kx="0" ky="0" algn="bl" rotWithShape="0" blurRad="355600" dist="1270" dir="16200000">
              <a:srgbClr val="2CD8DF">
                <a:alpha val="30000"/>
              </a:srgbClr>
            </a:outerShdw>
          </a:effectLst>
        </p:spPr>
      </p:sp>
      <p:sp>
        <p:nvSpPr>
          <p:cNvPr id="5" name="b1-num"/>
          <p:cNvSpPr txBox="1"/>
          <p:nvPr/>
        </p:nvSpPr>
        <p:spPr>
          <a:xfrm>
            <a:off x="1092200" y="2311400"/>
            <a:ext cx="2794000" cy="698500"/>
          </a:xfrm>
          <a:prstGeom prst="rect">
            <a:avLst/>
          </a:prstGeom>
          <a:noFill/>
          <a:ln/>
        </p:spPr>
        <p:txBody>
          <a:bodyPr wrap="square" lIns="0" tIns="0" rIns="0" bIns="0" rtlCol="0" anchor="t"/>
          <a:lstStyle/>
          <a:p>
            <a:pPr algn="l" indent="0" marL="0">
              <a:lnSpc>
                <a:spcPct val="100000"/>
              </a:lnSpc>
              <a:buNone/>
            </a:pPr>
            <a:r>
              <a:rPr lang="en-US" sz="4800" b="1" dirty="0">
                <a:solidFill>
                  <a:srgbClr val="2CD8DF"/>
                </a:solidFill>
                <a:effectLst>
                  <a:glow rad="177800">
                    <a:srgbClr val="2CD8DF">
                      <a:alpha val="40000"/>
                    </a:srgbClr>
                  </a:glow>
                </a:effectLst>
                <a:latin typeface="Calibri" pitchFamily="34" charset="0"/>
                <a:ea typeface="Calibri" pitchFamily="34" charset="-122"/>
                <a:cs typeface="Calibri" pitchFamily="34" charset="-120"/>
              </a:rPr>
              <a:t>$200M+</a:t>
            </a:r>
            <a:endParaRPr lang="en-US" sz="4800" dirty="0"/>
          </a:p>
        </p:txBody>
      </p:sp>
      <p:sp>
        <p:nvSpPr>
          <p:cNvPr id="6" name="b1-lbl"/>
          <p:cNvSpPr txBox="1"/>
          <p:nvPr/>
        </p:nvSpPr>
        <p:spPr>
          <a:xfrm>
            <a:off x="1092200" y="3149600"/>
            <a:ext cx="2794000" cy="1079500"/>
          </a:xfrm>
          <a:prstGeom prst="rect">
            <a:avLst/>
          </a:prstGeom>
          <a:noFill/>
          <a:ln/>
        </p:spPr>
        <p:txBody>
          <a:bodyPr wrap="square" lIns="0" tIns="0" rIns="0" bIns="0" rtlCol="0" anchor="t"/>
          <a:lstStyle/>
          <a:p>
            <a:pPr algn="l" indent="0" marL="0">
              <a:lnSpc>
                <a:spcPct val="125000"/>
              </a:lnSpc>
              <a:buNone/>
            </a:pPr>
            <a:r>
              <a:rPr lang="en-US" sz="1600" dirty="0">
                <a:solidFill>
                  <a:srgbClr val="BFD3D6"/>
                </a:solidFill>
                <a:latin typeface="Calibri" pitchFamily="34" charset="0"/>
                <a:ea typeface="Calibri" pitchFamily="34" charset="-122"/>
                <a:cs typeface="Calibri" pitchFamily="34" charset="-120"/>
              </a:rPr>
              <a:t>Tokenized-equity trading volume on Solana in one day (12.09.2026)</a:t>
            </a:r>
            <a:endParaRPr lang="en-US" sz="1600" dirty="0"/>
          </a:p>
        </p:txBody>
      </p:sp>
      <p:sp>
        <p:nvSpPr>
          <p:cNvPr id="7" name="b2-card"/>
          <p:cNvSpPr/>
          <p:nvPr/>
        </p:nvSpPr>
        <p:spPr>
          <a:xfrm>
            <a:off x="4419600" y="2032000"/>
            <a:ext cx="3352800" cy="2222500"/>
          </a:xfrm>
          <a:prstGeom prst="roundRect">
            <a:avLst>
              <a:gd name="adj" fmla="val 6857"/>
            </a:avLst>
          </a:prstGeom>
          <a:solidFill>
            <a:srgbClr val="0E151C">
              <a:alpha val="88000"/>
            </a:srgbClr>
          </a:solidFill>
          <a:ln w="9525">
            <a:solidFill>
              <a:srgbClr val="9469F2">
                <a:alpha val="28000"/>
              </a:srgbClr>
            </a:solidFill>
            <a:prstDash val="solid"/>
          </a:ln>
          <a:effectLst>
            <a:outerShdw sx="100000" sy="100000" kx="0" ky="0" algn="bl" rotWithShape="0" blurRad="355600" dist="1270" dir="16200000">
              <a:srgbClr val="9469F2">
                <a:alpha val="30000"/>
              </a:srgbClr>
            </a:outerShdw>
          </a:effectLst>
        </p:spPr>
      </p:sp>
      <p:sp>
        <p:nvSpPr>
          <p:cNvPr id="8" name="b2-num"/>
          <p:cNvSpPr txBox="1"/>
          <p:nvPr/>
        </p:nvSpPr>
        <p:spPr>
          <a:xfrm>
            <a:off x="4699000" y="2311400"/>
            <a:ext cx="2794000" cy="698500"/>
          </a:xfrm>
          <a:prstGeom prst="rect">
            <a:avLst/>
          </a:prstGeom>
          <a:noFill/>
          <a:ln/>
        </p:spPr>
        <p:txBody>
          <a:bodyPr wrap="square" lIns="0" tIns="0" rIns="0" bIns="0" rtlCol="0" anchor="t"/>
          <a:lstStyle/>
          <a:p>
            <a:pPr algn="l" indent="0" marL="0">
              <a:lnSpc>
                <a:spcPct val="100000"/>
              </a:lnSpc>
              <a:buNone/>
            </a:pPr>
            <a:r>
              <a:rPr lang="en-US" sz="4800" b="1" dirty="0">
                <a:solidFill>
                  <a:srgbClr val="A58BF5"/>
                </a:solidFill>
                <a:effectLst>
                  <a:glow rad="177800">
                    <a:srgbClr val="9469F2">
                      <a:alpha val="40000"/>
                    </a:srgbClr>
                  </a:glow>
                </a:effectLst>
                <a:latin typeface="Calibri" pitchFamily="34" charset="0"/>
                <a:ea typeface="Calibri" pitchFamily="34" charset="-122"/>
                <a:cs typeface="Calibri" pitchFamily="34" charset="-120"/>
              </a:rPr>
              <a:t>$53M</a:t>
            </a:r>
            <a:endParaRPr lang="en-US" sz="4800" dirty="0"/>
          </a:p>
        </p:txBody>
      </p:sp>
      <p:sp>
        <p:nvSpPr>
          <p:cNvPr id="9" name="b2-lbl"/>
          <p:cNvSpPr txBox="1"/>
          <p:nvPr/>
        </p:nvSpPr>
        <p:spPr>
          <a:xfrm>
            <a:off x="4699000" y="3149600"/>
            <a:ext cx="2794000" cy="1079500"/>
          </a:xfrm>
          <a:prstGeom prst="rect">
            <a:avLst/>
          </a:prstGeom>
          <a:noFill/>
          <a:ln/>
        </p:spPr>
        <p:txBody>
          <a:bodyPr wrap="square" lIns="0" tIns="0" rIns="0" bIns="0" rtlCol="0" anchor="t"/>
          <a:lstStyle/>
          <a:p>
            <a:pPr algn="l" indent="0" marL="0">
              <a:lnSpc>
                <a:spcPct val="125000"/>
              </a:lnSpc>
              <a:buNone/>
            </a:pPr>
            <a:r>
              <a:rPr lang="en-US" sz="1600" dirty="0">
                <a:solidFill>
                  <a:srgbClr val="BFD3D6"/>
                </a:solidFill>
                <a:latin typeface="Calibri" pitchFamily="34" charset="0"/>
                <a:ea typeface="Calibri" pitchFamily="34" charset="-122"/>
                <a:cs typeface="Calibri" pitchFamily="34" charset="-120"/>
              </a:rPr>
              <a:t>Tokenized-stock lending TVL on Solana, all-time high (late Jul 2026)</a:t>
            </a:r>
            <a:endParaRPr lang="en-US" sz="1600" dirty="0"/>
          </a:p>
        </p:txBody>
      </p:sp>
      <p:sp>
        <p:nvSpPr>
          <p:cNvPr id="10" name="b3-card"/>
          <p:cNvSpPr/>
          <p:nvPr/>
        </p:nvSpPr>
        <p:spPr>
          <a:xfrm>
            <a:off x="8026400" y="2032000"/>
            <a:ext cx="3352800" cy="2222500"/>
          </a:xfrm>
          <a:prstGeom prst="roundRect">
            <a:avLst>
              <a:gd name="adj" fmla="val 6857"/>
            </a:avLst>
          </a:prstGeom>
          <a:solidFill>
            <a:srgbClr val="0E151C">
              <a:alpha val="88000"/>
            </a:srgbClr>
          </a:solidFill>
          <a:ln w="9525">
            <a:solidFill>
              <a:srgbClr val="2CD8DF">
                <a:alpha val="28000"/>
              </a:srgbClr>
            </a:solidFill>
            <a:prstDash val="solid"/>
          </a:ln>
          <a:effectLst>
            <a:outerShdw sx="100000" sy="100000" kx="0" ky="0" algn="bl" rotWithShape="0" blurRad="355600" dist="1270" dir="16200000">
              <a:srgbClr val="2CD8DF">
                <a:alpha val="30000"/>
              </a:srgbClr>
            </a:outerShdw>
          </a:effectLst>
        </p:spPr>
      </p:sp>
      <p:sp>
        <p:nvSpPr>
          <p:cNvPr id="11" name="b3-num"/>
          <p:cNvSpPr txBox="1"/>
          <p:nvPr/>
        </p:nvSpPr>
        <p:spPr>
          <a:xfrm>
            <a:off x="8305800" y="2311400"/>
            <a:ext cx="2794000" cy="698500"/>
          </a:xfrm>
          <a:prstGeom prst="rect">
            <a:avLst/>
          </a:prstGeom>
          <a:noFill/>
          <a:ln/>
        </p:spPr>
        <p:txBody>
          <a:bodyPr wrap="square" lIns="0" tIns="0" rIns="0" bIns="0" rtlCol="0" anchor="t"/>
          <a:lstStyle/>
          <a:p>
            <a:pPr algn="l" indent="0" marL="0">
              <a:lnSpc>
                <a:spcPct val="100000"/>
              </a:lnSpc>
              <a:buNone/>
            </a:pPr>
            <a:r>
              <a:rPr lang="en-US" sz="4800" b="1" dirty="0">
                <a:solidFill>
                  <a:srgbClr val="2CD8DF"/>
                </a:solidFill>
                <a:effectLst>
                  <a:glow rad="177800">
                    <a:srgbClr val="2CD8DF">
                      <a:alpha val="40000"/>
                    </a:srgbClr>
                  </a:glow>
                </a:effectLst>
                <a:latin typeface="Calibri" pitchFamily="34" charset="0"/>
                <a:ea typeface="Calibri" pitchFamily="34" charset="-122"/>
                <a:cs typeface="Calibri" pitchFamily="34" charset="-120"/>
              </a:rPr>
              <a:t>~63%</a:t>
            </a:r>
            <a:endParaRPr lang="en-US" sz="4800" dirty="0"/>
          </a:p>
        </p:txBody>
      </p:sp>
      <p:sp>
        <p:nvSpPr>
          <p:cNvPr id="12" name="b3-lbl"/>
          <p:cNvSpPr txBox="1"/>
          <p:nvPr/>
        </p:nvSpPr>
        <p:spPr>
          <a:xfrm>
            <a:off x="8305800" y="3149600"/>
            <a:ext cx="2794000" cy="1079500"/>
          </a:xfrm>
          <a:prstGeom prst="rect">
            <a:avLst/>
          </a:prstGeom>
          <a:noFill/>
          <a:ln/>
        </p:spPr>
        <p:txBody>
          <a:bodyPr wrap="square" lIns="0" tIns="0" rIns="0" bIns="0" rtlCol="0" anchor="t"/>
          <a:lstStyle/>
          <a:p>
            <a:pPr algn="l" indent="0" marL="0">
              <a:lnSpc>
                <a:spcPct val="125000"/>
              </a:lnSpc>
              <a:buNone/>
            </a:pPr>
            <a:r>
              <a:rPr lang="en-US" sz="1600" dirty="0">
                <a:solidFill>
                  <a:srgbClr val="BFD3D6"/>
                </a:solidFill>
                <a:latin typeface="Calibri" pitchFamily="34" charset="0"/>
                <a:ea typeface="Calibri" pitchFamily="34" charset="-122"/>
                <a:cs typeface="Calibri" pitchFamily="34" charset="-120"/>
              </a:rPr>
              <a:t>Of cumulative trading through Aug 2026, settled outside US market hours</a:t>
            </a:r>
            <a:endParaRPr lang="en-US" sz="1600" dirty="0"/>
          </a:p>
        </p:txBody>
      </p:sp>
      <p:sp>
        <p:nvSpPr>
          <p:cNvPr id="13" name="b4-box"/>
          <p:cNvSpPr/>
          <p:nvPr/>
        </p:nvSpPr>
        <p:spPr>
          <a:xfrm>
            <a:off x="812800" y="4572000"/>
            <a:ext cx="10566400" cy="711200"/>
          </a:xfrm>
          <a:prstGeom prst="roundRect">
            <a:avLst>
              <a:gd name="adj" fmla="val 17857"/>
            </a:avLst>
          </a:prstGeom>
          <a:solidFill>
            <a:srgbClr val="FF5C7A">
              <a:alpha val="10000"/>
            </a:srgbClr>
          </a:solidFill>
          <a:ln w="9525">
            <a:solidFill>
              <a:srgbClr val="FF5C7A">
                <a:alpha val="45000"/>
              </a:srgbClr>
            </a:solidFill>
            <a:prstDash val="solid"/>
          </a:ln>
        </p:spPr>
      </p:sp>
      <p:sp>
        <p:nvSpPr>
          <p:cNvPr id="14" name="b4-txt"/>
          <p:cNvSpPr txBox="1"/>
          <p:nvPr/>
        </p:nvSpPr>
        <p:spPr>
          <a:xfrm>
            <a:off x="1066800" y="4572000"/>
            <a:ext cx="10058400" cy="711200"/>
          </a:xfrm>
          <a:prstGeom prst="rect">
            <a:avLst/>
          </a:prstGeom>
          <a:noFill/>
          <a:ln/>
        </p:spPr>
        <p:txBody>
          <a:bodyPr wrap="square" lIns="0" tIns="0" rIns="0" bIns="0" rtlCol="0" anchor="ctr"/>
          <a:lstStyle/>
          <a:p>
            <a:pPr algn="l" indent="0" marL="0">
              <a:lnSpc>
                <a:spcPct val="115000"/>
              </a:lnSpc>
              <a:buNone/>
            </a:pPr>
            <a:r>
              <a:rPr lang="en-US" sz="2200" b="1" dirty="0">
                <a:solidFill>
                  <a:srgbClr val="E8F1F2"/>
                </a:solidFill>
                <a:latin typeface="Calibri" pitchFamily="34" charset="0"/>
                <a:ea typeface="Calibri" pitchFamily="34" charset="-122"/>
                <a:cs typeface="Calibri" pitchFamily="34" charset="-120"/>
              </a:rPr>
              <a:t>Fixed LTV treats a mark as recoverable USDC. Thin books say otherwise.</a:t>
            </a:r>
            <a:endParaRPr lang="en-US" sz="2200" dirty="0"/>
          </a:p>
        </p:txBody>
      </p:sp>
      <p:sp>
        <p:nvSpPr>
          <p:cNvPr id="15" name="Text 13"/>
          <p:cNvSpPr txBox="1"/>
          <p:nvPr/>
        </p:nvSpPr>
        <p:spPr>
          <a:xfrm>
            <a:off x="812800" y="5905500"/>
            <a:ext cx="10566400" cy="457200"/>
          </a:xfrm>
          <a:prstGeom prst="rect">
            <a:avLst/>
          </a:prstGeom>
          <a:noFill/>
          <a:ln/>
        </p:spPr>
        <p:txBody>
          <a:bodyPr wrap="square" lIns="0" tIns="0" rIns="0" bIns="0" rtlCol="0" anchor="t"/>
          <a:lstStyle/>
          <a:p>
            <a:pPr algn="l" indent="0" marL="0">
              <a:lnSpc>
                <a:spcPct val="130000"/>
              </a:lnSpc>
              <a:buNone/>
            </a:pPr>
            <a:r>
              <a:rPr lang="en-US" sz="1200" dirty="0">
                <a:solidFill>
                  <a:srgbClr val="7C9195"/>
                </a:solidFill>
                <a:latin typeface="Calibri" pitchFamily="34" charset="0"/>
                <a:ea typeface="Calibri" pitchFamily="34" charset="-122"/>
                <a:cs typeface="Calibri" pitchFamily="34" charset="-120"/>
              </a:rPr>
              <a:t>Sources: Solana Compass 13.09.2026 (Solana Foundation newsletter); Crypto Briefing 23.07.2026 + Solana Compass 24.07.2026 · not audited</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0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childTnLst>
                          </p:cTn>
                        </p:par>
                        <p:par>
                          <p:cTn id="23" fill="hold">
                            <p:stCondLst>
                              <p:cond delay="40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childTnLst>
                          </p:cTn>
                        </p:par>
                        <p:par>
                          <p:cTn id="33" fill="hold">
                            <p:stCondLst>
                              <p:cond delay="800"/>
                            </p:stCondLst>
                            <p:childTnLst>
                              <p:par>
                                <p:cTn id="24" presetID="1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childTnLst>
                          </p:cTn>
                        </p:par>
                        <p:par>
                          <p:cTn id="40" fill="hold">
                            <p:stCondLst>
                              <p:cond delay="1200"/>
                            </p:stCondLst>
                            <p:childTnLst>
                              <p:par>
                                <p:cTn id="34" presetID="10"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87400"/>
            <a:ext cx="10566400" cy="609600"/>
          </a:xfrm>
          <a:prstGeom prst="rect">
            <a:avLst/>
          </a:prstGeom>
          <a:noFill/>
          <a:ln/>
        </p:spPr>
        <p:txBody>
          <a:bodyPr wrap="square" lIns="0" tIns="0" rIns="0" bIns="0" rtlCol="0" anchor="t"/>
          <a:lstStyle/>
          <a:p>
            <a:pPr algn="l" indent="0" marL="0">
              <a:lnSpc>
                <a:spcPct val="105000"/>
              </a:lnSpc>
              <a:buNone/>
            </a:pPr>
            <a:r>
              <a:rPr lang="en-US" sz="3600" b="1" dirty="0">
                <a:solidFill>
                  <a:srgbClr val="E8F1F2"/>
                </a:solidFill>
                <a:latin typeface="Calibri" pitchFamily="34" charset="0"/>
                <a:ea typeface="Calibri" pitchFamily="34" charset="-122"/>
                <a:cs typeface="Calibri" pitchFamily="34" charset="-120"/>
              </a:rPr>
              <a:t>ECV — Executable Collateral Value</a:t>
            </a:r>
            <a:endParaRPr lang="en-US" sz="3600" dirty="0"/>
          </a:p>
        </p:txBody>
      </p:sp>
      <p:sp>
        <p:nvSpPr>
          <p:cNvPr id="3" name="Text 1"/>
          <p:cNvSpPr txBox="1"/>
          <p:nvPr/>
        </p:nvSpPr>
        <p:spPr>
          <a:xfrm>
            <a:off x="812800" y="1422400"/>
            <a:ext cx="10566400" cy="317500"/>
          </a:xfrm>
          <a:prstGeom prst="rect">
            <a:avLst/>
          </a:prstGeom>
          <a:noFill/>
          <a:ln/>
        </p:spPr>
        <p:txBody>
          <a:bodyPr wrap="square" lIns="0" tIns="0" rIns="0" bIns="0" rtlCol="0" anchor="t"/>
          <a:lstStyle/>
          <a:p>
            <a:pPr algn="l" indent="0" marL="0">
              <a:lnSpc>
                <a:spcPct val="115000"/>
              </a:lnSpc>
              <a:buNone/>
            </a:pPr>
            <a:r>
              <a:rPr lang="en-US" sz="1600" dirty="0">
                <a:solidFill>
                  <a:srgbClr val="8FA3A7"/>
                </a:solidFill>
                <a:latin typeface="Calibri" pitchFamily="34" charset="0"/>
                <a:ea typeface="Calibri" pitchFamily="34" charset="-122"/>
                <a:cs typeface="Calibri" pitchFamily="34" charset="-120"/>
              </a:rPr>
              <a:t>One job: tell the venue what is still recoverable USDC under stress.</a:t>
            </a:r>
            <a:endParaRPr lang="en-US" sz="1600" dirty="0"/>
          </a:p>
        </p:txBody>
      </p:sp>
      <p:pic>
        <p:nvPicPr>
          <p:cNvPr id="4" name="Image 0" descr="ECV engine feeding five outputs">    </p:cNvPr>
          <p:cNvPicPr>
            <a:picLocks noChangeAspect="1"/>
          </p:cNvPicPr>
          <p:nvPr/>
        </p:nvPicPr>
        <p:blipFill>
          <a:blip r:embed="rId2"/>
          <a:stretch>
            <a:fillRect/>
          </a:stretch>
        </p:blipFill>
        <p:spPr>
          <a:xfrm>
            <a:off x="812800" y="2032000"/>
            <a:ext cx="5715000" cy="2794000"/>
          </a:xfrm>
          <a:prstGeom prst="rect">
            <a:avLst/>
          </a:prstGeom>
        </p:spPr>
      </p:pic>
      <p:sp>
        <p:nvSpPr>
          <p:cNvPr id="5" name="Text 2"/>
          <p:cNvSpPr txBox="1"/>
          <p:nvPr/>
        </p:nvSpPr>
        <p:spPr>
          <a:xfrm>
            <a:off x="1416050" y="3143250"/>
            <a:ext cx="2095500" cy="571500"/>
          </a:xfrm>
          <a:prstGeom prst="rect">
            <a:avLst/>
          </a:prstGeom>
          <a:noFill/>
          <a:ln/>
        </p:spPr>
        <p:txBody>
          <a:bodyPr wrap="square" lIns="0" tIns="0" rIns="0" bIns="0" rtlCol="0" anchor="ctr"/>
          <a:lstStyle/>
          <a:p>
            <a:pPr algn="ctr" indent="0" marL="0">
              <a:lnSpc>
                <a:spcPct val="115000"/>
              </a:lnSpc>
              <a:buNone/>
            </a:pPr>
            <a:r>
              <a:rPr lang="en-US" sz="3600" b="1" dirty="0">
                <a:solidFill>
                  <a:srgbClr val="2CD8DF"/>
                </a:solidFill>
                <a:effectLst>
                  <a:glow rad="177800">
                    <a:srgbClr val="2CD8DF">
                      <a:alpha val="40000"/>
                    </a:srgbClr>
                  </a:glow>
                </a:effectLst>
                <a:latin typeface="Calibri" pitchFamily="34" charset="0"/>
                <a:ea typeface="Calibri" pitchFamily="34" charset="-122"/>
                <a:cs typeface="Calibri" pitchFamily="34" charset="-120"/>
              </a:rPr>
              <a:t>ECV</a:t>
            </a:r>
            <a:endParaRPr lang="en-US" sz="3600" dirty="0"/>
          </a:p>
        </p:txBody>
      </p:sp>
      <p:sp>
        <p:nvSpPr>
          <p:cNvPr id="6" name="b1-chip"/>
          <p:cNvSpPr/>
          <p:nvPr/>
        </p:nvSpPr>
        <p:spPr>
          <a:xfrm>
            <a:off x="6527800" y="2095500"/>
            <a:ext cx="2667000" cy="444500"/>
          </a:xfrm>
          <a:prstGeom prst="roundRect">
            <a:avLst>
              <a:gd name="adj" fmla="val 20000"/>
            </a:avLst>
          </a:prstGeom>
          <a:solidFill>
            <a:srgbClr val="2CD8DF">
              <a:alpha val="8000"/>
            </a:srgbClr>
          </a:solidFill>
          <a:ln w="9525">
            <a:solidFill>
              <a:srgbClr val="2CD8DF">
                <a:alpha val="45000"/>
              </a:srgbClr>
            </a:solidFill>
            <a:prstDash val="solid"/>
          </a:ln>
        </p:spPr>
      </p:sp>
      <p:sp>
        <p:nvSpPr>
          <p:cNvPr id="7" name="b1-txt"/>
          <p:cNvSpPr txBox="1"/>
          <p:nvPr/>
        </p:nvSpPr>
        <p:spPr>
          <a:xfrm>
            <a:off x="6705600" y="2095500"/>
            <a:ext cx="2413000" cy="444500"/>
          </a:xfrm>
          <a:prstGeom prst="rect">
            <a:avLst/>
          </a:prstGeom>
          <a:noFill/>
          <a:ln/>
        </p:spPr>
        <p:txBody>
          <a:bodyPr wrap="square" lIns="0" tIns="0" rIns="0" bIns="0" rtlCol="0" anchor="ctr"/>
          <a:lstStyle/>
          <a:p>
            <a:pPr algn="l" indent="0" marL="0">
              <a:lnSpc>
                <a:spcPct val="115000"/>
              </a:lnSpc>
              <a:buNone/>
            </a:pPr>
            <a:r>
              <a:rPr lang="en-US" sz="1600" dirty="0">
                <a:solidFill>
                  <a:srgbClr val="2CD8DF"/>
                </a:solidFill>
                <a:latin typeface="Consolas" pitchFamily="34" charset="0"/>
                <a:ea typeface="Consolas" pitchFamily="34" charset="-122"/>
                <a:cs typeface="Consolas" pitchFamily="34" charset="-120"/>
              </a:rPr>
              <a:t>max_borrow</a:t>
            </a:r>
            <a:endParaRPr lang="en-US" sz="1600" dirty="0"/>
          </a:p>
        </p:txBody>
      </p:sp>
      <p:sp>
        <p:nvSpPr>
          <p:cNvPr id="8" name="b2-chip"/>
          <p:cNvSpPr/>
          <p:nvPr/>
        </p:nvSpPr>
        <p:spPr>
          <a:xfrm>
            <a:off x="6527800" y="2667000"/>
            <a:ext cx="2667000" cy="444500"/>
          </a:xfrm>
          <a:prstGeom prst="roundRect">
            <a:avLst>
              <a:gd name="adj" fmla="val 20000"/>
            </a:avLst>
          </a:prstGeom>
          <a:solidFill>
            <a:srgbClr val="2CD8DF">
              <a:alpha val="8000"/>
            </a:srgbClr>
          </a:solidFill>
          <a:ln w="9525">
            <a:solidFill>
              <a:srgbClr val="2CD8DF">
                <a:alpha val="45000"/>
              </a:srgbClr>
            </a:solidFill>
            <a:prstDash val="solid"/>
          </a:ln>
        </p:spPr>
      </p:sp>
      <p:sp>
        <p:nvSpPr>
          <p:cNvPr id="9" name="b2-txt"/>
          <p:cNvSpPr txBox="1"/>
          <p:nvPr/>
        </p:nvSpPr>
        <p:spPr>
          <a:xfrm>
            <a:off x="6705600" y="2667000"/>
            <a:ext cx="2413000" cy="444500"/>
          </a:xfrm>
          <a:prstGeom prst="rect">
            <a:avLst/>
          </a:prstGeom>
          <a:noFill/>
          <a:ln/>
        </p:spPr>
        <p:txBody>
          <a:bodyPr wrap="square" lIns="0" tIns="0" rIns="0" bIns="0" rtlCol="0" anchor="ctr"/>
          <a:lstStyle/>
          <a:p>
            <a:pPr algn="l" indent="0" marL="0">
              <a:lnSpc>
                <a:spcPct val="115000"/>
              </a:lnSpc>
              <a:buNone/>
            </a:pPr>
            <a:r>
              <a:rPr lang="en-US" sz="1600" dirty="0">
                <a:solidFill>
                  <a:srgbClr val="2CD8DF"/>
                </a:solidFill>
                <a:latin typeface="Consolas" pitchFamily="34" charset="0"/>
                <a:ea typeface="Consolas" pitchFamily="34" charset="-122"/>
                <a:cs typeface="Consolas" pitchFamily="34" charset="-120"/>
              </a:rPr>
              <a:t>collateral_cap</a:t>
            </a:r>
            <a:endParaRPr lang="en-US" sz="1600" dirty="0"/>
          </a:p>
        </p:txBody>
      </p:sp>
      <p:sp>
        <p:nvSpPr>
          <p:cNvPr id="10" name="b3-chip"/>
          <p:cNvSpPr/>
          <p:nvPr/>
        </p:nvSpPr>
        <p:spPr>
          <a:xfrm>
            <a:off x="6527800" y="3238500"/>
            <a:ext cx="2667000" cy="444500"/>
          </a:xfrm>
          <a:prstGeom prst="roundRect">
            <a:avLst>
              <a:gd name="adj" fmla="val 20000"/>
            </a:avLst>
          </a:prstGeom>
          <a:solidFill>
            <a:srgbClr val="2CD8DF">
              <a:alpha val="8000"/>
            </a:srgbClr>
          </a:solidFill>
          <a:ln w="9525">
            <a:solidFill>
              <a:srgbClr val="2CD8DF">
                <a:alpha val="45000"/>
              </a:srgbClr>
            </a:solidFill>
            <a:prstDash val="solid"/>
          </a:ln>
        </p:spPr>
      </p:sp>
      <p:sp>
        <p:nvSpPr>
          <p:cNvPr id="11" name="b3-txt"/>
          <p:cNvSpPr txBox="1"/>
          <p:nvPr/>
        </p:nvSpPr>
        <p:spPr>
          <a:xfrm>
            <a:off x="6705600" y="3238500"/>
            <a:ext cx="2413000" cy="444500"/>
          </a:xfrm>
          <a:prstGeom prst="rect">
            <a:avLst/>
          </a:prstGeom>
          <a:noFill/>
          <a:ln/>
        </p:spPr>
        <p:txBody>
          <a:bodyPr wrap="square" lIns="0" tIns="0" rIns="0" bIns="0" rtlCol="0" anchor="ctr"/>
          <a:lstStyle/>
          <a:p>
            <a:pPr algn="l" indent="0" marL="0">
              <a:lnSpc>
                <a:spcPct val="115000"/>
              </a:lnSpc>
              <a:buNone/>
            </a:pPr>
            <a:r>
              <a:rPr lang="en-US" sz="1600" dirty="0">
                <a:solidFill>
                  <a:srgbClr val="2CD8DF"/>
                </a:solidFill>
                <a:latin typeface="Consolas" pitchFamily="34" charset="0"/>
                <a:ea typeface="Consolas" pitchFamily="34" charset="-122"/>
                <a:cs typeface="Consolas" pitchFamily="34" charset="-120"/>
              </a:rPr>
              <a:t>liquidation_route</a:t>
            </a:r>
            <a:endParaRPr lang="en-US" sz="1600" dirty="0"/>
          </a:p>
        </p:txBody>
      </p:sp>
      <p:sp>
        <p:nvSpPr>
          <p:cNvPr id="12" name="b4-chip"/>
          <p:cNvSpPr/>
          <p:nvPr/>
        </p:nvSpPr>
        <p:spPr>
          <a:xfrm>
            <a:off x="6527800" y="3810000"/>
            <a:ext cx="2667000" cy="444500"/>
          </a:xfrm>
          <a:prstGeom prst="roundRect">
            <a:avLst>
              <a:gd name="adj" fmla="val 20000"/>
            </a:avLst>
          </a:prstGeom>
          <a:solidFill>
            <a:srgbClr val="8462D8">
              <a:alpha val="10000"/>
            </a:srgbClr>
          </a:solidFill>
          <a:ln w="9525">
            <a:solidFill>
              <a:srgbClr val="9469F2">
                <a:alpha val="50000"/>
              </a:srgbClr>
            </a:solidFill>
            <a:prstDash val="solid"/>
          </a:ln>
        </p:spPr>
      </p:sp>
      <p:sp>
        <p:nvSpPr>
          <p:cNvPr id="13" name="b4-txt"/>
          <p:cNvSpPr txBox="1"/>
          <p:nvPr/>
        </p:nvSpPr>
        <p:spPr>
          <a:xfrm>
            <a:off x="6705600" y="3810000"/>
            <a:ext cx="2413000" cy="444500"/>
          </a:xfrm>
          <a:prstGeom prst="rect">
            <a:avLst/>
          </a:prstGeom>
          <a:noFill/>
          <a:ln/>
        </p:spPr>
        <p:txBody>
          <a:bodyPr wrap="square" lIns="0" tIns="0" rIns="0" bIns="0" rtlCol="0" anchor="ctr"/>
          <a:lstStyle/>
          <a:p>
            <a:pPr algn="l" indent="0" marL="0">
              <a:lnSpc>
                <a:spcPct val="115000"/>
              </a:lnSpc>
              <a:buNone/>
            </a:pPr>
            <a:r>
              <a:rPr lang="en-US" sz="1600" dirty="0">
                <a:solidFill>
                  <a:srgbClr val="B9A4F7"/>
                </a:solidFill>
                <a:latin typeface="Consolas" pitchFamily="34" charset="0"/>
                <a:ea typeface="Consolas" pitchFamily="34" charset="-122"/>
                <a:cs typeface="Consolas" pitchFamily="34" charset="-120"/>
              </a:rPr>
              <a:t>risk_premium</a:t>
            </a:r>
            <a:endParaRPr lang="en-US" sz="1600" dirty="0"/>
          </a:p>
        </p:txBody>
      </p:sp>
      <p:sp>
        <p:nvSpPr>
          <p:cNvPr id="14" name="b5-chip"/>
          <p:cNvSpPr/>
          <p:nvPr/>
        </p:nvSpPr>
        <p:spPr>
          <a:xfrm>
            <a:off x="6527800" y="4381500"/>
            <a:ext cx="2667000" cy="444500"/>
          </a:xfrm>
          <a:prstGeom prst="roundRect">
            <a:avLst>
              <a:gd name="adj" fmla="val 20000"/>
            </a:avLst>
          </a:prstGeom>
          <a:solidFill>
            <a:srgbClr val="8462D8">
              <a:alpha val="10000"/>
            </a:srgbClr>
          </a:solidFill>
          <a:ln w="9525">
            <a:solidFill>
              <a:srgbClr val="9469F2">
                <a:alpha val="50000"/>
              </a:srgbClr>
            </a:solidFill>
            <a:prstDash val="solid"/>
          </a:ln>
        </p:spPr>
      </p:sp>
      <p:sp>
        <p:nvSpPr>
          <p:cNvPr id="15" name="b5-txt"/>
          <p:cNvSpPr txBox="1"/>
          <p:nvPr/>
        </p:nvSpPr>
        <p:spPr>
          <a:xfrm>
            <a:off x="6705600" y="4381500"/>
            <a:ext cx="2413000" cy="444500"/>
          </a:xfrm>
          <a:prstGeom prst="rect">
            <a:avLst/>
          </a:prstGeom>
          <a:noFill/>
          <a:ln/>
        </p:spPr>
        <p:txBody>
          <a:bodyPr wrap="square" lIns="0" tIns="0" rIns="0" bIns="0" rtlCol="0" anchor="ctr"/>
          <a:lstStyle/>
          <a:p>
            <a:pPr algn="l" indent="0" marL="0">
              <a:lnSpc>
                <a:spcPct val="115000"/>
              </a:lnSpc>
              <a:buNone/>
            </a:pPr>
            <a:r>
              <a:rPr lang="en-US" sz="1600" dirty="0">
                <a:solidFill>
                  <a:srgbClr val="B9A4F7"/>
                </a:solidFill>
                <a:latin typeface="Consolas" pitchFamily="34" charset="0"/>
                <a:ea typeface="Consolas" pitchFamily="34" charset="-122"/>
                <a:cs typeface="Consolas" pitchFamily="34" charset="-120"/>
              </a:rPr>
              <a:t>borrow_disabled</a:t>
            </a:r>
            <a:endParaRPr lang="en-US" sz="1600" dirty="0"/>
          </a:p>
        </p:txBody>
      </p:sp>
      <p:pic>
        <p:nvPicPr>
          <p:cNvPr id="16" name="Image 1" descr="Check icon">    </p:cNvPr>
          <p:cNvPicPr>
            <a:picLocks noChangeAspect="1"/>
          </p:cNvPicPr>
          <p:nvPr/>
        </p:nvPicPr>
        <p:blipFill>
          <a:blip r:embed="rId3"/>
          <a:stretch>
            <a:fillRect/>
          </a:stretch>
        </p:blipFill>
        <p:spPr>
          <a:xfrm>
            <a:off x="812800" y="5219700"/>
            <a:ext cx="279400" cy="279400"/>
          </a:xfrm>
          <a:prstGeom prst="rect">
            <a:avLst/>
          </a:prstGeom>
        </p:spPr>
      </p:pic>
      <p:sp>
        <p:nvSpPr>
          <p:cNvPr id="17" name="Text 13"/>
          <p:cNvSpPr txBox="1"/>
          <p:nvPr/>
        </p:nvSpPr>
        <p:spPr>
          <a:xfrm>
            <a:off x="1193800" y="5207000"/>
            <a:ext cx="10185400" cy="304800"/>
          </a:xfrm>
          <a:prstGeom prst="rect">
            <a:avLst/>
          </a:prstGeom>
          <a:noFill/>
          <a:ln/>
        </p:spPr>
        <p:txBody>
          <a:bodyPr wrap="square" lIns="0" tIns="0" rIns="0" bIns="0" rtlCol="0" anchor="ctr"/>
          <a:lstStyle/>
          <a:p>
            <a:pPr algn="l" indent="0" marL="0">
              <a:lnSpc>
                <a:spcPct val="115000"/>
              </a:lnSpc>
              <a:buNone/>
            </a:pPr>
            <a:r>
              <a:rPr lang="en-US" sz="1600" dirty="0">
                <a:solidFill>
                  <a:srgbClr val="E8F1F2"/>
                </a:solidFill>
                <a:latin typeface="Calibri" pitchFamily="34" charset="0"/>
                <a:ea typeface="Calibri" pitchFamily="34" charset="-122"/>
                <a:cs typeface="Calibri" pitchFamily="34" charset="-120"/>
              </a:rPr>
              <a:t>Works today: ECV engine + breaker demo + ECV record published on Solana devnet (Anchor).</a:t>
            </a:r>
            <a:endParaRPr lang="en-US" sz="1600" dirty="0"/>
          </a:p>
        </p:txBody>
      </p:sp>
      <p:sp>
        <p:nvSpPr>
          <p:cNvPr id="18" name="Text 14"/>
          <p:cNvSpPr txBox="1"/>
          <p:nvPr/>
        </p:nvSpPr>
        <p:spPr>
          <a:xfrm>
            <a:off x="1193800" y="5613400"/>
            <a:ext cx="10185400" cy="254000"/>
          </a:xfrm>
          <a:prstGeom prst="rect">
            <a:avLst/>
          </a:prstGeom>
          <a:noFill/>
          <a:ln/>
        </p:spPr>
        <p:txBody>
          <a:bodyPr wrap="square" lIns="0" tIns="0" rIns="0" bIns="0" rtlCol="0" anchor="t"/>
          <a:lstStyle/>
          <a:p>
            <a:pPr algn="l" indent="0" marL="0">
              <a:lnSpc>
                <a:spcPct val="115000"/>
              </a:lnSpc>
              <a:buNone/>
            </a:pPr>
            <a:r>
              <a:rPr lang="en-US" sz="1200" dirty="0">
                <a:solidFill>
                  <a:srgbClr val="8FA3A7"/>
                </a:solidFill>
                <a:latin typeface="Calibri" pitchFamily="34" charset="0"/>
                <a:ea typeface="Calibri" pitchFamily="34" charset="-122"/>
                <a:cs typeface="Calibri" pitchFamily="34" charset="-120"/>
              </a:rPr>
              <a:t>Five frozen outputs = the on-chain interface — published on Solana devnet (not mainnet).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400"/>
                                        <p:tgtEl>
                                          <p:spTgt spid="6"/>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00"/>
                                        <p:tgtEl>
                                          <p:spTgt spid="7"/>
                                        </p:tgtEl>
                                      </p:cBhvr>
                                    </p:animEffect>
                                  </p:childTnLst>
                                </p:cTn>
                              </p:par>
                            </p:childTnLst>
                          </p:cTn>
                        </p:par>
                        <p:par>
                          <p:cTn id="17" fill="hold">
                            <p:stCondLst>
                              <p:cond delay="400"/>
                            </p:stCondLst>
                            <p:childTnLst>
                              <p:par>
                                <p:cTn id="11" presetID="10"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par>
                          <p:cTn id="24" fill="hold">
                            <p:stCondLst>
                              <p:cond delay="800"/>
                            </p:stCondLst>
                            <p:childTnLst>
                              <p:par>
                                <p:cTn id="18" presetID="10"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childTnLst>
                          </p:cTn>
                        </p:par>
                        <p:par>
                          <p:cTn id="31" fill="hold">
                            <p:stCondLst>
                              <p:cond delay="12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par>
                          <p:cTn id="38" fill="hold">
                            <p:stCondLst>
                              <p:cond delay="1600"/>
                            </p:stCondLst>
                            <p:childTnLst>
                              <p:par>
                                <p:cTn id="32" presetID="10"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87400"/>
            <a:ext cx="10566400" cy="609600"/>
          </a:xfrm>
          <a:prstGeom prst="rect">
            <a:avLst/>
          </a:prstGeom>
          <a:noFill/>
          <a:ln/>
        </p:spPr>
        <p:txBody>
          <a:bodyPr wrap="square" lIns="0" tIns="0" rIns="0" bIns="0" rtlCol="0" anchor="t"/>
          <a:lstStyle/>
          <a:p>
            <a:pPr algn="l" indent="0" marL="0">
              <a:lnSpc>
                <a:spcPct val="105000"/>
              </a:lnSpc>
              <a:buNone/>
            </a:pPr>
            <a:r>
              <a:rPr lang="en-US" sz="3600" b="1" dirty="0">
                <a:solidFill>
                  <a:srgbClr val="E8F1F2"/>
                </a:solidFill>
                <a:latin typeface="Calibri" pitchFamily="34" charset="0"/>
                <a:ea typeface="Calibri" pitchFamily="34" charset="-122"/>
                <a:cs typeface="Calibri" pitchFamily="34" charset="-120"/>
              </a:rPr>
              <a:t>Watch the breaker</a:t>
            </a:r>
            <a:endParaRPr lang="en-US" sz="3600" dirty="0"/>
          </a:p>
        </p:txBody>
      </p:sp>
      <p:sp>
        <p:nvSpPr>
          <p:cNvPr id="6" name="b1-card"/>
          <p:cNvSpPr/>
          <p:nvPr/>
        </p:nvSpPr>
        <p:spPr>
          <a:xfrm>
            <a:off x="812800" y="2159000"/>
            <a:ext cx="3048000" cy="1905000"/>
          </a:xfrm>
          <a:prstGeom prst="roundRect">
            <a:avLst>
              <a:gd name="adj" fmla="val 8000"/>
            </a:avLst>
          </a:prstGeom>
          <a:solidFill>
            <a:srgbClr val="0E151C">
              <a:alpha val="90000"/>
            </a:srgbClr>
          </a:solidFill>
          <a:ln w="9525">
            <a:solidFill>
              <a:srgbClr val="2CD8DF">
                <a:alpha val="30000"/>
              </a:srgbClr>
            </a:solidFill>
            <a:prstDash val="solid"/>
          </a:ln>
          <a:effectLst>
            <a:outerShdw sx="100000" sy="100000" kx="0" ky="0" algn="bl" rotWithShape="0" blurRad="355600" dist="1270" dir="16200000">
              <a:srgbClr val="2CD8DF">
                <a:alpha val="30000"/>
              </a:srgbClr>
            </a:outerShdw>
          </a:effectLst>
        </p:spPr>
      </p:sp>
      <p:sp>
        <p:nvSpPr>
          <p:cNvPr id="7" name="b1-num"/>
          <p:cNvSpPr txBox="1"/>
          <p:nvPr/>
        </p:nvSpPr>
        <p:spPr>
          <a:xfrm>
            <a:off x="1092200" y="2438400"/>
            <a:ext cx="1270000" cy="508000"/>
          </a:xfrm>
          <a:prstGeom prst="rect">
            <a:avLst/>
          </a:prstGeom>
          <a:noFill/>
          <a:ln/>
        </p:spPr>
        <p:txBody>
          <a:bodyPr wrap="square" lIns="0" tIns="0" rIns="0" bIns="0" rtlCol="0" anchor="t"/>
          <a:lstStyle/>
          <a:p>
            <a:pPr algn="l" indent="0" marL="0">
              <a:lnSpc>
                <a:spcPct val="100000"/>
              </a:lnSpc>
              <a:buNone/>
            </a:pPr>
            <a:r>
              <a:rPr lang="en-US" sz="3600" b="1" dirty="0">
                <a:solidFill>
                  <a:srgbClr val="2CD8DF"/>
                </a:solidFill>
                <a:effectLst>
                  <a:glow rad="152400">
                    <a:srgbClr val="2CD8DF">
                      <a:alpha val="40000"/>
                    </a:srgbClr>
                  </a:glow>
                </a:effectLst>
                <a:latin typeface="Consolas" pitchFamily="34" charset="0"/>
                <a:ea typeface="Consolas" pitchFamily="34" charset="-122"/>
                <a:cs typeface="Consolas" pitchFamily="34" charset="-120"/>
              </a:rPr>
              <a:t>01</a:t>
            </a:r>
            <a:endParaRPr lang="en-US" sz="3600" dirty="0"/>
          </a:p>
        </p:txBody>
      </p:sp>
      <p:sp>
        <p:nvSpPr>
          <p:cNvPr id="8" name="b1-lbl"/>
          <p:cNvSpPr txBox="1"/>
          <p:nvPr/>
        </p:nvSpPr>
        <p:spPr>
          <a:xfrm>
            <a:off x="1092200" y="3073400"/>
            <a:ext cx="2489200" cy="698500"/>
          </a:xfrm>
          <a:prstGeom prst="rect">
            <a:avLst/>
          </a:prstGeom>
          <a:noFill/>
          <a:ln/>
        </p:spPr>
        <p:txBody>
          <a:bodyPr wrap="square" lIns="0" tIns="0" rIns="0" bIns="0" rtlCol="0" anchor="t"/>
          <a:lstStyle/>
          <a:p>
            <a:pPr algn="l" indent="0" marL="0">
              <a:lnSpc>
                <a:spcPct val="110000"/>
              </a:lnSpc>
              <a:buNone/>
            </a:pPr>
            <a:r>
              <a:rPr lang="en-US" sz="2200" b="1" dirty="0">
                <a:solidFill>
                  <a:srgbClr val="E8F1F2"/>
                </a:solidFill>
                <a:latin typeface="Calibri" pitchFamily="34" charset="0"/>
                <a:ea typeface="Calibri" pitchFamily="34" charset="-122"/>
                <a:cs typeface="Calibri" pitchFamily="34" charset="-120"/>
              </a:rPr>
              <a:t>Oracle price</a:t>
            </a:r>
            <a:endParaRPr lang="en-US" sz="2200" dirty="0"/>
          </a:p>
        </p:txBody>
      </p:sp>
      <p:sp>
        <p:nvSpPr>
          <p:cNvPr id="9" name="b2-arrow"/>
          <p:cNvSpPr/>
          <p:nvPr/>
        </p:nvSpPr>
        <p:spPr>
          <a:xfrm>
            <a:off x="4013200" y="3009900"/>
            <a:ext cx="406400" cy="203200"/>
          </a:xfrm>
          <a:prstGeom prst="rightArrow">
            <a:avLst/>
          </a:prstGeom>
          <a:solidFill>
            <a:srgbClr val="2CD8DF">
              <a:alpha val="70000"/>
            </a:srgbClr>
          </a:solidFill>
          <a:ln/>
        </p:spPr>
      </p:sp>
      <p:sp>
        <p:nvSpPr>
          <p:cNvPr id="10" name="b3-card"/>
          <p:cNvSpPr/>
          <p:nvPr/>
        </p:nvSpPr>
        <p:spPr>
          <a:xfrm>
            <a:off x="4572000" y="2159000"/>
            <a:ext cx="3048000" cy="1905000"/>
          </a:xfrm>
          <a:prstGeom prst="roundRect">
            <a:avLst>
              <a:gd name="adj" fmla="val 8000"/>
            </a:avLst>
          </a:prstGeom>
          <a:solidFill>
            <a:srgbClr val="0E151C">
              <a:alpha val="90000"/>
            </a:srgbClr>
          </a:solidFill>
          <a:ln w="9525">
            <a:solidFill>
              <a:srgbClr val="9469F2">
                <a:alpha val="30000"/>
              </a:srgbClr>
            </a:solidFill>
            <a:prstDash val="solid"/>
          </a:ln>
          <a:effectLst>
            <a:outerShdw sx="100000" sy="100000" kx="0" ky="0" algn="bl" rotWithShape="0" blurRad="355600" dist="1270" dir="16200000">
              <a:srgbClr val="9469F2">
                <a:alpha val="30000"/>
              </a:srgbClr>
            </a:outerShdw>
          </a:effectLst>
        </p:spPr>
      </p:sp>
      <p:sp>
        <p:nvSpPr>
          <p:cNvPr id="11" name="b3-num"/>
          <p:cNvSpPr txBox="1"/>
          <p:nvPr/>
        </p:nvSpPr>
        <p:spPr>
          <a:xfrm>
            <a:off x="4851400" y="2438400"/>
            <a:ext cx="1270000" cy="508000"/>
          </a:xfrm>
          <a:prstGeom prst="rect">
            <a:avLst/>
          </a:prstGeom>
          <a:noFill/>
          <a:ln/>
        </p:spPr>
        <p:txBody>
          <a:bodyPr wrap="square" lIns="0" tIns="0" rIns="0" bIns="0" rtlCol="0" anchor="t"/>
          <a:lstStyle/>
          <a:p>
            <a:pPr algn="l" indent="0" marL="0">
              <a:lnSpc>
                <a:spcPct val="100000"/>
              </a:lnSpc>
              <a:buNone/>
            </a:pPr>
            <a:r>
              <a:rPr lang="en-US" sz="3600" b="1" dirty="0">
                <a:solidFill>
                  <a:srgbClr val="A58BF5"/>
                </a:solidFill>
                <a:effectLst>
                  <a:glow rad="152400">
                    <a:srgbClr val="9469F2">
                      <a:alpha val="40000"/>
                    </a:srgbClr>
                  </a:glow>
                </a:effectLst>
                <a:latin typeface="Consolas" pitchFamily="34" charset="0"/>
                <a:ea typeface="Consolas" pitchFamily="34" charset="-122"/>
                <a:cs typeface="Consolas" pitchFamily="34" charset="-120"/>
              </a:rPr>
              <a:t>02</a:t>
            </a:r>
            <a:endParaRPr lang="en-US" sz="3600" dirty="0"/>
          </a:p>
        </p:txBody>
      </p:sp>
      <p:sp>
        <p:nvSpPr>
          <p:cNvPr id="12" name="b3-lbl"/>
          <p:cNvSpPr txBox="1"/>
          <p:nvPr/>
        </p:nvSpPr>
        <p:spPr>
          <a:xfrm>
            <a:off x="4851400" y="3073400"/>
            <a:ext cx="2489200" cy="698500"/>
          </a:xfrm>
          <a:prstGeom prst="rect">
            <a:avLst/>
          </a:prstGeom>
          <a:noFill/>
          <a:ln/>
        </p:spPr>
        <p:txBody>
          <a:bodyPr wrap="square" lIns="0" tIns="0" rIns="0" bIns="0" rtlCol="0" anchor="t"/>
          <a:lstStyle/>
          <a:p>
            <a:pPr algn="l" indent="0" marL="0">
              <a:lnSpc>
                <a:spcPct val="110000"/>
              </a:lnSpc>
              <a:buNone/>
            </a:pPr>
            <a:r>
              <a:rPr lang="en-US" sz="2200" b="1" dirty="0">
                <a:solidFill>
                  <a:srgbClr val="E8F1F2"/>
                </a:solidFill>
                <a:latin typeface="Calibri" pitchFamily="34" charset="0"/>
                <a:ea typeface="Calibri" pitchFamily="34" charset="-122"/>
                <a:cs typeface="Calibri" pitchFamily="34" charset="-120"/>
              </a:rPr>
              <a:t>ECV under stress</a:t>
            </a:r>
            <a:endParaRPr lang="en-US" sz="2200" dirty="0"/>
          </a:p>
        </p:txBody>
      </p:sp>
      <p:sp>
        <p:nvSpPr>
          <p:cNvPr id="13" name="b4-arrow"/>
          <p:cNvSpPr/>
          <p:nvPr/>
        </p:nvSpPr>
        <p:spPr>
          <a:xfrm>
            <a:off x="7772400" y="3009900"/>
            <a:ext cx="406400" cy="203200"/>
          </a:xfrm>
          <a:prstGeom prst="rightArrow">
            <a:avLst/>
          </a:prstGeom>
          <a:solidFill>
            <a:srgbClr val="A58BF5">
              <a:alpha val="70000"/>
            </a:srgbClr>
          </a:solidFill>
          <a:ln/>
        </p:spPr>
      </p:sp>
      <p:sp>
        <p:nvSpPr>
          <p:cNvPr id="14" name="b5-card"/>
          <p:cNvSpPr/>
          <p:nvPr/>
        </p:nvSpPr>
        <p:spPr>
          <a:xfrm>
            <a:off x="8331200" y="2159000"/>
            <a:ext cx="3048000" cy="1905000"/>
          </a:xfrm>
          <a:prstGeom prst="roundRect">
            <a:avLst>
              <a:gd name="adj" fmla="val 8000"/>
            </a:avLst>
          </a:prstGeom>
          <a:solidFill>
            <a:srgbClr val="1C160C">
              <a:alpha val="90000"/>
            </a:srgbClr>
          </a:solidFill>
          <a:ln w="9525">
            <a:solidFill>
              <a:srgbClr val="F2B84B">
                <a:alpha val="50000"/>
              </a:srgbClr>
            </a:solidFill>
            <a:prstDash val="solid"/>
          </a:ln>
          <a:effectLst>
            <a:outerShdw sx="100000" sy="100000" kx="0" ky="0" algn="bl" rotWithShape="0" blurRad="355600" dist="1270" dir="16200000">
              <a:srgbClr val="F2B84B">
                <a:alpha val="30000"/>
              </a:srgbClr>
            </a:outerShdw>
          </a:effectLst>
        </p:spPr>
      </p:sp>
      <p:sp>
        <p:nvSpPr>
          <p:cNvPr id="15" name="b5-num"/>
          <p:cNvSpPr txBox="1"/>
          <p:nvPr/>
        </p:nvSpPr>
        <p:spPr>
          <a:xfrm>
            <a:off x="8610600" y="2438400"/>
            <a:ext cx="1270000" cy="508000"/>
          </a:xfrm>
          <a:prstGeom prst="rect">
            <a:avLst/>
          </a:prstGeom>
          <a:noFill/>
          <a:ln/>
        </p:spPr>
        <p:txBody>
          <a:bodyPr wrap="square" lIns="0" tIns="0" rIns="0" bIns="0" rtlCol="0" anchor="t"/>
          <a:lstStyle/>
          <a:p>
            <a:pPr algn="l" indent="0" marL="0">
              <a:lnSpc>
                <a:spcPct val="100000"/>
              </a:lnSpc>
              <a:buNone/>
            </a:pPr>
            <a:r>
              <a:rPr lang="en-US" sz="3600" b="1" dirty="0">
                <a:solidFill>
                  <a:srgbClr val="F2B84B"/>
                </a:solidFill>
                <a:effectLst>
                  <a:glow rad="152400">
                    <a:srgbClr val="F2B84B">
                      <a:alpha val="40000"/>
                    </a:srgbClr>
                  </a:glow>
                </a:effectLst>
                <a:latin typeface="Consolas" pitchFamily="34" charset="0"/>
                <a:ea typeface="Consolas" pitchFamily="34" charset="-122"/>
                <a:cs typeface="Consolas" pitchFamily="34" charset="-120"/>
              </a:rPr>
              <a:t>03</a:t>
            </a:r>
            <a:endParaRPr lang="en-US" sz="3600" dirty="0"/>
          </a:p>
        </p:txBody>
      </p:sp>
      <p:sp>
        <p:nvSpPr>
          <p:cNvPr id="16" name="b5-lbl"/>
          <p:cNvSpPr txBox="1"/>
          <p:nvPr/>
        </p:nvSpPr>
        <p:spPr>
          <a:xfrm>
            <a:off x="8610600" y="3073400"/>
            <a:ext cx="2489200" cy="698500"/>
          </a:xfrm>
          <a:prstGeom prst="rect">
            <a:avLst/>
          </a:prstGeom>
          <a:noFill/>
          <a:ln/>
        </p:spPr>
        <p:txBody>
          <a:bodyPr wrap="square" lIns="0" tIns="0" rIns="0" bIns="0" rtlCol="0" anchor="t"/>
          <a:lstStyle/>
          <a:p>
            <a:pPr algn="l" indent="0" marL="0">
              <a:lnSpc>
                <a:spcPct val="110000"/>
              </a:lnSpc>
              <a:buNone/>
            </a:pPr>
            <a:r>
              <a:rPr lang="en-US" sz="2200" b="1" dirty="0">
                <a:solidFill>
                  <a:srgbClr val="E8F1F2"/>
                </a:solidFill>
                <a:latin typeface="Calibri" pitchFamily="34" charset="0"/>
                <a:ea typeface="Calibri" pitchFamily="34" charset="-122"/>
                <a:cs typeface="Calibri" pitchFamily="34" charset="-120"/>
              </a:rPr>
              <a:t>Breaker: WARNING</a:t>
            </a:r>
            <a:endParaRPr lang="en-US" sz="2200" dirty="0"/>
          </a:p>
        </p:txBody>
      </p:sp>
      <p:pic>
        <p:nvPicPr>
          <p:cNvPr id="17" name="b5-icon" descr="Warning">    </p:cNvPr>
          <p:cNvPicPr>
            <a:picLocks noChangeAspect="1"/>
          </p:cNvPicPr>
          <p:nvPr/>
        </p:nvPicPr>
        <p:blipFill>
          <a:blip r:embed="rId3"/>
          <a:stretch>
            <a:fillRect/>
          </a:stretch>
        </p:blipFill>
        <p:spPr>
          <a:xfrm>
            <a:off x="10693400" y="2438400"/>
            <a:ext cx="406400" cy="406400"/>
          </a:xfrm>
          <a:prstGeom prst="rect">
            <a:avLst/>
          </a:prstGeom>
        </p:spPr>
      </p:pic>
      <p:sp>
        <p:nvSpPr>
          <p:cNvPr id="18" name="b6-panel"/>
          <p:cNvSpPr/>
          <p:nvPr/>
        </p:nvSpPr>
        <p:spPr>
          <a:xfrm>
            <a:off x="812800" y="4445000"/>
            <a:ext cx="10566400" cy="1016000"/>
          </a:xfrm>
          <a:prstGeom prst="roundRect">
            <a:avLst>
              <a:gd name="adj" fmla="val 12500"/>
            </a:avLst>
          </a:prstGeom>
          <a:solidFill>
            <a:srgbClr val="0E151C">
              <a:alpha val="90000"/>
            </a:srgbClr>
          </a:solidFill>
          <a:ln w="9525">
            <a:solidFill>
              <a:srgbClr val="FFFFFF">
                <a:alpha val="12000"/>
              </a:srgbClr>
            </a:solidFill>
            <a:prstDash val="solid"/>
          </a:ln>
        </p:spPr>
      </p:sp>
      <p:sp>
        <p:nvSpPr>
          <p:cNvPr id="19" name="b6-txt"/>
          <p:cNvSpPr txBox="1"/>
          <p:nvPr/>
        </p:nvSpPr>
        <p:spPr>
          <a:xfrm>
            <a:off x="1066800" y="4445000"/>
            <a:ext cx="10058400" cy="1016000"/>
          </a:xfrm>
          <a:prstGeom prst="rect">
            <a:avLst/>
          </a:prstGeom>
          <a:noFill/>
          <a:ln/>
        </p:spPr>
        <p:txBody>
          <a:bodyPr wrap="square" lIns="0" tIns="0" rIns="0" bIns="0" rtlCol="0" anchor="ctr"/>
          <a:lstStyle/>
          <a:p>
            <a:pPr algn="l" indent="0" marL="0">
              <a:lnSpc>
                <a:spcPct val="130000"/>
              </a:lnSpc>
              <a:buNone/>
            </a:pPr>
            <a:r>
              <a:rPr lang="en-US" sz="1600" dirty="0">
                <a:solidFill>
                  <a:srgbClr val="BFD3D6"/>
                </a:solidFill>
                <a:latin typeface="Calibri" pitchFamily="34" charset="0"/>
                <a:ea typeface="Calibri" pitchFamily="34" charset="-122"/>
                <a:cs typeface="Calibri" pitchFamily="34" charset="-120"/>
              </a:rPr>
              <a:t>TSLAx · $100k · stress sandbox: ECV </a:t>
            </a:r>
            <a:pPr algn="l" indent="0" marL="0">
              <a:lnSpc>
                <a:spcPct val="130000"/>
              </a:lnSpc>
              <a:buNone/>
            </a:pPr>
            <a:r>
              <a:rPr lang="en-US" sz="1600" b="1" dirty="0">
                <a:solidFill>
                  <a:srgbClr val="2CD8DF"/>
                </a:solidFill>
                <a:latin typeface="Calibri" pitchFamily="34" charset="0"/>
                <a:ea typeface="Calibri" pitchFamily="34" charset="-122"/>
                <a:cs typeface="Calibri" pitchFamily="34" charset="-120"/>
              </a:rPr>
              <a:t>$84,358</a:t>
            </a:r>
            <a:pPr algn="l" indent="0" marL="0">
              <a:lnSpc>
                <a:spcPct val="130000"/>
              </a:lnSpc>
              <a:buNone/>
            </a:pPr>
            <a:r>
              <a:rPr lang="en-US" sz="1600" dirty="0">
                <a:solidFill>
                  <a:srgbClr val="BFD3D6"/>
                </a:solidFill>
                <a:latin typeface="Calibri" pitchFamily="34" charset="0"/>
                <a:ea typeface="Calibri" pitchFamily="34" charset="-122"/>
                <a:cs typeface="Calibri" pitchFamily="34" charset="-120"/>
              </a:rPr>
              <a:t> · safe max borrow </a:t>
            </a:r>
            <a:pPr algn="l" indent="0" marL="0">
              <a:lnSpc>
                <a:spcPct val="130000"/>
              </a:lnSpc>
              <a:buNone/>
            </a:pPr>
            <a:r>
              <a:rPr lang="en-US" sz="1600" b="1" dirty="0">
                <a:solidFill>
                  <a:srgbClr val="2CD8DF"/>
                </a:solidFill>
                <a:latin typeface="Calibri" pitchFamily="34" charset="0"/>
                <a:ea typeface="Calibri" pitchFamily="34" charset="-122"/>
                <a:cs typeface="Calibri" pitchFamily="34" charset="-120"/>
              </a:rPr>
              <a:t>$58,684</a:t>
            </a:r>
            <a:pPr algn="l" indent="0" marL="0">
              <a:lnSpc>
                <a:spcPct val="130000"/>
              </a:lnSpc>
              <a:buNone/>
            </a:pPr>
            <a:r>
              <a:rPr lang="en-US" sz="1600" dirty="0">
                <a:solidFill>
                  <a:srgbClr val="BFD3D6"/>
                </a:solidFill>
                <a:latin typeface="Calibri" pitchFamily="34" charset="0"/>
                <a:ea typeface="Calibri" pitchFamily="34" charset="-122"/>
                <a:cs typeface="Calibri" pitchFamily="34" charset="-120"/>
              </a:rPr>
              <a:t> vs Kamino LTV $55,000 · </a:t>
            </a:r>
            <a:pPr algn="l" indent="0" marL="0">
              <a:lnSpc>
                <a:spcPct val="130000"/>
              </a:lnSpc>
              <a:buNone/>
            </a:pPr>
            <a:r>
              <a:rPr lang="en-US" sz="1600" b="1" dirty="0">
                <a:solidFill>
                  <a:srgbClr val="F2B84B"/>
                </a:solidFill>
                <a:latin typeface="Calibri" pitchFamily="34" charset="0"/>
                <a:ea typeface="Calibri" pitchFamily="34" charset="-122"/>
                <a:cs typeface="Calibri" pitchFamily="34" charset="-120"/>
              </a:rPr>
              <a:t>WARNING</a:t>
            </a:r>
            <a:pPr algn="l" indent="0" marL="0">
              <a:lnSpc>
                <a:spcPct val="130000"/>
              </a:lnSpc>
              <a:buNone/>
            </a:pPr>
            <a:r>
              <a:rPr lang="en-US" sz="1600" dirty="0">
                <a:solidFill>
                  <a:srgbClr val="BFD3D6"/>
                </a:solidFill>
                <a:latin typeface="Calibri" pitchFamily="34" charset="0"/>
                <a:ea typeface="Calibri" pitchFamily="34" charset="-122"/>
                <a:cs typeface="Calibri" pitchFamily="34" charset="-120"/>
              </a:rPr>
              <a:t>: USDC reserve utilization at the 90% rate kink</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400"/>
                                        <p:tgtEl>
                                          <p:spTgt spid="6"/>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00"/>
                                        <p:tgtEl>
                                          <p:spTgt spid="7"/>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00"/>
                                        <p:tgtEl>
                                          <p:spTgt spid="8"/>
                                        </p:tgtEl>
                                      </p:cBhvr>
                                    </p:animEffect>
                                  </p:childTnLst>
                                </p:cTn>
                              </p:par>
                            </p:childTnLst>
                          </p:cTn>
                        </p:par>
                        <p:par>
                          <p:cTn id="17" fill="hold">
                            <p:stCondLst>
                              <p:cond delay="400"/>
                            </p:stCondLst>
                            <p:childTnLst>
                              <p:par>
                                <p:cTn id="14" presetID="10"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par>
                          <p:cTn id="27" fill="hold">
                            <p:stCondLst>
                              <p:cond delay="800"/>
                            </p:stCondLst>
                            <p:childTnLst>
                              <p:par>
                                <p:cTn id="18" presetID="10"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childTnLst>
                          </p:cTn>
                        </p:par>
                        <p:par>
                          <p:cTn id="31" fill="hold">
                            <p:stCondLst>
                              <p:cond delay="1200"/>
                            </p:stCondLst>
                            <p:childTnLst>
                              <p:par>
                                <p:cTn id="28" presetID="10"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par>
                          <p:cTn id="44" fill="hold">
                            <p:stCondLst>
                              <p:cond delay="1600"/>
                            </p:stCondLst>
                            <p:childTnLst>
                              <p:par>
                                <p:cTn id="32" presetID="10"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00"/>
                                        <p:tgtEl>
                                          <p:spTgt spid="17"/>
                                        </p:tgtEl>
                                      </p:cBhvr>
                                    </p:animEffect>
                                  </p:childTnLst>
                                </p:cTn>
                              </p:par>
                            </p:childTnLst>
                          </p:cTn>
                        </p:par>
                        <p:par>
                          <p:cTn id="51" fill="hold">
                            <p:stCondLst>
                              <p:cond delay="200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8"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87400"/>
            <a:ext cx="10566400" cy="609600"/>
          </a:xfrm>
          <a:prstGeom prst="rect">
            <a:avLst/>
          </a:prstGeom>
          <a:noFill/>
          <a:ln/>
        </p:spPr>
        <p:txBody>
          <a:bodyPr wrap="square" lIns="0" tIns="0" rIns="0" bIns="0" rtlCol="0" anchor="t"/>
          <a:lstStyle/>
          <a:p>
            <a:pPr algn="l" indent="0" marL="0">
              <a:lnSpc>
                <a:spcPct val="105000"/>
              </a:lnSpc>
              <a:buNone/>
            </a:pPr>
            <a:r>
              <a:rPr lang="en-US" sz="3600" b="1" dirty="0">
                <a:solidFill>
                  <a:srgbClr val="E8F1F2"/>
                </a:solidFill>
                <a:latin typeface="Calibri" pitchFamily="34" charset="0"/>
                <a:ea typeface="Calibri" pitchFamily="34" charset="-122"/>
                <a:cs typeface="Calibri" pitchFamily="34" charset="-120"/>
              </a:rPr>
              <a:t>Same book. Two models. Synthetic in-sample.</a:t>
            </a:r>
            <a:endParaRPr lang="en-US" sz="3600" dirty="0"/>
          </a:p>
        </p:txBody>
      </p:sp>
      <p:sp>
        <p:nvSpPr>
          <p:cNvPr id="3" name="Shape 1"/>
          <p:cNvSpPr/>
          <p:nvPr/>
        </p:nvSpPr>
        <p:spPr>
          <a:xfrm>
            <a:off x="812800" y="1473200"/>
            <a:ext cx="5461000" cy="342900"/>
          </a:xfrm>
          <a:prstGeom prst="roundRect">
            <a:avLst>
              <a:gd name="adj" fmla="val 50000"/>
            </a:avLst>
          </a:prstGeom>
          <a:solidFill>
            <a:srgbClr val="FFFFFF">
              <a:alpha val="4000"/>
            </a:srgbClr>
          </a:solidFill>
          <a:ln w="9525">
            <a:solidFill>
              <a:srgbClr val="E8F1F2">
                <a:alpha val="45000"/>
              </a:srgbClr>
            </a:solidFill>
            <a:prstDash val="solid"/>
          </a:ln>
        </p:spPr>
      </p:sp>
      <p:sp>
        <p:nvSpPr>
          <p:cNvPr id="4" name="Text 2"/>
          <p:cNvSpPr txBox="1"/>
          <p:nvPr/>
        </p:nvSpPr>
        <p:spPr>
          <a:xfrm>
            <a:off x="990600" y="1473200"/>
            <a:ext cx="5207000" cy="342900"/>
          </a:xfrm>
          <a:prstGeom prst="rect">
            <a:avLst/>
          </a:prstGeom>
          <a:noFill/>
          <a:ln/>
        </p:spPr>
        <p:txBody>
          <a:bodyPr wrap="square" lIns="0" tIns="0" rIns="0" bIns="0" rtlCol="0" anchor="ctr"/>
          <a:lstStyle/>
          <a:p>
            <a:pPr algn="l" indent="0" marL="0">
              <a:lnSpc>
                <a:spcPct val="115000"/>
              </a:lnSpc>
              <a:buNone/>
            </a:pPr>
            <a:r>
              <a:rPr lang="en-US" sz="1200" b="1" spc="50" kern="0" dirty="0">
                <a:solidFill>
                  <a:srgbClr val="E8F1F2"/>
                </a:solidFill>
                <a:latin typeface="Calibri" pitchFamily="34" charset="0"/>
                <a:ea typeface="Calibri" pitchFamily="34" charset="-122"/>
                <a:cs typeface="Calibri" pitchFamily="34" charset="-120"/>
              </a:rPr>
              <a:t>SYNTHETIC IN-SAMPLE — not historical validation · not mainnet</a:t>
            </a:r>
            <a:endParaRPr lang="en-US" sz="1200" dirty="0"/>
          </a:p>
        </p:txBody>
      </p:sp>
      <p:sp>
        <p:nvSpPr>
          <p:cNvPr id="5" name="b1-card"/>
          <p:cNvSpPr/>
          <p:nvPr/>
        </p:nvSpPr>
        <p:spPr>
          <a:xfrm>
            <a:off x="812800" y="2032000"/>
            <a:ext cx="5156200" cy="2489200"/>
          </a:xfrm>
          <a:prstGeom prst="roundRect">
            <a:avLst>
              <a:gd name="adj" fmla="val 7143"/>
            </a:avLst>
          </a:prstGeom>
          <a:solidFill>
            <a:srgbClr val="FF5C7A">
              <a:alpha val="6000"/>
            </a:srgbClr>
          </a:solidFill>
          <a:ln w="9525">
            <a:solidFill>
              <a:srgbClr val="FF5C7A">
                <a:alpha val="40000"/>
              </a:srgbClr>
            </a:solidFill>
            <a:prstDash val="solid"/>
          </a:ln>
          <a:effectLst>
            <a:outerShdw sx="100000" sy="100000" kx="0" ky="0" algn="bl" rotWithShape="0" blurRad="406400" dist="1270" dir="16200000">
              <a:srgbClr val="FF5C7A">
                <a:alpha val="25000"/>
              </a:srgbClr>
            </a:outerShdw>
          </a:effectLst>
        </p:spPr>
      </p:sp>
      <p:sp>
        <p:nvSpPr>
          <p:cNvPr id="6" name="b1-num"/>
          <p:cNvSpPr txBox="1"/>
          <p:nvPr/>
        </p:nvSpPr>
        <p:spPr>
          <a:xfrm>
            <a:off x="1117600" y="2286000"/>
            <a:ext cx="4546600" cy="1079500"/>
          </a:xfrm>
          <a:prstGeom prst="rect">
            <a:avLst/>
          </a:prstGeom>
          <a:noFill/>
          <a:ln/>
        </p:spPr>
        <p:txBody>
          <a:bodyPr wrap="square" lIns="0" tIns="0" rIns="0" bIns="0" rtlCol="0" anchor="t"/>
          <a:lstStyle/>
          <a:p>
            <a:pPr algn="l" indent="0" marL="0">
              <a:lnSpc>
                <a:spcPct val="100000"/>
              </a:lnSpc>
              <a:buNone/>
            </a:pPr>
            <a:r>
              <a:rPr lang="en-US" sz="7200" b="1" dirty="0">
                <a:solidFill>
                  <a:srgbClr val="FF5C7A"/>
                </a:solidFill>
                <a:effectLst>
                  <a:glow rad="203200">
                    <a:srgbClr val="FF5C7A">
                      <a:alpha val="35000"/>
                    </a:srgbClr>
                  </a:glow>
                </a:effectLst>
                <a:latin typeface="Calibri" pitchFamily="34" charset="0"/>
                <a:ea typeface="Calibri" pitchFamily="34" charset="-122"/>
                <a:cs typeface="Calibri" pitchFamily="34" charset="-120"/>
              </a:rPr>
              <a:t>~$3.98M</a:t>
            </a:r>
            <a:endParaRPr lang="en-US" sz="7200" dirty="0"/>
          </a:p>
        </p:txBody>
      </p:sp>
      <p:sp>
        <p:nvSpPr>
          <p:cNvPr id="7" name="b1-lbl"/>
          <p:cNvSpPr txBox="1"/>
          <p:nvPr/>
        </p:nvSpPr>
        <p:spPr>
          <a:xfrm>
            <a:off x="1117600" y="3556000"/>
            <a:ext cx="4546600" cy="698500"/>
          </a:xfrm>
          <a:prstGeom prst="rect">
            <a:avLst/>
          </a:prstGeom>
          <a:noFill/>
          <a:ln/>
        </p:spPr>
        <p:txBody>
          <a:bodyPr wrap="square" lIns="0" tIns="0" rIns="0" bIns="0" rtlCol="0" anchor="t"/>
          <a:lstStyle/>
          <a:p>
            <a:pPr algn="l" indent="0" marL="0">
              <a:lnSpc>
                <a:spcPct val="125000"/>
              </a:lnSpc>
              <a:buNone/>
            </a:pPr>
            <a:r>
              <a:rPr lang="en-US" sz="1600" dirty="0">
                <a:solidFill>
                  <a:srgbClr val="E8D4D8"/>
                </a:solidFill>
                <a:latin typeface="Calibri" pitchFamily="34" charset="0"/>
                <a:ea typeface="Calibri" pitchFamily="34" charset="-122"/>
                <a:cs typeface="Calibri" pitchFamily="34" charset="-120"/>
              </a:rPr>
              <a:t>Fixed 70% LTV · bad debt in synthetic tail stress</a:t>
            </a:r>
            <a:endParaRPr lang="en-US" sz="1600" dirty="0"/>
          </a:p>
        </p:txBody>
      </p:sp>
      <p:sp>
        <p:nvSpPr>
          <p:cNvPr id="8" name="b2-card"/>
          <p:cNvSpPr/>
          <p:nvPr/>
        </p:nvSpPr>
        <p:spPr>
          <a:xfrm>
            <a:off x="6223000" y="2032000"/>
            <a:ext cx="5156200" cy="2489200"/>
          </a:xfrm>
          <a:prstGeom prst="roundRect">
            <a:avLst>
              <a:gd name="adj" fmla="val 7143"/>
            </a:avLst>
          </a:prstGeom>
          <a:solidFill>
            <a:srgbClr val="3DDC97">
              <a:alpha val="6000"/>
            </a:srgbClr>
          </a:solidFill>
          <a:ln w="9525">
            <a:solidFill>
              <a:srgbClr val="3DDC97">
                <a:alpha val="40000"/>
              </a:srgbClr>
            </a:solidFill>
            <a:prstDash val="solid"/>
          </a:ln>
          <a:effectLst>
            <a:outerShdw sx="100000" sy="100000" kx="0" ky="0" algn="bl" rotWithShape="0" blurRad="406400" dist="1270" dir="16200000">
              <a:srgbClr val="3DDC97">
                <a:alpha val="25000"/>
              </a:srgbClr>
            </a:outerShdw>
          </a:effectLst>
        </p:spPr>
      </p:sp>
      <p:sp>
        <p:nvSpPr>
          <p:cNvPr id="9" name="b2-num"/>
          <p:cNvSpPr txBox="1"/>
          <p:nvPr/>
        </p:nvSpPr>
        <p:spPr>
          <a:xfrm>
            <a:off x="6527800" y="2286000"/>
            <a:ext cx="4546600" cy="1079500"/>
          </a:xfrm>
          <a:prstGeom prst="rect">
            <a:avLst/>
          </a:prstGeom>
          <a:noFill/>
          <a:ln/>
        </p:spPr>
        <p:txBody>
          <a:bodyPr wrap="square" lIns="0" tIns="0" rIns="0" bIns="0" rtlCol="0" anchor="t"/>
          <a:lstStyle/>
          <a:p>
            <a:pPr algn="l" indent="0" marL="0">
              <a:lnSpc>
                <a:spcPct val="100000"/>
              </a:lnSpc>
              <a:buNone/>
            </a:pPr>
            <a:r>
              <a:rPr lang="en-US" sz="7200" b="1" dirty="0">
                <a:solidFill>
                  <a:srgbClr val="3DDC97"/>
                </a:solidFill>
                <a:effectLst>
                  <a:glow rad="203200">
                    <a:srgbClr val="3DDC97">
                      <a:alpha val="35000"/>
                    </a:srgbClr>
                  </a:glow>
                </a:effectLst>
                <a:latin typeface="Calibri" pitchFamily="34" charset="0"/>
                <a:ea typeface="Calibri" pitchFamily="34" charset="-122"/>
                <a:cs typeface="Calibri" pitchFamily="34" charset="-120"/>
              </a:rPr>
              <a:t>$0</a:t>
            </a:r>
            <a:endParaRPr lang="en-US" sz="7200" dirty="0"/>
          </a:p>
        </p:txBody>
      </p:sp>
      <p:sp>
        <p:nvSpPr>
          <p:cNvPr id="10" name="b2-lbl"/>
          <p:cNvSpPr txBox="1"/>
          <p:nvPr/>
        </p:nvSpPr>
        <p:spPr>
          <a:xfrm>
            <a:off x="6527800" y="3556000"/>
            <a:ext cx="4546600" cy="698500"/>
          </a:xfrm>
          <a:prstGeom prst="rect">
            <a:avLst/>
          </a:prstGeom>
          <a:noFill/>
          <a:ln/>
        </p:spPr>
        <p:txBody>
          <a:bodyPr wrap="square" lIns="0" tIns="0" rIns="0" bIns="0" rtlCol="0" anchor="t"/>
          <a:lstStyle/>
          <a:p>
            <a:pPr algn="l" indent="0" marL="0">
              <a:lnSpc>
                <a:spcPct val="125000"/>
              </a:lnSpc>
              <a:buNone/>
            </a:pPr>
            <a:r>
              <a:rPr lang="en-US" sz="1600" dirty="0">
                <a:solidFill>
                  <a:srgbClr val="CFE8DC"/>
                </a:solidFill>
                <a:latin typeface="Calibri" pitchFamily="34" charset="0"/>
                <a:ea typeface="Calibri" pitchFamily="34" charset="-122"/>
                <a:cs typeface="Calibri" pitchFamily="34" charset="-120"/>
              </a:rPr>
              <a:t>ECV · bad debt (synthetic, in-sample) + 369 refusals</a:t>
            </a:r>
            <a:endParaRPr lang="en-US" sz="1600" dirty="0"/>
          </a:p>
        </p:txBody>
      </p:sp>
      <p:sp>
        <p:nvSpPr>
          <p:cNvPr id="11" name="b3-line"/>
          <p:cNvSpPr txBox="1"/>
          <p:nvPr/>
        </p:nvSpPr>
        <p:spPr>
          <a:xfrm>
            <a:off x="812800" y="4826000"/>
            <a:ext cx="10566400" cy="317500"/>
          </a:xfrm>
          <a:prstGeom prst="rect">
            <a:avLst/>
          </a:prstGeom>
          <a:noFill/>
          <a:ln/>
        </p:spPr>
        <p:txBody>
          <a:bodyPr wrap="square" lIns="0" tIns="0" rIns="0" bIns="0" rtlCol="0" anchor="t"/>
          <a:lstStyle/>
          <a:p>
            <a:pPr algn="l" indent="0" marL="0">
              <a:lnSpc>
                <a:spcPct val="115000"/>
              </a:lnSpc>
              <a:buNone/>
            </a:pPr>
            <a:r>
              <a:rPr lang="en-US" sz="1600" dirty="0">
                <a:solidFill>
                  <a:srgbClr val="E8F1F2"/>
                </a:solidFill>
                <a:latin typeface="Calibri" pitchFamily="34" charset="0"/>
                <a:ea typeface="Calibri" pitchFamily="34" charset="-122"/>
                <a:cs typeface="Calibri" pitchFamily="34" charset="-120"/>
              </a:rPr>
              <a:t>In the tail scenario ECV refuses all 369 new loans — that is how bad debt stays at </a:t>
            </a:r>
            <a:pPr algn="l" indent="0" marL="0">
              <a:lnSpc>
                <a:spcPct val="115000"/>
              </a:lnSpc>
              <a:buNone/>
            </a:pPr>
            <a:r>
              <a:rPr lang="en-US" sz="1600" b="1" dirty="0">
                <a:solidFill>
                  <a:srgbClr val="3DDC97"/>
                </a:solidFill>
                <a:latin typeface="Calibri" pitchFamily="34" charset="0"/>
                <a:ea typeface="Calibri" pitchFamily="34" charset="-122"/>
                <a:cs typeface="Calibri" pitchFamily="34" charset="-120"/>
              </a:rPr>
              <a:t>$0</a:t>
            </a:r>
            <a:pPr algn="l" indent="0" marL="0">
              <a:lnSpc>
                <a:spcPct val="115000"/>
              </a:lnSpc>
              <a:buNone/>
            </a:pPr>
            <a:r>
              <a:rPr lang="en-US" sz="1600" dirty="0">
                <a:solidFill>
                  <a:srgbClr val="E8F1F2"/>
                </a:solidFill>
                <a:latin typeface="Calibri" pitchFamily="34" charset="0"/>
                <a:ea typeface="Calibri" pitchFamily="34" charset="-122"/>
                <a:cs typeface="Calibri" pitchFamily="34" charset="-120"/>
              </a:rPr>
              <a:t>.</a:t>
            </a:r>
            <a:endParaRPr lang="en-US" sz="1600" dirty="0"/>
          </a:p>
        </p:txBody>
      </p:sp>
      <p:sp>
        <p:nvSpPr>
          <p:cNvPr id="12" name="b4-line"/>
          <p:cNvSpPr txBox="1"/>
          <p:nvPr/>
        </p:nvSpPr>
        <p:spPr>
          <a:xfrm>
            <a:off x="812800" y="5219700"/>
            <a:ext cx="10566400" cy="317500"/>
          </a:xfrm>
          <a:prstGeom prst="rect">
            <a:avLst/>
          </a:prstGeom>
          <a:noFill/>
          <a:ln/>
        </p:spPr>
        <p:txBody>
          <a:bodyPr wrap="square" lIns="0" tIns="0" rIns="0" bIns="0" rtlCol="0" anchor="t"/>
          <a:lstStyle/>
          <a:p>
            <a:pPr algn="l" indent="0" marL="0">
              <a:lnSpc>
                <a:spcPct val="115000"/>
              </a:lnSpc>
              <a:buNone/>
            </a:pPr>
            <a:r>
              <a:rPr lang="en-US" sz="1600" dirty="0">
                <a:solidFill>
                  <a:srgbClr val="8FA3A7"/>
                </a:solidFill>
                <a:latin typeface="Calibri" pitchFamily="34" charset="0"/>
                <a:ea typeface="Calibri" pitchFamily="34" charset="-122"/>
                <a:cs typeface="Calibri" pitchFamily="34" charset="-120"/>
              </a:rPr>
              <a:t>Trade-off: calm base ≈ 100% of fixed-LTV credit · all six synthetic scenarios ≈ 27%</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00"/>
                                        <p:tgtEl>
                                          <p:spTgt spid="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0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00"/>
                                        <p:tgtEl>
                                          <p:spTgt spid="7"/>
                                        </p:tgtEl>
                                      </p:cBhvr>
                                    </p:animEffect>
                                  </p:childTnLst>
                                </p:cTn>
                              </p:par>
                            </p:childTnLst>
                          </p:cTn>
                        </p:par>
                        <p:par>
                          <p:cTn id="23" fill="hold">
                            <p:stCondLst>
                              <p:cond delay="4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childTnLst>
                          </p:cTn>
                        </p:par>
                        <p:par>
                          <p:cTn id="27" fill="hold">
                            <p:stCondLst>
                              <p:cond delay="80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childTnLst>
                          </p:cTn>
                        </p:par>
                        <p:par>
                          <p:cTn id="31" fill="hold">
                            <p:stCondLst>
                              <p:cond delay="1200"/>
                            </p:stCondLst>
                            <p:childTnLst>
                              <p:par>
                                <p:cTn id="28" presetID="10"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87400"/>
            <a:ext cx="10566400" cy="609600"/>
          </a:xfrm>
          <a:prstGeom prst="rect">
            <a:avLst/>
          </a:prstGeom>
          <a:noFill/>
          <a:ln/>
        </p:spPr>
        <p:txBody>
          <a:bodyPr wrap="square" lIns="0" tIns="0" rIns="0" bIns="0" rtlCol="0" anchor="t"/>
          <a:lstStyle/>
          <a:p>
            <a:pPr algn="l" indent="0" marL="0">
              <a:lnSpc>
                <a:spcPct val="105000"/>
              </a:lnSpc>
              <a:buNone/>
            </a:pPr>
            <a:r>
              <a:rPr lang="en-US" sz="3600" b="1" dirty="0">
                <a:solidFill>
                  <a:srgbClr val="E8F1F2"/>
                </a:solidFill>
                <a:latin typeface="Calibri" pitchFamily="34" charset="0"/>
                <a:ea typeface="Calibri" pitchFamily="34" charset="-122"/>
                <a:cs typeface="Calibri" pitchFamily="34" charset="-120"/>
              </a:rPr>
              <a:t>ECV published on Solana devnet</a:t>
            </a:r>
            <a:endParaRPr lang="en-US" sz="3600" dirty="0"/>
          </a:p>
        </p:txBody>
      </p:sp>
      <p:sp>
        <p:nvSpPr>
          <p:cNvPr id="3" name="Text 1"/>
          <p:cNvSpPr txBox="1"/>
          <p:nvPr/>
        </p:nvSpPr>
        <p:spPr>
          <a:xfrm>
            <a:off x="812800" y="1422400"/>
            <a:ext cx="7493000" cy="317500"/>
          </a:xfrm>
          <a:prstGeom prst="rect">
            <a:avLst/>
          </a:prstGeom>
          <a:noFill/>
          <a:ln/>
        </p:spPr>
        <p:txBody>
          <a:bodyPr wrap="square" lIns="0" tIns="0" rIns="0" bIns="0" rtlCol="0" anchor="t"/>
          <a:lstStyle/>
          <a:p>
            <a:pPr algn="l" indent="0" marL="0">
              <a:lnSpc>
                <a:spcPct val="115000"/>
              </a:lnSpc>
              <a:buNone/>
            </a:pPr>
            <a:r>
              <a:rPr lang="en-US" sz="1600" dirty="0">
                <a:solidFill>
                  <a:srgbClr val="8FA3A7"/>
                </a:solidFill>
                <a:latin typeface="Calibri" pitchFamily="34" charset="0"/>
                <a:ea typeface="Calibri" pitchFamily="34" charset="-122"/>
                <a:cs typeface="Calibri" pitchFamily="34" charset="-120"/>
              </a:rPr>
              <a:t>Anchor program ecv_oracle · deployed 26.09</a:t>
            </a:r>
            <a:endParaRPr lang="en-US" sz="1600" dirty="0"/>
          </a:p>
        </p:txBody>
      </p:sp>
      <p:sp>
        <p:nvSpPr>
          <p:cNvPr id="4" name="b1-qrtile"/>
          <p:cNvSpPr/>
          <p:nvPr/>
        </p:nvSpPr>
        <p:spPr>
          <a:xfrm>
            <a:off x="8712200" y="1854200"/>
            <a:ext cx="2667000" cy="2667000"/>
          </a:xfrm>
          <a:prstGeom prst="roundRect">
            <a:avLst>
              <a:gd name="adj" fmla="val 5714"/>
            </a:avLst>
          </a:prstGeom>
          <a:solidFill>
            <a:srgbClr val="FFFFFF"/>
          </a:solidFill>
          <a:ln/>
          <a:effectLst>
            <a:outerShdw sx="100000" sy="100000" kx="0" ky="0" algn="bl" rotWithShape="0" blurRad="457200" dist="1270" dir="16200000">
              <a:srgbClr val="2CD8DF">
                <a:alpha val="30000"/>
              </a:srgbClr>
            </a:outerShdw>
          </a:effectLst>
        </p:spPr>
      </p:sp>
      <p:pic>
        <p:nvPicPr>
          <p:cNvPr id="5" name="b1-qr" descr="QR code linking to the ecv_oracle program on Solana Explorer (devnet)">    </p:cNvPr>
          <p:cNvPicPr>
            <a:picLocks noChangeAspect="1"/>
          </p:cNvPicPr>
          <p:nvPr/>
        </p:nvPicPr>
        <p:blipFill>
          <a:blip r:embed="rId2"/>
          <a:stretch>
            <a:fillRect/>
          </a:stretch>
        </p:blipFill>
        <p:spPr>
          <a:xfrm>
            <a:off x="8915400" y="2057400"/>
            <a:ext cx="2260600" cy="2260600"/>
          </a:xfrm>
          <a:prstGeom prst="rect">
            <a:avLst/>
          </a:prstGeom>
        </p:spPr>
      </p:pic>
      <p:sp>
        <p:nvSpPr>
          <p:cNvPr id="6" name="b1-cap"/>
          <p:cNvSpPr txBox="1"/>
          <p:nvPr/>
        </p:nvSpPr>
        <p:spPr>
          <a:xfrm>
            <a:off x="8712200" y="4648200"/>
            <a:ext cx="2667000" cy="254000"/>
          </a:xfrm>
          <a:prstGeom prst="rect">
            <a:avLst/>
          </a:prstGeom>
          <a:noFill/>
          <a:ln/>
        </p:spPr>
        <p:txBody>
          <a:bodyPr wrap="square" lIns="0" tIns="0" rIns="0" bIns="0" rtlCol="0" anchor="t"/>
          <a:lstStyle/>
          <a:p>
            <a:pPr algn="ctr" indent="0" marL="0">
              <a:lnSpc>
                <a:spcPct val="115000"/>
              </a:lnSpc>
              <a:buNone/>
            </a:pPr>
            <a:r>
              <a:rPr lang="en-US" sz="1200" dirty="0">
                <a:solidFill>
                  <a:srgbClr val="BFD3D6"/>
                </a:solidFill>
                <a:latin typeface="Calibri" pitchFamily="34" charset="0"/>
                <a:ea typeface="Calibri" pitchFamily="34" charset="-122"/>
                <a:cs typeface="Calibri" pitchFamily="34" charset="-120"/>
              </a:rPr>
              <a:t>Scan → Solana Explorer (devnet)</a:t>
            </a:r>
            <a:endParaRPr lang="en-US" sz="1200" dirty="0"/>
          </a:p>
        </p:txBody>
      </p:sp>
      <p:sp>
        <p:nvSpPr>
          <p:cNvPr id="7" name="b2-card"/>
          <p:cNvSpPr/>
          <p:nvPr/>
        </p:nvSpPr>
        <p:spPr>
          <a:xfrm>
            <a:off x="812800" y="1854200"/>
            <a:ext cx="7493000" cy="1549400"/>
          </a:xfrm>
          <a:prstGeom prst="roundRect">
            <a:avLst>
              <a:gd name="adj" fmla="val 9836"/>
            </a:avLst>
          </a:prstGeom>
          <a:solidFill>
            <a:srgbClr val="0E151C">
              <a:alpha val="90000"/>
            </a:srgbClr>
          </a:solidFill>
          <a:ln w="9525">
            <a:solidFill>
              <a:srgbClr val="2CD8DF">
                <a:alpha val="28000"/>
              </a:srgbClr>
            </a:solidFill>
            <a:prstDash val="solid"/>
          </a:ln>
          <a:effectLst>
            <a:outerShdw sx="100000" sy="100000" kx="0" ky="0" algn="bl" rotWithShape="0" blurRad="355600" dist="1270" dir="16200000">
              <a:srgbClr val="2CD8DF">
                <a:alpha val="30000"/>
              </a:srgbClr>
            </a:outerShdw>
          </a:effectLst>
        </p:spPr>
      </p:sp>
      <p:sp>
        <p:nvSpPr>
          <p:cNvPr id="8" name="b2-eye"/>
          <p:cNvSpPr txBox="1"/>
          <p:nvPr/>
        </p:nvSpPr>
        <p:spPr>
          <a:xfrm>
            <a:off x="1066800" y="2070100"/>
            <a:ext cx="6985000" cy="2159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2CD8DF"/>
                </a:solidFill>
                <a:latin typeface="Calibri" pitchFamily="34" charset="0"/>
                <a:ea typeface="Calibri" pitchFamily="34" charset="-122"/>
                <a:cs typeface="Calibri" pitchFamily="34" charset="-120"/>
              </a:rPr>
              <a:t>PROGRAM ID · DEVNET</a:t>
            </a:r>
            <a:endParaRPr lang="en-US" sz="1200" dirty="0"/>
          </a:p>
        </p:txBody>
      </p:sp>
      <p:sp>
        <p:nvSpPr>
          <p:cNvPr id="9" name="b2-id"/>
          <p:cNvSpPr txBox="1"/>
          <p:nvPr/>
        </p:nvSpPr>
        <p:spPr>
          <a:xfrm>
            <a:off x="1066800" y="2336800"/>
            <a:ext cx="6985000" cy="571500"/>
          </a:xfrm>
          <a:prstGeom prst="rect">
            <a:avLst/>
          </a:prstGeom>
          <a:noFill/>
          <a:ln/>
        </p:spPr>
        <p:txBody>
          <a:bodyPr wrap="square" lIns="0" tIns="0" rIns="0" bIns="0" rtlCol="0" anchor="t"/>
          <a:lstStyle/>
          <a:p>
            <a:pPr algn="l" indent="0" marL="0">
              <a:lnSpc>
                <a:spcPct val="100000"/>
              </a:lnSpc>
              <a:buNone/>
            </a:pPr>
            <a:r>
              <a:rPr lang="en-US" sz="3600" b="1" dirty="0">
                <a:solidFill>
                  <a:srgbClr val="E8F1F2"/>
                </a:solidFill>
                <a:effectLst>
                  <a:glow rad="152400">
                    <a:srgbClr val="2CD8DF">
                      <a:alpha val="30000"/>
                    </a:srgbClr>
                  </a:glow>
                </a:effectLst>
                <a:latin typeface="Consolas" pitchFamily="34" charset="0"/>
                <a:ea typeface="Consolas" pitchFamily="34" charset="-122"/>
                <a:cs typeface="Consolas" pitchFamily="34" charset="-120"/>
              </a:rPr>
              <a:t>5nsdYo…Euc</a:t>
            </a:r>
            <a:endParaRPr lang="en-US" sz="3600" dirty="0"/>
          </a:p>
        </p:txBody>
      </p:sp>
      <p:sp>
        <p:nvSpPr>
          <p:cNvPr id="10" name="b2-cap"/>
          <p:cNvSpPr txBox="1"/>
          <p:nvPr/>
        </p:nvSpPr>
        <p:spPr>
          <a:xfrm>
            <a:off x="1066800" y="2984500"/>
            <a:ext cx="6985000" cy="254000"/>
          </a:xfrm>
          <a:prstGeom prst="rect">
            <a:avLst/>
          </a:prstGeom>
          <a:noFill/>
          <a:ln/>
        </p:spPr>
        <p:txBody>
          <a:bodyPr wrap="square" lIns="0" tIns="0" rIns="0" bIns="0" rtlCol="0" anchor="t"/>
          <a:lstStyle/>
          <a:p>
            <a:pPr algn="l" indent="0" marL="0">
              <a:lnSpc>
                <a:spcPct val="115000"/>
              </a:lnSpc>
              <a:buNone/>
            </a:pPr>
            <a:r>
              <a:rPr lang="en-US" sz="1200" dirty="0">
                <a:solidFill>
                  <a:srgbClr val="8FA3A7"/>
                </a:solidFill>
                <a:latin typeface="Calibri" pitchFamily="34" charset="0"/>
                <a:ea typeface="Calibri" pitchFamily="34" charset="-122"/>
                <a:cs typeface="Calibri" pitchFamily="34" charset="-120"/>
              </a:rPr>
              <a:t>Solana Explorer · cluster = devnet · scan the QR →</a:t>
            </a:r>
            <a:endParaRPr lang="en-US" sz="1200" dirty="0"/>
          </a:p>
        </p:txBody>
      </p:sp>
      <p:sp>
        <p:nvSpPr>
          <p:cNvPr id="11" name="b3-eye"/>
          <p:cNvSpPr txBox="1"/>
          <p:nvPr/>
        </p:nvSpPr>
        <p:spPr>
          <a:xfrm>
            <a:off x="812800" y="3606800"/>
            <a:ext cx="7493000" cy="2159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58BF5"/>
                </a:solidFill>
                <a:latin typeface="Calibri" pitchFamily="34" charset="0"/>
                <a:ea typeface="Calibri" pitchFamily="34" charset="-122"/>
                <a:cs typeface="Calibri" pitchFamily="34" charset="-120"/>
              </a:rPr>
              <a:t>PUBLISHES THE FIVE ECV OUTPUTS</a:t>
            </a:r>
            <a:endParaRPr lang="en-US" sz="1200" dirty="0"/>
          </a:p>
        </p:txBody>
      </p:sp>
      <p:sp>
        <p:nvSpPr>
          <p:cNvPr id="12" name="b3-chip0"/>
          <p:cNvSpPr/>
          <p:nvPr/>
        </p:nvSpPr>
        <p:spPr>
          <a:xfrm>
            <a:off x="812800" y="3898900"/>
            <a:ext cx="1098550" cy="317500"/>
          </a:xfrm>
          <a:prstGeom prst="roundRect">
            <a:avLst>
              <a:gd name="adj" fmla="val 20000"/>
            </a:avLst>
          </a:prstGeom>
          <a:solidFill>
            <a:srgbClr val="2CD8DF">
              <a:alpha val="8000"/>
            </a:srgbClr>
          </a:solidFill>
          <a:ln w="9525">
            <a:solidFill>
              <a:srgbClr val="2CD8DF">
                <a:alpha val="45000"/>
              </a:srgbClr>
            </a:solidFill>
            <a:prstDash val="solid"/>
          </a:ln>
        </p:spPr>
      </p:sp>
      <p:sp>
        <p:nvSpPr>
          <p:cNvPr id="13" name="b3-t0"/>
          <p:cNvSpPr txBox="1"/>
          <p:nvPr/>
        </p:nvSpPr>
        <p:spPr>
          <a:xfrm>
            <a:off x="812800" y="3898900"/>
            <a:ext cx="1098550" cy="317500"/>
          </a:xfrm>
          <a:prstGeom prst="rect">
            <a:avLst/>
          </a:prstGeom>
          <a:noFill/>
          <a:ln/>
        </p:spPr>
        <p:txBody>
          <a:bodyPr wrap="square" lIns="0" tIns="0" rIns="0" bIns="0" rtlCol="0" anchor="ctr"/>
          <a:lstStyle/>
          <a:p>
            <a:pPr algn="ctr" indent="0" marL="0">
              <a:lnSpc>
                <a:spcPct val="115000"/>
              </a:lnSpc>
              <a:buNone/>
            </a:pPr>
            <a:r>
              <a:rPr lang="en-US" sz="1200" dirty="0">
                <a:solidFill>
                  <a:srgbClr val="2CD8DF"/>
                </a:solidFill>
                <a:latin typeface="Consolas" pitchFamily="34" charset="0"/>
                <a:ea typeface="Consolas" pitchFamily="34" charset="-122"/>
                <a:cs typeface="Consolas" pitchFamily="34" charset="-120"/>
              </a:rPr>
              <a:t>max_borrow</a:t>
            </a:r>
            <a:endParaRPr lang="en-US" sz="1200" dirty="0"/>
          </a:p>
        </p:txBody>
      </p:sp>
      <p:sp>
        <p:nvSpPr>
          <p:cNvPr id="14" name="b3-chip1"/>
          <p:cNvSpPr/>
          <p:nvPr/>
        </p:nvSpPr>
        <p:spPr>
          <a:xfrm>
            <a:off x="1974850" y="3898900"/>
            <a:ext cx="1435100" cy="317500"/>
          </a:xfrm>
          <a:prstGeom prst="roundRect">
            <a:avLst>
              <a:gd name="adj" fmla="val 20000"/>
            </a:avLst>
          </a:prstGeom>
          <a:solidFill>
            <a:srgbClr val="2CD8DF">
              <a:alpha val="8000"/>
            </a:srgbClr>
          </a:solidFill>
          <a:ln w="9525">
            <a:solidFill>
              <a:srgbClr val="2CD8DF">
                <a:alpha val="45000"/>
              </a:srgbClr>
            </a:solidFill>
            <a:prstDash val="solid"/>
          </a:ln>
        </p:spPr>
      </p:sp>
      <p:sp>
        <p:nvSpPr>
          <p:cNvPr id="15" name="b3-t1"/>
          <p:cNvSpPr txBox="1"/>
          <p:nvPr/>
        </p:nvSpPr>
        <p:spPr>
          <a:xfrm>
            <a:off x="1974850" y="3898900"/>
            <a:ext cx="1435100" cy="317500"/>
          </a:xfrm>
          <a:prstGeom prst="rect">
            <a:avLst/>
          </a:prstGeom>
          <a:noFill/>
          <a:ln/>
        </p:spPr>
        <p:txBody>
          <a:bodyPr wrap="square" lIns="0" tIns="0" rIns="0" bIns="0" rtlCol="0" anchor="ctr"/>
          <a:lstStyle/>
          <a:p>
            <a:pPr algn="ctr" indent="0" marL="0">
              <a:lnSpc>
                <a:spcPct val="115000"/>
              </a:lnSpc>
              <a:buNone/>
            </a:pPr>
            <a:r>
              <a:rPr lang="en-US" sz="1200" dirty="0">
                <a:solidFill>
                  <a:srgbClr val="2CD8DF"/>
                </a:solidFill>
                <a:latin typeface="Consolas" pitchFamily="34" charset="0"/>
                <a:ea typeface="Consolas" pitchFamily="34" charset="-122"/>
                <a:cs typeface="Consolas" pitchFamily="34" charset="-120"/>
              </a:rPr>
              <a:t>collateral_cap</a:t>
            </a:r>
            <a:endParaRPr lang="en-US" sz="1200" dirty="0"/>
          </a:p>
        </p:txBody>
      </p:sp>
      <p:sp>
        <p:nvSpPr>
          <p:cNvPr id="16" name="b3-chip2"/>
          <p:cNvSpPr/>
          <p:nvPr/>
        </p:nvSpPr>
        <p:spPr>
          <a:xfrm>
            <a:off x="3473450" y="3898900"/>
            <a:ext cx="1689100" cy="317500"/>
          </a:xfrm>
          <a:prstGeom prst="roundRect">
            <a:avLst>
              <a:gd name="adj" fmla="val 20000"/>
            </a:avLst>
          </a:prstGeom>
          <a:solidFill>
            <a:srgbClr val="2CD8DF">
              <a:alpha val="8000"/>
            </a:srgbClr>
          </a:solidFill>
          <a:ln w="9525">
            <a:solidFill>
              <a:srgbClr val="2CD8DF">
                <a:alpha val="45000"/>
              </a:srgbClr>
            </a:solidFill>
            <a:prstDash val="solid"/>
          </a:ln>
        </p:spPr>
      </p:sp>
      <p:sp>
        <p:nvSpPr>
          <p:cNvPr id="17" name="b3-t2"/>
          <p:cNvSpPr txBox="1"/>
          <p:nvPr/>
        </p:nvSpPr>
        <p:spPr>
          <a:xfrm>
            <a:off x="3473450" y="3898900"/>
            <a:ext cx="1689100" cy="317500"/>
          </a:xfrm>
          <a:prstGeom prst="rect">
            <a:avLst/>
          </a:prstGeom>
          <a:noFill/>
          <a:ln/>
        </p:spPr>
        <p:txBody>
          <a:bodyPr wrap="square" lIns="0" tIns="0" rIns="0" bIns="0" rtlCol="0" anchor="ctr"/>
          <a:lstStyle/>
          <a:p>
            <a:pPr algn="ctr" indent="0" marL="0">
              <a:lnSpc>
                <a:spcPct val="115000"/>
              </a:lnSpc>
              <a:buNone/>
            </a:pPr>
            <a:r>
              <a:rPr lang="en-US" sz="1200" dirty="0">
                <a:solidFill>
                  <a:srgbClr val="2CD8DF"/>
                </a:solidFill>
                <a:latin typeface="Consolas" pitchFamily="34" charset="0"/>
                <a:ea typeface="Consolas" pitchFamily="34" charset="-122"/>
                <a:cs typeface="Consolas" pitchFamily="34" charset="-120"/>
              </a:rPr>
              <a:t>liquidation_route</a:t>
            </a:r>
            <a:endParaRPr lang="en-US" sz="1200" dirty="0"/>
          </a:p>
        </p:txBody>
      </p:sp>
      <p:sp>
        <p:nvSpPr>
          <p:cNvPr id="18" name="b3-chip3"/>
          <p:cNvSpPr/>
          <p:nvPr/>
        </p:nvSpPr>
        <p:spPr>
          <a:xfrm>
            <a:off x="5226050" y="3898900"/>
            <a:ext cx="1270000" cy="317500"/>
          </a:xfrm>
          <a:prstGeom prst="roundRect">
            <a:avLst>
              <a:gd name="adj" fmla="val 20000"/>
            </a:avLst>
          </a:prstGeom>
          <a:solidFill>
            <a:srgbClr val="8462D8">
              <a:alpha val="10000"/>
            </a:srgbClr>
          </a:solidFill>
          <a:ln w="9525">
            <a:solidFill>
              <a:srgbClr val="9469F2">
                <a:alpha val="50000"/>
              </a:srgbClr>
            </a:solidFill>
            <a:prstDash val="solid"/>
          </a:ln>
        </p:spPr>
      </p:sp>
      <p:sp>
        <p:nvSpPr>
          <p:cNvPr id="19" name="b3-t3"/>
          <p:cNvSpPr txBox="1"/>
          <p:nvPr/>
        </p:nvSpPr>
        <p:spPr>
          <a:xfrm>
            <a:off x="5226050" y="3898900"/>
            <a:ext cx="1270000" cy="317500"/>
          </a:xfrm>
          <a:prstGeom prst="rect">
            <a:avLst/>
          </a:prstGeom>
          <a:noFill/>
          <a:ln/>
        </p:spPr>
        <p:txBody>
          <a:bodyPr wrap="square" lIns="0" tIns="0" rIns="0" bIns="0" rtlCol="0" anchor="ctr"/>
          <a:lstStyle/>
          <a:p>
            <a:pPr algn="ctr" indent="0" marL="0">
              <a:lnSpc>
                <a:spcPct val="115000"/>
              </a:lnSpc>
              <a:buNone/>
            </a:pPr>
            <a:r>
              <a:rPr lang="en-US" sz="1200" dirty="0">
                <a:solidFill>
                  <a:srgbClr val="B9A4F7"/>
                </a:solidFill>
                <a:latin typeface="Consolas" pitchFamily="34" charset="0"/>
                <a:ea typeface="Consolas" pitchFamily="34" charset="-122"/>
                <a:cs typeface="Consolas" pitchFamily="34" charset="-120"/>
              </a:rPr>
              <a:t>risk_premium</a:t>
            </a:r>
            <a:endParaRPr lang="en-US" sz="1200" dirty="0"/>
          </a:p>
        </p:txBody>
      </p:sp>
      <p:sp>
        <p:nvSpPr>
          <p:cNvPr id="20" name="b3-chip4"/>
          <p:cNvSpPr/>
          <p:nvPr/>
        </p:nvSpPr>
        <p:spPr>
          <a:xfrm>
            <a:off x="6559550" y="3898900"/>
            <a:ext cx="1524000" cy="317500"/>
          </a:xfrm>
          <a:prstGeom prst="roundRect">
            <a:avLst>
              <a:gd name="adj" fmla="val 20000"/>
            </a:avLst>
          </a:prstGeom>
          <a:solidFill>
            <a:srgbClr val="8462D8">
              <a:alpha val="10000"/>
            </a:srgbClr>
          </a:solidFill>
          <a:ln w="9525">
            <a:solidFill>
              <a:srgbClr val="9469F2">
                <a:alpha val="50000"/>
              </a:srgbClr>
            </a:solidFill>
            <a:prstDash val="solid"/>
          </a:ln>
        </p:spPr>
      </p:sp>
      <p:sp>
        <p:nvSpPr>
          <p:cNvPr id="21" name="b3-t4"/>
          <p:cNvSpPr txBox="1"/>
          <p:nvPr/>
        </p:nvSpPr>
        <p:spPr>
          <a:xfrm>
            <a:off x="6559550" y="3898900"/>
            <a:ext cx="1524000" cy="317500"/>
          </a:xfrm>
          <a:prstGeom prst="rect">
            <a:avLst/>
          </a:prstGeom>
          <a:noFill/>
          <a:ln/>
        </p:spPr>
        <p:txBody>
          <a:bodyPr wrap="square" lIns="0" tIns="0" rIns="0" bIns="0" rtlCol="0" anchor="ctr"/>
          <a:lstStyle/>
          <a:p>
            <a:pPr algn="ctr" indent="0" marL="0">
              <a:lnSpc>
                <a:spcPct val="115000"/>
              </a:lnSpc>
              <a:buNone/>
            </a:pPr>
            <a:r>
              <a:rPr lang="en-US" sz="1200" dirty="0">
                <a:solidFill>
                  <a:srgbClr val="B9A4F7"/>
                </a:solidFill>
                <a:latin typeface="Consolas" pitchFamily="34" charset="0"/>
                <a:ea typeface="Consolas" pitchFamily="34" charset="-122"/>
                <a:cs typeface="Consolas" pitchFamily="34" charset="-120"/>
              </a:rPr>
              <a:t>borrow_disabled</a:t>
            </a:r>
            <a:endParaRPr lang="en-US" sz="1200" dirty="0"/>
          </a:p>
        </p:txBody>
      </p:sp>
      <p:sp>
        <p:nvSpPr>
          <p:cNvPr id="22" name="b4-next"/>
          <p:cNvSpPr txBox="1"/>
          <p:nvPr/>
        </p:nvSpPr>
        <p:spPr>
          <a:xfrm>
            <a:off x="812800" y="4445000"/>
            <a:ext cx="7493000" cy="317500"/>
          </a:xfrm>
          <a:prstGeom prst="rect">
            <a:avLst/>
          </a:prstGeom>
          <a:noFill/>
          <a:ln/>
        </p:spPr>
        <p:txBody>
          <a:bodyPr wrap="square" lIns="0" tIns="0" rIns="0" bIns="0" rtlCol="0" anchor="t"/>
          <a:lstStyle/>
          <a:p>
            <a:pPr algn="l" indent="0" marL="0">
              <a:lnSpc>
                <a:spcPct val="115000"/>
              </a:lnSpc>
              <a:buNone/>
            </a:pPr>
            <a:r>
              <a:rPr lang="en-US" sz="1600" b="1" dirty="0">
                <a:solidFill>
                  <a:srgbClr val="2CD8DF"/>
                </a:solidFill>
                <a:latin typeface="Calibri" pitchFamily="34" charset="0"/>
                <a:ea typeface="Calibri" pitchFamily="34" charset="-122"/>
                <a:cs typeface="Calibri" pitchFamily="34" charset="-120"/>
              </a:rPr>
              <a:t>NEXT →</a:t>
            </a:r>
            <a:pPr algn="l" indent="0" marL="0">
              <a:lnSpc>
                <a:spcPct val="115000"/>
              </a:lnSpc>
              <a:buNone/>
            </a:pPr>
            <a:r>
              <a:rPr lang="en-US" sz="1600" dirty="0">
                <a:solidFill>
                  <a:srgbClr val="E8F1F2"/>
                </a:solidFill>
                <a:latin typeface="Calibri" pitchFamily="34" charset="0"/>
                <a:ea typeface="Calibri" pitchFamily="34" charset="-122"/>
                <a:cs typeface="Calibri" pitchFamily="34" charset="-120"/>
              </a:rPr>
              <a:t> verifiable inputs · multi-signer posting · vault + borrow gate</a:t>
            </a:r>
            <a:endParaRPr lang="en-US" sz="1600" dirty="0"/>
          </a:p>
        </p:txBody>
      </p:sp>
      <p:sp>
        <p:nvSpPr>
          <p:cNvPr id="23" name="Text 20"/>
          <p:cNvSpPr txBox="1"/>
          <p:nvPr/>
        </p:nvSpPr>
        <p:spPr>
          <a:xfrm>
            <a:off x="812800" y="5410200"/>
            <a:ext cx="10566400" cy="254000"/>
          </a:xfrm>
          <a:prstGeom prst="rect">
            <a:avLst/>
          </a:prstGeom>
          <a:noFill/>
          <a:ln/>
        </p:spPr>
        <p:txBody>
          <a:bodyPr wrap="square" lIns="0" tIns="0" rIns="0" bIns="0" rtlCol="0" anchor="t"/>
          <a:lstStyle/>
          <a:p>
            <a:pPr algn="l" indent="0" marL="0">
              <a:lnSpc>
                <a:spcPct val="115000"/>
              </a:lnSpc>
              <a:buNone/>
            </a:pPr>
            <a:r>
              <a:rPr lang="en-US" sz="1200" dirty="0">
                <a:solidFill>
                  <a:srgbClr val="8FA3A7"/>
                </a:solidFill>
                <a:latin typeface="Calibri" pitchFamily="34" charset="0"/>
                <a:ea typeface="Calibri" pitchFamily="34" charset="-122"/>
                <a:cs typeface="Calibri" pitchFamily="34" charset="-120"/>
              </a:rPr>
              <a:t>Rust poster can re-post the ECV record on a schedule (--every-sec) · last devnet post: 26.09.2026, 19:55 (Warsaw)</a:t>
            </a:r>
            <a:endParaRPr lang="en-US" sz="1200" dirty="0"/>
          </a:p>
        </p:txBody>
      </p:sp>
      <p:sp>
        <p:nvSpPr>
          <p:cNvPr id="24" name="Text 21"/>
          <p:cNvSpPr txBox="1"/>
          <p:nvPr/>
        </p:nvSpPr>
        <p:spPr>
          <a:xfrm>
            <a:off x="812800" y="5689600"/>
            <a:ext cx="10566400" cy="254000"/>
          </a:xfrm>
          <a:prstGeom prst="rect">
            <a:avLst/>
          </a:prstGeom>
          <a:noFill/>
          <a:ln/>
        </p:spPr>
        <p:txBody>
          <a:bodyPr wrap="square" lIns="0" tIns="0" rIns="0" bIns="0" rtlCol="0" anchor="t"/>
          <a:lstStyle/>
          <a:p>
            <a:pPr algn="l" indent="0" marL="0">
              <a:lnSpc>
                <a:spcPct val="115000"/>
              </a:lnSpc>
              <a:buNone/>
            </a:pPr>
            <a:r>
              <a:rPr lang="en-US" sz="1200" dirty="0">
                <a:solidFill>
                  <a:srgbClr val="BFD3D6"/>
                </a:solidFill>
                <a:latin typeface="Calibri" pitchFamily="34" charset="0"/>
                <a:ea typeface="Calibri" pitchFamily="34" charset="-122"/>
                <a:cs typeface="Calibri" pitchFamily="34" charset="-120"/>
              </a:rPr>
              <a:t>Today: single-authority signer on devnet. Publishes ECV quotes; integrators enforce. Not mainnet.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0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childTnLst>
                          </p:cTn>
                        </p:par>
                        <p:par>
                          <p:cTn id="26" fill="hold">
                            <p:stCondLst>
                              <p:cond delay="40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childTnLst>
                          </p:cTn>
                        </p:par>
                        <p:par>
                          <p:cTn id="60" fill="hold">
                            <p:stCondLst>
                              <p:cond delay="800"/>
                            </p:stCondLst>
                            <p:childTnLst>
                              <p:par>
                                <p:cTn id="27" presetID="10"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00"/>
                                        <p:tgtEl>
                                          <p:spTgt spid="21"/>
                                        </p:tgtEl>
                                      </p:cBhvr>
                                    </p:animEffect>
                                  </p:childTnLst>
                                </p:cTn>
                              </p:par>
                            </p:childTnLst>
                          </p:cTn>
                        </p:par>
                        <p:par>
                          <p:cTn id="64" fill="hold">
                            <p:stCondLst>
                              <p:cond delay="1200"/>
                            </p:stCondLst>
                            <p:childTnLst>
                              <p:par>
                                <p:cTn id="61" presetID="10" presetClass="entr" presetSubtype="0"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87400"/>
            <a:ext cx="10566400" cy="609600"/>
          </a:xfrm>
          <a:prstGeom prst="rect">
            <a:avLst/>
          </a:prstGeom>
          <a:noFill/>
          <a:ln/>
        </p:spPr>
        <p:txBody>
          <a:bodyPr wrap="square" lIns="0" tIns="0" rIns="0" bIns="0" rtlCol="0" anchor="t"/>
          <a:lstStyle/>
          <a:p>
            <a:pPr algn="l" indent="0" marL="0">
              <a:lnSpc>
                <a:spcPct val="105000"/>
              </a:lnSpc>
              <a:buNone/>
            </a:pPr>
            <a:r>
              <a:rPr lang="en-US" sz="3600" b="1" dirty="0">
                <a:solidFill>
                  <a:srgbClr val="E8F1F2"/>
                </a:solidFill>
                <a:latin typeface="Calibri" pitchFamily="34" charset="0"/>
                <a:ea typeface="Calibri" pitchFamily="34" charset="-122"/>
                <a:cs typeface="Calibri" pitchFamily="34" charset="-120"/>
              </a:rPr>
              <a:t>Built where the collateral already trades</a:t>
            </a:r>
            <a:endParaRPr lang="en-US" sz="3600" dirty="0"/>
          </a:p>
        </p:txBody>
      </p:sp>
      <p:sp>
        <p:nvSpPr>
          <p:cNvPr id="3" name="b1-band"/>
          <p:cNvSpPr/>
          <p:nvPr/>
        </p:nvSpPr>
        <p:spPr>
          <a:xfrm>
            <a:off x="812800" y="1879600"/>
            <a:ext cx="9144000" cy="762000"/>
          </a:xfrm>
          <a:prstGeom prst="roundRect">
            <a:avLst>
              <a:gd name="adj" fmla="val 16667"/>
            </a:avLst>
          </a:prstGeom>
          <a:solidFill>
            <a:srgbClr val="0E151C">
              <a:alpha val="90000"/>
            </a:srgbClr>
          </a:solidFill>
          <a:ln w="9525">
            <a:solidFill>
              <a:srgbClr val="2CD8DF">
                <a:alpha val="28000"/>
              </a:srgbClr>
            </a:solidFill>
            <a:prstDash val="solid"/>
          </a:ln>
          <a:effectLst>
            <a:outerShdw sx="100000" sy="100000" kx="0" ky="0" algn="bl" rotWithShape="0" blurRad="304800" dist="1270" dir="16200000">
              <a:srgbClr val="2CD8DF">
                <a:alpha val="20000"/>
              </a:srgbClr>
            </a:outerShdw>
          </a:effectLst>
        </p:spPr>
      </p:sp>
      <p:sp>
        <p:nvSpPr>
          <p:cNvPr id="4" name="b1-chip"/>
          <p:cNvSpPr/>
          <p:nvPr/>
        </p:nvSpPr>
        <p:spPr>
          <a:xfrm>
            <a:off x="1016000" y="2032000"/>
            <a:ext cx="457200" cy="457200"/>
          </a:xfrm>
          <a:prstGeom prst="roundRect">
            <a:avLst>
              <a:gd name="adj" fmla="val 22222"/>
            </a:avLst>
          </a:prstGeom>
          <a:solidFill>
            <a:srgbClr val="2CD8DF">
              <a:alpha val="12000"/>
            </a:srgbClr>
          </a:solidFill>
          <a:ln/>
        </p:spPr>
      </p:sp>
      <p:pic>
        <p:nvPicPr>
          <p:cNvPr id="5" name="b1-icon" descr="Globe icon">    </p:cNvPr>
          <p:cNvPicPr>
            <a:picLocks noChangeAspect="1"/>
          </p:cNvPicPr>
          <p:nvPr/>
        </p:nvPicPr>
        <p:blipFill>
          <a:blip r:embed="rId2"/>
          <a:stretch>
            <a:fillRect/>
          </a:stretch>
        </p:blipFill>
        <p:spPr>
          <a:xfrm>
            <a:off x="1092200" y="2108200"/>
            <a:ext cx="304800" cy="304800"/>
          </a:xfrm>
          <a:prstGeom prst="rect">
            <a:avLst/>
          </a:prstGeom>
        </p:spPr>
      </p:pic>
      <p:sp>
        <p:nvSpPr>
          <p:cNvPr id="6" name="b1-txt"/>
          <p:cNvSpPr txBox="1"/>
          <p:nvPr/>
        </p:nvSpPr>
        <p:spPr>
          <a:xfrm>
            <a:off x="1676400" y="1879600"/>
            <a:ext cx="8064500" cy="762000"/>
          </a:xfrm>
          <a:prstGeom prst="rect">
            <a:avLst/>
          </a:prstGeom>
          <a:noFill/>
          <a:ln/>
        </p:spPr>
        <p:txBody>
          <a:bodyPr wrap="square" lIns="0" tIns="0" rIns="0" bIns="0" rtlCol="0" anchor="ctr"/>
          <a:lstStyle/>
          <a:p>
            <a:pPr algn="l" indent="0" marL="0">
              <a:lnSpc>
                <a:spcPct val="115000"/>
              </a:lnSpc>
              <a:buNone/>
            </a:pPr>
            <a:r>
              <a:rPr lang="en-US" sz="1600" dirty="0">
                <a:solidFill>
                  <a:srgbClr val="E8F1F2"/>
                </a:solidFill>
                <a:latin typeface="Calibri" pitchFamily="34" charset="0"/>
                <a:ea typeface="Calibri" pitchFamily="34" charset="-122"/>
                <a:cs typeface="Calibri" pitchFamily="34" charset="-120"/>
              </a:rPr>
              <a:t>xStocks venues — where the collateral already trades</a:t>
            </a:r>
            <a:endParaRPr lang="en-US" sz="1600" dirty="0"/>
          </a:p>
        </p:txBody>
      </p:sp>
      <p:sp>
        <p:nvSpPr>
          <p:cNvPr id="7" name="b2-conn"/>
          <p:cNvSpPr/>
          <p:nvPr/>
        </p:nvSpPr>
        <p:spPr>
          <a:xfrm>
            <a:off x="1244600" y="2654300"/>
            <a:ext cx="0" cy="368300"/>
          </a:xfrm>
          <a:prstGeom prst="line">
            <a:avLst/>
          </a:prstGeom>
          <a:noFill/>
          <a:ln w="25400">
            <a:solidFill>
              <a:srgbClr val="2CD8DF"/>
            </a:solidFill>
            <a:prstDash val="solid"/>
            <a:tailEnd type="triangle"/>
          </a:ln>
        </p:spPr>
      </p:sp>
      <p:sp>
        <p:nvSpPr>
          <p:cNvPr id="8" name="b3-band"/>
          <p:cNvSpPr/>
          <p:nvPr/>
        </p:nvSpPr>
        <p:spPr>
          <a:xfrm>
            <a:off x="812800" y="3048000"/>
            <a:ext cx="9144000" cy="952500"/>
          </a:xfrm>
          <a:prstGeom prst="roundRect">
            <a:avLst>
              <a:gd name="adj" fmla="val 13333"/>
            </a:avLst>
          </a:prstGeom>
          <a:solidFill>
            <a:srgbClr val="0E151C">
              <a:alpha val="90000"/>
            </a:srgbClr>
          </a:solidFill>
          <a:ln w="9525">
            <a:solidFill>
              <a:srgbClr val="9469F2">
                <a:alpha val="32000"/>
              </a:srgbClr>
            </a:solidFill>
            <a:prstDash val="solid"/>
          </a:ln>
          <a:effectLst>
            <a:outerShdw sx="100000" sy="100000" kx="0" ky="0" algn="bl" rotWithShape="0" blurRad="304800" dist="1270" dir="16200000">
              <a:srgbClr val="9469F2">
                <a:alpha val="20000"/>
              </a:srgbClr>
            </a:outerShdw>
          </a:effectLst>
        </p:spPr>
      </p:sp>
      <p:sp>
        <p:nvSpPr>
          <p:cNvPr id="9" name="b3-chip"/>
          <p:cNvSpPr/>
          <p:nvPr/>
        </p:nvSpPr>
        <p:spPr>
          <a:xfrm>
            <a:off x="1016000" y="3295650"/>
            <a:ext cx="457200" cy="457200"/>
          </a:xfrm>
          <a:prstGeom prst="roundRect">
            <a:avLst>
              <a:gd name="adj" fmla="val 22222"/>
            </a:avLst>
          </a:prstGeom>
          <a:solidFill>
            <a:srgbClr val="8462D8">
              <a:alpha val="16000"/>
            </a:srgbClr>
          </a:solidFill>
          <a:ln/>
        </p:spPr>
      </p:sp>
      <p:pic>
        <p:nvPicPr>
          <p:cNvPr id="10" name="b3-icon" descr="Link icon">    </p:cNvPr>
          <p:cNvPicPr>
            <a:picLocks noChangeAspect="1"/>
          </p:cNvPicPr>
          <p:nvPr/>
        </p:nvPicPr>
        <p:blipFill>
          <a:blip r:embed="rId3"/>
          <a:stretch>
            <a:fillRect/>
          </a:stretch>
        </p:blipFill>
        <p:spPr>
          <a:xfrm>
            <a:off x="1092200" y="3371850"/>
            <a:ext cx="304800" cy="304800"/>
          </a:xfrm>
          <a:prstGeom prst="rect">
            <a:avLst/>
          </a:prstGeom>
        </p:spPr>
      </p:pic>
      <p:sp>
        <p:nvSpPr>
          <p:cNvPr id="11" name="b3-txt"/>
          <p:cNvSpPr txBox="1"/>
          <p:nvPr/>
        </p:nvSpPr>
        <p:spPr>
          <a:xfrm>
            <a:off x="1676400" y="3225800"/>
            <a:ext cx="8064500" cy="292100"/>
          </a:xfrm>
          <a:prstGeom prst="rect">
            <a:avLst/>
          </a:prstGeom>
          <a:noFill/>
          <a:ln/>
        </p:spPr>
        <p:txBody>
          <a:bodyPr wrap="square" lIns="0" tIns="0" rIns="0" bIns="0" rtlCol="0" anchor="t"/>
          <a:lstStyle/>
          <a:p>
            <a:pPr algn="l" indent="0" marL="0">
              <a:lnSpc>
                <a:spcPct val="115000"/>
              </a:lnSpc>
              <a:buNone/>
            </a:pPr>
            <a:r>
              <a:rPr lang="en-US" sz="1600" dirty="0">
                <a:solidFill>
                  <a:srgbClr val="E8F1F2"/>
                </a:solidFill>
                <a:latin typeface="Calibri" pitchFamily="34" charset="0"/>
                <a:ea typeface="Calibri" pitchFamily="34" charset="-122"/>
                <a:cs typeface="Calibri" pitchFamily="34" charset="-120"/>
              </a:rPr>
              <a:t>Jupiter routes = the liquidation path ECV quotes</a:t>
            </a:r>
            <a:endParaRPr lang="en-US" sz="1600" dirty="0"/>
          </a:p>
        </p:txBody>
      </p:sp>
      <p:sp>
        <p:nvSpPr>
          <p:cNvPr id="12" name="b3-sub"/>
          <p:cNvSpPr txBox="1"/>
          <p:nvPr/>
        </p:nvSpPr>
        <p:spPr>
          <a:xfrm>
            <a:off x="1676400" y="3568700"/>
            <a:ext cx="8064500" cy="254000"/>
          </a:xfrm>
          <a:prstGeom prst="rect">
            <a:avLst/>
          </a:prstGeom>
          <a:noFill/>
          <a:ln/>
        </p:spPr>
        <p:txBody>
          <a:bodyPr wrap="square" lIns="0" tIns="0" rIns="0" bIns="0" rtlCol="0" anchor="t"/>
          <a:lstStyle/>
          <a:p>
            <a:pPr algn="l" indent="0" marL="0">
              <a:lnSpc>
                <a:spcPct val="115000"/>
              </a:lnSpc>
              <a:buNone/>
            </a:pPr>
            <a:r>
              <a:rPr lang="en-US" sz="1200" dirty="0">
                <a:solidFill>
                  <a:srgbClr val="8FA3A7"/>
                </a:solidFill>
                <a:latin typeface="Calibri" pitchFamily="34" charset="0"/>
                <a:ea typeface="Calibri" pitchFamily="34" charset="-122"/>
                <a:cs typeface="Calibri" pitchFamily="34" charset="-120"/>
              </a:rPr>
              <a:t>(demo: Jupiter quote ladder measured 16:17 + Kamino snapshot 13:50, stress sandbox)</a:t>
            </a:r>
            <a:endParaRPr lang="en-US" sz="1200" dirty="0"/>
          </a:p>
        </p:txBody>
      </p:sp>
      <p:sp>
        <p:nvSpPr>
          <p:cNvPr id="13" name="b4-conn"/>
          <p:cNvSpPr/>
          <p:nvPr/>
        </p:nvSpPr>
        <p:spPr>
          <a:xfrm>
            <a:off x="1244600" y="4013200"/>
            <a:ext cx="0" cy="368300"/>
          </a:xfrm>
          <a:prstGeom prst="line">
            <a:avLst/>
          </a:prstGeom>
          <a:noFill/>
          <a:ln w="25400">
            <a:solidFill>
              <a:srgbClr val="A58BF5"/>
            </a:solidFill>
            <a:prstDash val="solid"/>
            <a:tailEnd type="triangle"/>
          </a:ln>
        </p:spPr>
      </p:sp>
      <p:sp>
        <p:nvSpPr>
          <p:cNvPr id="14" name="b5-band"/>
          <p:cNvSpPr/>
          <p:nvPr/>
        </p:nvSpPr>
        <p:spPr>
          <a:xfrm>
            <a:off x="812800" y="4406900"/>
            <a:ext cx="9144000" cy="762000"/>
          </a:xfrm>
          <a:prstGeom prst="roundRect">
            <a:avLst>
              <a:gd name="adj" fmla="val 16667"/>
            </a:avLst>
          </a:prstGeom>
          <a:solidFill>
            <a:srgbClr val="2CD8DF">
              <a:alpha val="12000"/>
            </a:srgbClr>
          </a:solidFill>
          <a:ln w="9525">
            <a:solidFill>
              <a:srgbClr val="2CD8DF">
                <a:alpha val="45000"/>
              </a:srgbClr>
            </a:solidFill>
            <a:prstDash val="solid"/>
          </a:ln>
          <a:effectLst>
            <a:outerShdw sx="100000" sy="100000" kx="0" ky="0" algn="bl" rotWithShape="0" blurRad="304800" dist="1270" dir="16200000">
              <a:srgbClr val="2CD8DF">
                <a:alpha val="20000"/>
              </a:srgbClr>
            </a:outerShdw>
          </a:effectLst>
        </p:spPr>
      </p:sp>
      <p:sp>
        <p:nvSpPr>
          <p:cNvPr id="15" name="b5-chip"/>
          <p:cNvSpPr/>
          <p:nvPr/>
        </p:nvSpPr>
        <p:spPr>
          <a:xfrm>
            <a:off x="1016000" y="4559300"/>
            <a:ext cx="457200" cy="457200"/>
          </a:xfrm>
          <a:prstGeom prst="roundRect">
            <a:avLst>
              <a:gd name="adj" fmla="val 22222"/>
            </a:avLst>
          </a:prstGeom>
          <a:solidFill>
            <a:srgbClr val="0B0E14">
              <a:alpha val="80000"/>
            </a:srgbClr>
          </a:solidFill>
          <a:ln/>
        </p:spPr>
      </p:sp>
      <p:pic>
        <p:nvPicPr>
          <p:cNvPr id="16" name="b5-icon" descr="Shield icon">    </p:cNvPr>
          <p:cNvPicPr>
            <a:picLocks noChangeAspect="1"/>
          </p:cNvPicPr>
          <p:nvPr/>
        </p:nvPicPr>
        <p:blipFill>
          <a:blip r:embed="rId4"/>
          <a:stretch>
            <a:fillRect/>
          </a:stretch>
        </p:blipFill>
        <p:spPr>
          <a:xfrm>
            <a:off x="1092200" y="4635500"/>
            <a:ext cx="304800" cy="304800"/>
          </a:xfrm>
          <a:prstGeom prst="rect">
            <a:avLst/>
          </a:prstGeom>
        </p:spPr>
      </p:pic>
      <p:sp>
        <p:nvSpPr>
          <p:cNvPr id="17" name="b5-txt"/>
          <p:cNvSpPr txBox="1"/>
          <p:nvPr/>
        </p:nvSpPr>
        <p:spPr>
          <a:xfrm>
            <a:off x="1676400" y="4406900"/>
            <a:ext cx="8064500" cy="762000"/>
          </a:xfrm>
          <a:prstGeom prst="rect">
            <a:avLst/>
          </a:prstGeom>
          <a:noFill/>
          <a:ln/>
        </p:spPr>
        <p:txBody>
          <a:bodyPr wrap="square" lIns="0" tIns="0" rIns="0" bIns="0" rtlCol="0" anchor="ctr"/>
          <a:lstStyle/>
          <a:p>
            <a:pPr algn="l" indent="0" marL="0">
              <a:lnSpc>
                <a:spcPct val="115000"/>
              </a:lnSpc>
              <a:buNone/>
            </a:pPr>
            <a:r>
              <a:rPr lang="en-US" sz="1600" b="1" dirty="0">
                <a:solidFill>
                  <a:srgbClr val="E8F1F2"/>
                </a:solidFill>
                <a:latin typeface="Calibri" pitchFamily="34" charset="0"/>
                <a:ea typeface="Calibri" pitchFamily="34" charset="-122"/>
                <a:cs typeface="Calibri" pitchFamily="34" charset="-120"/>
              </a:rPr>
              <a:t>Composable ECV risk quotes for those venues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0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0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childTnLst>
                          </p:cTn>
                        </p:par>
                        <p:par>
                          <p:cTn id="20" fill="hold">
                            <p:stCondLst>
                              <p:cond delay="4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childTnLst>
                          </p:cTn>
                        </p:par>
                        <p:par>
                          <p:cTn id="36"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00"/>
                                        <p:tgtEl>
                                          <p:spTgt spid="12"/>
                                        </p:tgtEl>
                                      </p:cBhvr>
                                    </p:animEffect>
                                  </p:childTnLst>
                                </p:cTn>
                              </p:par>
                            </p:childTnLst>
                          </p:cTn>
                        </p:par>
                        <p:par>
                          <p:cTn id="40" fill="hold">
                            <p:stCondLst>
                              <p:cond delay="1200"/>
                            </p:stCondLst>
                            <p:childTnLst>
                              <p:par>
                                <p:cTn id="37" presetID="10"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childTnLst>
                          </p:cTn>
                        </p:par>
                        <p:par>
                          <p:cTn id="53" fill="hold">
                            <p:stCondLst>
                              <p:cond delay="1600"/>
                            </p:stCondLst>
                            <p:childTnLst>
                              <p:par>
                                <p:cTn id="41" presetID="10"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P spid="9" grpId="0"/>
      <p:bldP spid="11" grpId="0"/>
      <p:bldP spid="12" grpId="0"/>
      <p:bldP spid="13" grpId="0"/>
      <p:bldP spid="14" grpId="0"/>
      <p:bldP spid="15"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87400"/>
            <a:ext cx="10566400" cy="609600"/>
          </a:xfrm>
          <a:prstGeom prst="rect">
            <a:avLst/>
          </a:prstGeom>
          <a:noFill/>
          <a:ln/>
        </p:spPr>
        <p:txBody>
          <a:bodyPr wrap="square" lIns="0" tIns="0" rIns="0" bIns="0" rtlCol="0" anchor="t"/>
          <a:lstStyle/>
          <a:p>
            <a:pPr algn="l" indent="0" marL="0">
              <a:lnSpc>
                <a:spcPct val="105000"/>
              </a:lnSpc>
              <a:buNone/>
            </a:pPr>
            <a:r>
              <a:rPr lang="en-US" sz="3600" b="1" dirty="0">
                <a:solidFill>
                  <a:srgbClr val="E8F1F2"/>
                </a:solidFill>
                <a:latin typeface="Calibri" pitchFamily="34" charset="0"/>
                <a:ea typeface="Calibri" pitchFamily="34" charset="-122"/>
                <a:cs typeface="Calibri" pitchFamily="34" charset="-120"/>
              </a:rPr>
              <a:t>Monetization — </a:t>
            </a:r>
            <a:pPr algn="l" indent="0" marL="0">
              <a:lnSpc>
                <a:spcPct val="105000"/>
              </a:lnSpc>
              <a:buNone/>
            </a:pPr>
            <a:r>
              <a:rPr lang="en-US" sz="3600" b="1" dirty="0">
                <a:solidFill>
                  <a:srgbClr val="A58BF5"/>
                </a:solidFill>
                <a:latin typeface="Calibri" pitchFamily="34" charset="0"/>
                <a:ea typeface="Calibri" pitchFamily="34" charset="-122"/>
                <a:cs typeface="Calibri" pitchFamily="34" charset="-120"/>
              </a:rPr>
              <a:t>hypothesis, not ARR</a:t>
            </a:r>
            <a:endParaRPr lang="en-US" sz="3600" dirty="0"/>
          </a:p>
        </p:txBody>
      </p:sp>
      <p:sp>
        <p:nvSpPr>
          <p:cNvPr id="3" name="b1-card"/>
          <p:cNvSpPr/>
          <p:nvPr/>
        </p:nvSpPr>
        <p:spPr>
          <a:xfrm>
            <a:off x="812800" y="2032000"/>
            <a:ext cx="3352800" cy="2286000"/>
          </a:xfrm>
          <a:prstGeom prst="roundRect">
            <a:avLst>
              <a:gd name="adj" fmla="val 6667"/>
            </a:avLst>
          </a:prstGeom>
          <a:solidFill>
            <a:srgbClr val="0E151C">
              <a:alpha val="90000"/>
            </a:srgbClr>
          </a:solidFill>
          <a:ln w="9525">
            <a:solidFill>
              <a:srgbClr val="2CD8DF">
                <a:alpha val="30000"/>
              </a:srgbClr>
            </a:solidFill>
            <a:prstDash val="solid"/>
          </a:ln>
          <a:effectLst>
            <a:outerShdw sx="100000" sy="100000" kx="0" ky="0" algn="bl" rotWithShape="0" blurRad="355600" dist="1270" dir="16200000">
              <a:srgbClr val="2CD8DF">
                <a:alpha val="30000"/>
              </a:srgbClr>
            </a:outerShdw>
          </a:effectLst>
        </p:spPr>
      </p:sp>
      <p:sp>
        <p:nvSpPr>
          <p:cNvPr id="4" name="b1-chip"/>
          <p:cNvSpPr/>
          <p:nvPr/>
        </p:nvSpPr>
        <p:spPr>
          <a:xfrm>
            <a:off x="1092200" y="2311400"/>
            <a:ext cx="457200" cy="457200"/>
          </a:xfrm>
          <a:prstGeom prst="roundRect">
            <a:avLst>
              <a:gd name="adj" fmla="val 22222"/>
            </a:avLst>
          </a:prstGeom>
          <a:solidFill>
            <a:srgbClr val="2CD8DF">
              <a:alpha val="12000"/>
            </a:srgbClr>
          </a:solidFill>
          <a:ln/>
        </p:spPr>
      </p:sp>
      <p:pic>
        <p:nvPicPr>
          <p:cNvPr id="5" name="b1-icon" descr="Code icon">    </p:cNvPr>
          <p:cNvPicPr>
            <a:picLocks noChangeAspect="1"/>
          </p:cNvPicPr>
          <p:nvPr/>
        </p:nvPicPr>
        <p:blipFill>
          <a:blip r:embed="rId2"/>
          <a:stretch>
            <a:fillRect/>
          </a:stretch>
        </p:blipFill>
        <p:spPr>
          <a:xfrm>
            <a:off x="1168400" y="2387600"/>
            <a:ext cx="304800" cy="304800"/>
          </a:xfrm>
          <a:prstGeom prst="rect">
            <a:avLst/>
          </a:prstGeom>
        </p:spPr>
      </p:pic>
      <p:sp>
        <p:nvSpPr>
          <p:cNvPr id="6" name="b1-t"/>
          <p:cNvSpPr txBox="1"/>
          <p:nvPr/>
        </p:nvSpPr>
        <p:spPr>
          <a:xfrm>
            <a:off x="1092200" y="2946400"/>
            <a:ext cx="2794000" cy="381000"/>
          </a:xfrm>
          <a:prstGeom prst="rect">
            <a:avLst/>
          </a:prstGeom>
          <a:noFill/>
          <a:ln/>
        </p:spPr>
        <p:txBody>
          <a:bodyPr wrap="square" lIns="0" tIns="0" rIns="0" bIns="0" rtlCol="0" anchor="t"/>
          <a:lstStyle/>
          <a:p>
            <a:pPr algn="l" indent="0" marL="0">
              <a:lnSpc>
                <a:spcPct val="110000"/>
              </a:lnSpc>
              <a:buNone/>
            </a:pPr>
            <a:r>
              <a:rPr lang="en-US" sz="2200" b="1" dirty="0">
                <a:solidFill>
                  <a:srgbClr val="E8F1F2"/>
                </a:solidFill>
                <a:latin typeface="Calibri" pitchFamily="34" charset="0"/>
                <a:ea typeface="Calibri" pitchFamily="34" charset="-122"/>
                <a:cs typeface="Calibri" pitchFamily="34" charset="-120"/>
              </a:rPr>
              <a:t>Risk API / SDK</a:t>
            </a:r>
            <a:endParaRPr lang="en-US" sz="2200" dirty="0"/>
          </a:p>
        </p:txBody>
      </p:sp>
      <p:sp>
        <p:nvSpPr>
          <p:cNvPr id="7" name="b1-d"/>
          <p:cNvSpPr txBox="1"/>
          <p:nvPr/>
        </p:nvSpPr>
        <p:spPr>
          <a:xfrm>
            <a:off x="1092200" y="3429000"/>
            <a:ext cx="2794000" cy="635000"/>
          </a:xfrm>
          <a:prstGeom prst="rect">
            <a:avLst/>
          </a:prstGeom>
          <a:noFill/>
          <a:ln/>
        </p:spPr>
        <p:txBody>
          <a:bodyPr wrap="square" lIns="0" tIns="0" rIns="0" bIns="0" rtlCol="0" anchor="t"/>
          <a:lstStyle/>
          <a:p>
            <a:pPr algn="l" indent="0" marL="0">
              <a:lnSpc>
                <a:spcPct val="125000"/>
              </a:lnSpc>
              <a:buNone/>
            </a:pPr>
            <a:r>
              <a:rPr lang="en-US" sz="1600" dirty="0">
                <a:solidFill>
                  <a:srgbClr val="8FA3A7"/>
                </a:solidFill>
                <a:latin typeface="Calibri" pitchFamily="34" charset="0"/>
                <a:ea typeface="Calibri" pitchFamily="34" charset="-122"/>
                <a:cs typeface="Calibri" pitchFamily="34" charset="-120"/>
              </a:rPr>
              <a:t>ECV quotes &amp; breakers for lending venues</a:t>
            </a:r>
            <a:endParaRPr lang="en-US" sz="1600" dirty="0"/>
          </a:p>
        </p:txBody>
      </p:sp>
      <p:sp>
        <p:nvSpPr>
          <p:cNvPr id="8" name="b2-card"/>
          <p:cNvSpPr/>
          <p:nvPr/>
        </p:nvSpPr>
        <p:spPr>
          <a:xfrm>
            <a:off x="4419600" y="2032000"/>
            <a:ext cx="3352800" cy="2286000"/>
          </a:xfrm>
          <a:prstGeom prst="roundRect">
            <a:avLst>
              <a:gd name="adj" fmla="val 6667"/>
            </a:avLst>
          </a:prstGeom>
          <a:solidFill>
            <a:srgbClr val="0E151C">
              <a:alpha val="90000"/>
            </a:srgbClr>
          </a:solidFill>
          <a:ln w="9525">
            <a:solidFill>
              <a:srgbClr val="9469F2">
                <a:alpha val="30000"/>
              </a:srgbClr>
            </a:solidFill>
            <a:prstDash val="solid"/>
          </a:ln>
          <a:effectLst>
            <a:outerShdw sx="100000" sy="100000" kx="0" ky="0" algn="bl" rotWithShape="0" blurRad="355600" dist="1270" dir="16200000">
              <a:srgbClr val="9469F2">
                <a:alpha val="30000"/>
              </a:srgbClr>
            </a:outerShdw>
          </a:effectLst>
        </p:spPr>
      </p:sp>
      <p:sp>
        <p:nvSpPr>
          <p:cNvPr id="9" name="b2-chip"/>
          <p:cNvSpPr/>
          <p:nvPr/>
        </p:nvSpPr>
        <p:spPr>
          <a:xfrm>
            <a:off x="4699000" y="2311400"/>
            <a:ext cx="457200" cy="457200"/>
          </a:xfrm>
          <a:prstGeom prst="roundRect">
            <a:avLst>
              <a:gd name="adj" fmla="val 22222"/>
            </a:avLst>
          </a:prstGeom>
          <a:solidFill>
            <a:srgbClr val="8462D8">
              <a:alpha val="16000"/>
            </a:srgbClr>
          </a:solidFill>
          <a:ln/>
        </p:spPr>
      </p:sp>
      <p:pic>
        <p:nvPicPr>
          <p:cNvPr id="10" name="b2-icon" descr="Chart icon">    </p:cNvPr>
          <p:cNvPicPr>
            <a:picLocks noChangeAspect="1"/>
          </p:cNvPicPr>
          <p:nvPr/>
        </p:nvPicPr>
        <p:blipFill>
          <a:blip r:embed="rId3"/>
          <a:stretch>
            <a:fillRect/>
          </a:stretch>
        </p:blipFill>
        <p:spPr>
          <a:xfrm>
            <a:off x="4775200" y="2387600"/>
            <a:ext cx="304800" cy="304800"/>
          </a:xfrm>
          <a:prstGeom prst="rect">
            <a:avLst/>
          </a:prstGeom>
        </p:spPr>
      </p:pic>
      <p:sp>
        <p:nvSpPr>
          <p:cNvPr id="11" name="b2-t"/>
          <p:cNvSpPr txBox="1"/>
          <p:nvPr/>
        </p:nvSpPr>
        <p:spPr>
          <a:xfrm>
            <a:off x="4699000" y="2946400"/>
            <a:ext cx="2794000" cy="381000"/>
          </a:xfrm>
          <a:prstGeom prst="rect">
            <a:avLst/>
          </a:prstGeom>
          <a:noFill/>
          <a:ln/>
        </p:spPr>
        <p:txBody>
          <a:bodyPr wrap="square" lIns="0" tIns="0" rIns="0" bIns="0" rtlCol="0" anchor="t"/>
          <a:lstStyle/>
          <a:p>
            <a:pPr algn="l" indent="0" marL="0">
              <a:lnSpc>
                <a:spcPct val="110000"/>
              </a:lnSpc>
              <a:buNone/>
            </a:pPr>
            <a:r>
              <a:rPr lang="en-US" sz="2200" b="1" dirty="0">
                <a:solidFill>
                  <a:srgbClr val="E8F1F2"/>
                </a:solidFill>
                <a:latin typeface="Calibri" pitchFamily="34" charset="0"/>
                <a:ea typeface="Calibri" pitchFamily="34" charset="-122"/>
                <a:cs typeface="Calibri" pitchFamily="34" charset="-120"/>
              </a:rPr>
              <a:t>Share of risk premium</a:t>
            </a:r>
            <a:endParaRPr lang="en-US" sz="2200" dirty="0"/>
          </a:p>
        </p:txBody>
      </p:sp>
      <p:sp>
        <p:nvSpPr>
          <p:cNvPr id="12" name="b2-d"/>
          <p:cNvSpPr txBox="1"/>
          <p:nvPr/>
        </p:nvSpPr>
        <p:spPr>
          <a:xfrm>
            <a:off x="4699000" y="3429000"/>
            <a:ext cx="2794000" cy="635000"/>
          </a:xfrm>
          <a:prstGeom prst="rect">
            <a:avLst/>
          </a:prstGeom>
          <a:noFill/>
          <a:ln/>
        </p:spPr>
        <p:txBody>
          <a:bodyPr wrap="square" lIns="0" tIns="0" rIns="0" bIns="0" rtlCol="0" anchor="t"/>
          <a:lstStyle/>
          <a:p>
            <a:pPr algn="l" indent="0" marL="0">
              <a:lnSpc>
                <a:spcPct val="125000"/>
              </a:lnSpc>
              <a:buNone/>
            </a:pPr>
            <a:r>
              <a:rPr lang="en-US" sz="1600" dirty="0">
                <a:solidFill>
                  <a:srgbClr val="8FA3A7"/>
                </a:solidFill>
                <a:latin typeface="Calibri" pitchFamily="34" charset="0"/>
                <a:ea typeface="Calibri" pitchFamily="34" charset="-122"/>
                <a:cs typeface="Calibri" pitchFamily="34" charset="-120"/>
              </a:rPr>
              <a:t>When ECV sits in the borrow path</a:t>
            </a:r>
            <a:endParaRPr lang="en-US" sz="1600" dirty="0"/>
          </a:p>
        </p:txBody>
      </p:sp>
      <p:sp>
        <p:nvSpPr>
          <p:cNvPr id="13" name="b3-card"/>
          <p:cNvSpPr/>
          <p:nvPr/>
        </p:nvSpPr>
        <p:spPr>
          <a:xfrm>
            <a:off x="8026400" y="2032000"/>
            <a:ext cx="3352800" cy="2286000"/>
          </a:xfrm>
          <a:prstGeom prst="roundRect">
            <a:avLst>
              <a:gd name="adj" fmla="val 6667"/>
            </a:avLst>
          </a:prstGeom>
          <a:solidFill>
            <a:srgbClr val="0E151C">
              <a:alpha val="90000"/>
            </a:srgbClr>
          </a:solidFill>
          <a:ln w="9525">
            <a:solidFill>
              <a:srgbClr val="FFFFFF">
                <a:alpha val="12000"/>
              </a:srgbClr>
            </a:solidFill>
            <a:prstDash val="solid"/>
          </a:ln>
        </p:spPr>
      </p:sp>
      <p:sp>
        <p:nvSpPr>
          <p:cNvPr id="14" name="b3-chip"/>
          <p:cNvSpPr/>
          <p:nvPr/>
        </p:nvSpPr>
        <p:spPr>
          <a:xfrm>
            <a:off x="8305800" y="2311400"/>
            <a:ext cx="457200" cy="457200"/>
          </a:xfrm>
          <a:prstGeom prst="roundRect">
            <a:avLst>
              <a:gd name="adj" fmla="val 22222"/>
            </a:avLst>
          </a:prstGeom>
          <a:solidFill>
            <a:srgbClr val="E8F1F2">
              <a:alpha val="8000"/>
            </a:srgbClr>
          </a:solidFill>
          <a:ln/>
        </p:spPr>
      </p:sp>
      <p:pic>
        <p:nvPicPr>
          <p:cNvPr id="15" name="b3-icon" descr="Lock icon">    </p:cNvPr>
          <p:cNvPicPr>
            <a:picLocks noChangeAspect="1"/>
          </p:cNvPicPr>
          <p:nvPr/>
        </p:nvPicPr>
        <p:blipFill>
          <a:blip r:embed="rId4"/>
          <a:stretch>
            <a:fillRect/>
          </a:stretch>
        </p:blipFill>
        <p:spPr>
          <a:xfrm>
            <a:off x="8382000" y="2387600"/>
            <a:ext cx="304800" cy="304800"/>
          </a:xfrm>
          <a:prstGeom prst="rect">
            <a:avLst/>
          </a:prstGeom>
        </p:spPr>
      </p:pic>
      <p:sp>
        <p:nvSpPr>
          <p:cNvPr id="16" name="b3-t"/>
          <p:cNvSpPr txBox="1"/>
          <p:nvPr/>
        </p:nvSpPr>
        <p:spPr>
          <a:xfrm>
            <a:off x="8305800" y="2946400"/>
            <a:ext cx="2794000" cy="381000"/>
          </a:xfrm>
          <a:prstGeom prst="rect">
            <a:avLst/>
          </a:prstGeom>
          <a:noFill/>
          <a:ln/>
        </p:spPr>
        <p:txBody>
          <a:bodyPr wrap="square" lIns="0" tIns="0" rIns="0" bIns="0" rtlCol="0" anchor="t"/>
          <a:lstStyle/>
          <a:p>
            <a:pPr algn="l" indent="0" marL="0">
              <a:lnSpc>
                <a:spcPct val="110000"/>
              </a:lnSpc>
              <a:buNone/>
            </a:pPr>
            <a:r>
              <a:rPr lang="en-US" sz="2200" b="1" dirty="0">
                <a:solidFill>
                  <a:srgbClr val="E8F1F2"/>
                </a:solidFill>
                <a:latin typeface="Calibri" pitchFamily="34" charset="0"/>
                <a:ea typeface="Calibri" pitchFamily="34" charset="-122"/>
                <a:cs typeface="Calibri" pitchFamily="34" charset="-120"/>
              </a:rPr>
              <a:t>Optional vault fees</a:t>
            </a:r>
            <a:endParaRPr lang="en-US" sz="2200" dirty="0"/>
          </a:p>
        </p:txBody>
      </p:sp>
      <p:sp>
        <p:nvSpPr>
          <p:cNvPr id="17" name="b3-d"/>
          <p:cNvSpPr txBox="1"/>
          <p:nvPr/>
        </p:nvSpPr>
        <p:spPr>
          <a:xfrm>
            <a:off x="8305800" y="3429000"/>
            <a:ext cx="2794000" cy="635000"/>
          </a:xfrm>
          <a:prstGeom prst="rect">
            <a:avLst/>
          </a:prstGeom>
          <a:noFill/>
          <a:ln/>
        </p:spPr>
        <p:txBody>
          <a:bodyPr wrap="square" lIns="0" tIns="0" rIns="0" bIns="0" rtlCol="0" anchor="t"/>
          <a:lstStyle/>
          <a:p>
            <a:pPr algn="l" indent="0" marL="0">
              <a:lnSpc>
                <a:spcPct val="125000"/>
              </a:lnSpc>
              <a:buNone/>
            </a:pPr>
            <a:r>
              <a:rPr lang="en-US" sz="1600" dirty="0">
                <a:solidFill>
                  <a:srgbClr val="8FA3A7"/>
                </a:solidFill>
                <a:latin typeface="Calibri" pitchFamily="34" charset="0"/>
                <a:ea typeface="Calibri" pitchFamily="34" charset="-122"/>
                <a:cs typeface="Calibri" pitchFamily="34" charset="-120"/>
              </a:rPr>
              <a:t>If we operate a reference vault</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9"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0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0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par>
                          <p:cTn id="35" fill="hold">
                            <p:stCondLst>
                              <p:cond delay="4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childTnLst>
                          </p:cTn>
                        </p:par>
                        <p:par>
                          <p:cTn id="51" fill="hold">
                            <p:stCondLst>
                              <p:cond delay="800"/>
                            </p:stCondLst>
                            <p:childTnLst>
                              <p:par>
                                <p:cTn id="36" presetID="10" presetClass="entr" presetSubtype="0"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P spid="9" grpId="0"/>
      <p:bldP spid="11" grpId="0"/>
      <p:bldP spid="12" grpId="0"/>
      <p:bldP spid="13" grpId="0"/>
      <p:bldP spid="14"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800" y="787400"/>
            <a:ext cx="5715000" cy="609600"/>
          </a:xfrm>
          <a:prstGeom prst="rect">
            <a:avLst/>
          </a:prstGeom>
          <a:noFill/>
          <a:ln/>
        </p:spPr>
        <p:txBody>
          <a:bodyPr wrap="square" lIns="0" tIns="0" rIns="0" bIns="0" rtlCol="0" anchor="t"/>
          <a:lstStyle/>
          <a:p>
            <a:pPr algn="l" indent="0" marL="0">
              <a:lnSpc>
                <a:spcPct val="105000"/>
              </a:lnSpc>
              <a:buNone/>
            </a:pPr>
            <a:r>
              <a:rPr lang="en-US" sz="3600" b="1" dirty="0">
                <a:solidFill>
                  <a:srgbClr val="E8F1F2"/>
                </a:solidFill>
                <a:latin typeface="Calibri" pitchFamily="34" charset="0"/>
                <a:ea typeface="Calibri" pitchFamily="34" charset="-122"/>
                <a:cs typeface="Calibri" pitchFamily="34" charset="-120"/>
              </a:rPr>
              <a:t>Team</a:t>
            </a:r>
            <a:endParaRPr lang="en-US" sz="3600" dirty="0"/>
          </a:p>
        </p:txBody>
      </p:sp>
      <p:pic>
        <p:nvPicPr>
          <p:cNvPr id="3" name="b1-img" descr="Dorian Żaczek">    </p:cNvPr>
          <p:cNvPicPr>
            <a:picLocks noChangeAspect="1"/>
          </p:cNvPicPr>
          <p:nvPr/>
        </p:nvPicPr>
        <p:blipFill>
          <a:blip r:embed="rId2"/>
          <a:stretch>
            <a:fillRect/>
          </a:stretch>
        </p:blipFill>
        <p:spPr>
          <a:xfrm>
            <a:off x="1339850" y="1727200"/>
            <a:ext cx="1397000" cy="1397000"/>
          </a:xfrm>
          <a:prstGeom prst="rect">
            <a:avLst/>
          </a:prstGeom>
        </p:spPr>
      </p:pic>
      <p:sp>
        <p:nvSpPr>
          <p:cNvPr id="4" name="b1-n"/>
          <p:cNvSpPr txBox="1"/>
          <p:nvPr/>
        </p:nvSpPr>
        <p:spPr>
          <a:xfrm>
            <a:off x="812800" y="3225800"/>
            <a:ext cx="2451100" cy="279400"/>
          </a:xfrm>
          <a:prstGeom prst="rect">
            <a:avLst/>
          </a:prstGeom>
          <a:noFill/>
          <a:ln/>
        </p:spPr>
        <p:txBody>
          <a:bodyPr wrap="square" lIns="0" tIns="0" rIns="0" bIns="0" rtlCol="0" anchor="t"/>
          <a:lstStyle/>
          <a:p>
            <a:pPr algn="ctr" indent="0" marL="0">
              <a:lnSpc>
                <a:spcPct val="115000"/>
              </a:lnSpc>
              <a:buNone/>
            </a:pPr>
            <a:r>
              <a:rPr lang="en-US" sz="1600" b="1" dirty="0">
                <a:solidFill>
                  <a:srgbClr val="E8F1F2"/>
                </a:solidFill>
                <a:latin typeface="Calibri" pitchFamily="34" charset="0"/>
                <a:ea typeface="Calibri" pitchFamily="34" charset="-122"/>
                <a:cs typeface="Calibri" pitchFamily="34" charset="-120"/>
              </a:rPr>
              <a:t>Dorian Żaczek</a:t>
            </a:r>
            <a:endParaRPr lang="en-US" sz="1600" dirty="0"/>
          </a:p>
        </p:txBody>
      </p:sp>
      <p:sp>
        <p:nvSpPr>
          <p:cNvPr id="5" name="b1-r"/>
          <p:cNvSpPr txBox="1"/>
          <p:nvPr/>
        </p:nvSpPr>
        <p:spPr>
          <a:xfrm>
            <a:off x="812800" y="3543300"/>
            <a:ext cx="2451100" cy="635000"/>
          </a:xfrm>
          <a:prstGeom prst="rect">
            <a:avLst/>
          </a:prstGeom>
          <a:noFill/>
          <a:ln/>
        </p:spPr>
        <p:txBody>
          <a:bodyPr wrap="square" lIns="0" tIns="0" rIns="0" bIns="0" rtlCol="0" anchor="t"/>
          <a:lstStyle/>
          <a:p>
            <a:pPr algn="ctr" indent="0" marL="0">
              <a:lnSpc>
                <a:spcPct val="130000"/>
              </a:lnSpc>
              <a:buNone/>
            </a:pPr>
            <a:r>
              <a:rPr lang="en-US" sz="1200" dirty="0">
                <a:solidFill>
                  <a:srgbClr val="8FA3A7"/>
                </a:solidFill>
                <a:latin typeface="Calibri" pitchFamily="34" charset="0"/>
                <a:ea typeface="Calibri" pitchFamily="34" charset="-122"/>
                <a:cs typeface="Calibri" pitchFamily="34" charset="-120"/>
              </a:rPr>
              <a:t>CEO, Founder &amp; Product Manager</a:t>
            </a:r>
            <a:endParaRPr lang="en-US" sz="1200" dirty="0"/>
          </a:p>
        </p:txBody>
      </p:sp>
      <p:pic>
        <p:nvPicPr>
          <p:cNvPr id="6" name="b2-img" descr="Julita Szaruta">    </p:cNvPr>
          <p:cNvPicPr>
            <a:picLocks noChangeAspect="1"/>
          </p:cNvPicPr>
          <p:nvPr/>
        </p:nvPicPr>
        <p:blipFill>
          <a:blip r:embed="rId3"/>
          <a:stretch>
            <a:fillRect/>
          </a:stretch>
        </p:blipFill>
        <p:spPr>
          <a:xfrm>
            <a:off x="4044950" y="1727200"/>
            <a:ext cx="1397000" cy="1397000"/>
          </a:xfrm>
          <a:prstGeom prst="rect">
            <a:avLst/>
          </a:prstGeom>
        </p:spPr>
      </p:pic>
      <p:sp>
        <p:nvSpPr>
          <p:cNvPr id="7" name="b2-n"/>
          <p:cNvSpPr txBox="1"/>
          <p:nvPr/>
        </p:nvSpPr>
        <p:spPr>
          <a:xfrm>
            <a:off x="3517900" y="3225800"/>
            <a:ext cx="2451100" cy="279400"/>
          </a:xfrm>
          <a:prstGeom prst="rect">
            <a:avLst/>
          </a:prstGeom>
          <a:noFill/>
          <a:ln/>
        </p:spPr>
        <p:txBody>
          <a:bodyPr wrap="square" lIns="0" tIns="0" rIns="0" bIns="0" rtlCol="0" anchor="t"/>
          <a:lstStyle/>
          <a:p>
            <a:pPr algn="ctr" indent="0" marL="0">
              <a:lnSpc>
                <a:spcPct val="115000"/>
              </a:lnSpc>
              <a:buNone/>
            </a:pPr>
            <a:r>
              <a:rPr lang="en-US" sz="1600" b="1" dirty="0">
                <a:solidFill>
                  <a:srgbClr val="E8F1F2"/>
                </a:solidFill>
                <a:latin typeface="Calibri" pitchFamily="34" charset="0"/>
                <a:ea typeface="Calibri" pitchFamily="34" charset="-122"/>
                <a:cs typeface="Calibri" pitchFamily="34" charset="-120"/>
              </a:rPr>
              <a:t>Julita Szaruta</a:t>
            </a:r>
            <a:endParaRPr lang="en-US" sz="1600" dirty="0"/>
          </a:p>
        </p:txBody>
      </p:sp>
      <p:sp>
        <p:nvSpPr>
          <p:cNvPr id="8" name="b2-r"/>
          <p:cNvSpPr txBox="1"/>
          <p:nvPr/>
        </p:nvSpPr>
        <p:spPr>
          <a:xfrm>
            <a:off x="3517900" y="3543300"/>
            <a:ext cx="2451100" cy="635000"/>
          </a:xfrm>
          <a:prstGeom prst="rect">
            <a:avLst/>
          </a:prstGeom>
          <a:noFill/>
          <a:ln/>
        </p:spPr>
        <p:txBody>
          <a:bodyPr wrap="square" lIns="0" tIns="0" rIns="0" bIns="0" rtlCol="0" anchor="t"/>
          <a:lstStyle/>
          <a:p>
            <a:pPr algn="ctr" indent="0" marL="0">
              <a:lnSpc>
                <a:spcPct val="130000"/>
              </a:lnSpc>
              <a:buNone/>
            </a:pPr>
            <a:r>
              <a:rPr lang="en-US" sz="1200" dirty="0">
                <a:solidFill>
                  <a:srgbClr val="8FA3A7"/>
                </a:solidFill>
                <a:latin typeface="Calibri" pitchFamily="34" charset="0"/>
                <a:ea typeface="Calibri" pitchFamily="34" charset="-122"/>
                <a:cs typeface="Calibri" pitchFamily="34" charset="-120"/>
              </a:rPr>
              <a:t>Legal, Tax &amp; Regulatory · MiCA</a:t>
            </a:r>
            <a:endParaRPr lang="en-US" sz="1200" dirty="0"/>
          </a:p>
        </p:txBody>
      </p:sp>
      <p:pic>
        <p:nvPicPr>
          <p:cNvPr id="9" name="b3-img" descr="Mieszko Manijak">    </p:cNvPr>
          <p:cNvPicPr>
            <a:picLocks noChangeAspect="1"/>
          </p:cNvPicPr>
          <p:nvPr/>
        </p:nvPicPr>
        <p:blipFill>
          <a:blip r:embed="rId4"/>
          <a:stretch>
            <a:fillRect/>
          </a:stretch>
        </p:blipFill>
        <p:spPr>
          <a:xfrm>
            <a:off x="6750050" y="1727200"/>
            <a:ext cx="1397000" cy="1397000"/>
          </a:xfrm>
          <a:prstGeom prst="rect">
            <a:avLst/>
          </a:prstGeom>
        </p:spPr>
      </p:pic>
      <p:sp>
        <p:nvSpPr>
          <p:cNvPr id="10" name="b3-n"/>
          <p:cNvSpPr txBox="1"/>
          <p:nvPr/>
        </p:nvSpPr>
        <p:spPr>
          <a:xfrm>
            <a:off x="6223000" y="3225800"/>
            <a:ext cx="2451100" cy="279400"/>
          </a:xfrm>
          <a:prstGeom prst="rect">
            <a:avLst/>
          </a:prstGeom>
          <a:noFill/>
          <a:ln/>
        </p:spPr>
        <p:txBody>
          <a:bodyPr wrap="square" lIns="0" tIns="0" rIns="0" bIns="0" rtlCol="0" anchor="t"/>
          <a:lstStyle/>
          <a:p>
            <a:pPr algn="ctr" indent="0" marL="0">
              <a:lnSpc>
                <a:spcPct val="115000"/>
              </a:lnSpc>
              <a:buNone/>
            </a:pPr>
            <a:r>
              <a:rPr lang="en-US" sz="1600" b="1" dirty="0">
                <a:solidFill>
                  <a:srgbClr val="E8F1F2"/>
                </a:solidFill>
                <a:latin typeface="Calibri" pitchFamily="34" charset="0"/>
                <a:ea typeface="Calibri" pitchFamily="34" charset="-122"/>
                <a:cs typeface="Calibri" pitchFamily="34" charset="-120"/>
              </a:rPr>
              <a:t>Mieszko Manijak</a:t>
            </a:r>
            <a:endParaRPr lang="en-US" sz="1600" dirty="0"/>
          </a:p>
        </p:txBody>
      </p:sp>
      <p:sp>
        <p:nvSpPr>
          <p:cNvPr id="11" name="b3-r"/>
          <p:cNvSpPr txBox="1"/>
          <p:nvPr/>
        </p:nvSpPr>
        <p:spPr>
          <a:xfrm>
            <a:off x="6223000" y="3543300"/>
            <a:ext cx="2451100" cy="635000"/>
          </a:xfrm>
          <a:prstGeom prst="rect">
            <a:avLst/>
          </a:prstGeom>
          <a:noFill/>
          <a:ln/>
        </p:spPr>
        <p:txBody>
          <a:bodyPr wrap="square" lIns="0" tIns="0" rIns="0" bIns="0" rtlCol="0" anchor="t"/>
          <a:lstStyle/>
          <a:p>
            <a:pPr algn="ctr" indent="0" marL="0">
              <a:lnSpc>
                <a:spcPct val="130000"/>
              </a:lnSpc>
              <a:buNone/>
            </a:pPr>
            <a:r>
              <a:rPr lang="en-US" sz="1200" dirty="0">
                <a:solidFill>
                  <a:srgbClr val="8FA3A7"/>
                </a:solidFill>
                <a:latin typeface="Calibri" pitchFamily="34" charset="0"/>
                <a:ea typeface="Calibri" pitchFamily="34" charset="-122"/>
                <a:cs typeface="Calibri" pitchFamily="34" charset="-120"/>
              </a:rPr>
              <a:t>CTO &amp; DeFi Architect Engineer</a:t>
            </a:r>
            <a:endParaRPr lang="en-US" sz="1200" dirty="0"/>
          </a:p>
          <a:p>
            <a:pPr algn="ctr" indent="0" marL="0">
              <a:lnSpc>
                <a:spcPct val="130000"/>
              </a:lnSpc>
              <a:buNone/>
            </a:pPr>
            <a:r>
              <a:rPr lang="en-US" sz="1200" dirty="0">
                <a:solidFill>
                  <a:srgbClr val="8FA3A7"/>
                </a:solidFill>
                <a:latin typeface="Calibri" pitchFamily="34" charset="0"/>
                <a:ea typeface="Calibri" pitchFamily="34" charset="-122"/>
                <a:cs typeface="Calibri" pitchFamily="34" charset="-120"/>
              </a:rPr>
              <a:t>Anchor program + Rust poster</a:t>
            </a:r>
            <a:endParaRPr lang="en-US" sz="1200" dirty="0"/>
          </a:p>
        </p:txBody>
      </p:sp>
      <p:sp>
        <p:nvSpPr>
          <p:cNvPr id="12" name="b4-badge"/>
          <p:cNvSpPr/>
          <p:nvPr/>
        </p:nvSpPr>
        <p:spPr>
          <a:xfrm>
            <a:off x="9474200" y="1746250"/>
            <a:ext cx="1358900" cy="1358900"/>
          </a:xfrm>
          <a:prstGeom prst="ellipse">
            <a:avLst/>
          </a:prstGeom>
          <a:solidFill>
            <a:srgbClr val="141B2A"/>
          </a:solidFill>
          <a:ln w="38100">
            <a:solidFill>
              <a:srgbClr val="2EE6D6"/>
            </a:solidFill>
            <a:prstDash val="solid"/>
          </a:ln>
        </p:spPr>
      </p:sp>
      <p:sp>
        <p:nvSpPr>
          <p:cNvPr id="13" name="b4-ak"/>
          <p:cNvSpPr txBox="1"/>
          <p:nvPr/>
        </p:nvSpPr>
        <p:spPr>
          <a:xfrm>
            <a:off x="9474200" y="1746250"/>
            <a:ext cx="1358900" cy="1358900"/>
          </a:xfrm>
          <a:prstGeom prst="rect">
            <a:avLst/>
          </a:prstGeom>
          <a:noFill/>
          <a:ln/>
        </p:spPr>
        <p:txBody>
          <a:bodyPr wrap="square" lIns="0" tIns="0" rIns="0" bIns="0" rtlCol="0" anchor="ctr"/>
          <a:lstStyle/>
          <a:p>
            <a:pPr algn="ctr" indent="0" marL="0">
              <a:lnSpc>
                <a:spcPct val="115000"/>
              </a:lnSpc>
              <a:buNone/>
            </a:pPr>
            <a:r>
              <a:rPr lang="en-US" sz="3600" b="1" dirty="0">
                <a:solidFill>
                  <a:srgbClr val="E8F1F2"/>
                </a:solidFill>
                <a:latin typeface="Calibri" pitchFamily="34" charset="0"/>
                <a:ea typeface="Calibri" pitchFamily="34" charset="-122"/>
                <a:cs typeface="Calibri" pitchFamily="34" charset="-120"/>
              </a:rPr>
              <a:t>AK</a:t>
            </a:r>
            <a:endParaRPr lang="en-US" sz="3600" dirty="0"/>
          </a:p>
        </p:txBody>
      </p:sp>
      <p:sp>
        <p:nvSpPr>
          <p:cNvPr id="14" name="b4-n"/>
          <p:cNvSpPr txBox="1"/>
          <p:nvPr/>
        </p:nvSpPr>
        <p:spPr>
          <a:xfrm>
            <a:off x="8928100" y="3225800"/>
            <a:ext cx="2451100" cy="279400"/>
          </a:xfrm>
          <a:prstGeom prst="rect">
            <a:avLst/>
          </a:prstGeom>
          <a:noFill/>
          <a:ln/>
        </p:spPr>
        <p:txBody>
          <a:bodyPr wrap="square" lIns="0" tIns="0" rIns="0" bIns="0" rtlCol="0" anchor="t"/>
          <a:lstStyle/>
          <a:p>
            <a:pPr algn="ctr" indent="0" marL="0">
              <a:lnSpc>
                <a:spcPct val="115000"/>
              </a:lnSpc>
              <a:buNone/>
            </a:pPr>
            <a:r>
              <a:rPr lang="en-US" sz="1600" b="1" dirty="0">
                <a:solidFill>
                  <a:srgbClr val="E8F1F2"/>
                </a:solidFill>
                <a:latin typeface="Calibri" pitchFamily="34" charset="0"/>
                <a:ea typeface="Calibri" pitchFamily="34" charset="-122"/>
                <a:cs typeface="Calibri" pitchFamily="34" charset="-120"/>
              </a:rPr>
              <a:t>Adam Książkiewicz</a:t>
            </a:r>
            <a:endParaRPr lang="en-US" sz="1600" dirty="0"/>
          </a:p>
        </p:txBody>
      </p:sp>
      <p:sp>
        <p:nvSpPr>
          <p:cNvPr id="15" name="b4-r"/>
          <p:cNvSpPr txBox="1"/>
          <p:nvPr/>
        </p:nvSpPr>
        <p:spPr>
          <a:xfrm>
            <a:off x="8928100" y="3543300"/>
            <a:ext cx="2451100" cy="635000"/>
          </a:xfrm>
          <a:prstGeom prst="rect">
            <a:avLst/>
          </a:prstGeom>
          <a:noFill/>
          <a:ln/>
        </p:spPr>
        <p:txBody>
          <a:bodyPr wrap="square" lIns="0" tIns="0" rIns="0" bIns="0" rtlCol="0" anchor="t"/>
          <a:lstStyle/>
          <a:p>
            <a:pPr algn="ctr" indent="0" marL="0">
              <a:lnSpc>
                <a:spcPct val="130000"/>
              </a:lnSpc>
              <a:buNone/>
            </a:pPr>
            <a:r>
              <a:rPr lang="en-US" sz="1200" dirty="0">
                <a:solidFill>
                  <a:srgbClr val="8FA3A7"/>
                </a:solidFill>
                <a:latin typeface="Calibri" pitchFamily="34" charset="0"/>
                <a:ea typeface="Calibri" pitchFamily="34" charset="-122"/>
                <a:cs typeface="Calibri" pitchFamily="34" charset="-120"/>
              </a:rPr>
              <a:t>investiatech · Rust · devnet deployment · quant markets</a:t>
            </a:r>
            <a:endParaRPr lang="en-US" sz="1200" dirty="0"/>
          </a:p>
        </p:txBody>
      </p:sp>
      <p:sp>
        <p:nvSpPr>
          <p:cNvPr id="16" name="Shape 11"/>
          <p:cNvSpPr/>
          <p:nvPr/>
        </p:nvSpPr>
        <p:spPr>
          <a:xfrm>
            <a:off x="8585200" y="889000"/>
            <a:ext cx="2794000" cy="355600"/>
          </a:xfrm>
          <a:prstGeom prst="roundRect">
            <a:avLst>
              <a:gd name="adj" fmla="val 50000"/>
            </a:avLst>
          </a:prstGeom>
          <a:solidFill>
            <a:srgbClr val="2CD8DF">
              <a:alpha val="10000"/>
            </a:srgbClr>
          </a:solidFill>
          <a:ln w="9525">
            <a:solidFill>
              <a:srgbClr val="2CD8DF">
                <a:alpha val="45000"/>
              </a:srgbClr>
            </a:solidFill>
            <a:prstDash val="solid"/>
          </a:ln>
        </p:spPr>
      </p:sp>
      <p:pic>
        <p:nvPicPr>
          <p:cNvPr id="17" name="Image 3" descr="Team icon">    </p:cNvPr>
          <p:cNvPicPr>
            <a:picLocks noChangeAspect="1"/>
          </p:cNvPicPr>
          <p:nvPr/>
        </p:nvPicPr>
        <p:blipFill>
          <a:blip r:embed="rId5"/>
          <a:stretch>
            <a:fillRect/>
          </a:stretch>
        </p:blipFill>
        <p:spPr>
          <a:xfrm>
            <a:off x="8737600" y="952500"/>
            <a:ext cx="228600" cy="228600"/>
          </a:xfrm>
          <a:prstGeom prst="rect">
            <a:avLst/>
          </a:prstGeom>
        </p:spPr>
      </p:pic>
      <p:sp>
        <p:nvSpPr>
          <p:cNvPr id="18" name="Text 12"/>
          <p:cNvSpPr txBox="1"/>
          <p:nvPr/>
        </p:nvSpPr>
        <p:spPr>
          <a:xfrm>
            <a:off x="9029700" y="889000"/>
            <a:ext cx="2286000" cy="355600"/>
          </a:xfrm>
          <a:prstGeom prst="rect">
            <a:avLst/>
          </a:prstGeom>
          <a:noFill/>
          <a:ln/>
        </p:spPr>
        <p:txBody>
          <a:bodyPr wrap="square" lIns="0" tIns="0" rIns="0" bIns="0" rtlCol="0" anchor="ctr"/>
          <a:lstStyle/>
          <a:p>
            <a:pPr algn="l" indent="0" marL="0">
              <a:lnSpc>
                <a:spcPct val="115000"/>
              </a:lnSpc>
              <a:buNone/>
            </a:pPr>
            <a:r>
              <a:rPr lang="en-US" sz="1200" b="1" dirty="0">
                <a:solidFill>
                  <a:srgbClr val="2CD8DF"/>
                </a:solidFill>
                <a:latin typeface="Calibri" pitchFamily="34" charset="0"/>
                <a:ea typeface="Calibri" pitchFamily="34" charset="-122"/>
                <a:cs typeface="Calibri" pitchFamily="34" charset="-120"/>
              </a:rPr>
              <a:t>Hiring: Rust/Anchor · frontend</a:t>
            </a:r>
            <a:endParaRPr lang="en-US" sz="1200" dirty="0"/>
          </a:p>
        </p:txBody>
      </p:sp>
      <p:sp>
        <p:nvSpPr>
          <p:cNvPr id="19" name="b5-panel"/>
          <p:cNvSpPr/>
          <p:nvPr/>
        </p:nvSpPr>
        <p:spPr>
          <a:xfrm>
            <a:off x="812800" y="4902200"/>
            <a:ext cx="10566400" cy="863600"/>
          </a:xfrm>
          <a:prstGeom prst="roundRect">
            <a:avLst>
              <a:gd name="adj" fmla="val 14706"/>
            </a:avLst>
          </a:prstGeom>
          <a:solidFill>
            <a:srgbClr val="0E151C">
              <a:alpha val="90000"/>
            </a:srgbClr>
          </a:solidFill>
          <a:ln w="9525">
            <a:solidFill>
              <a:srgbClr val="9469F2">
                <a:alpha val="32000"/>
              </a:srgbClr>
            </a:solidFill>
            <a:prstDash val="solid"/>
          </a:ln>
          <a:effectLst>
            <a:outerShdw sx="100000" sy="100000" kx="0" ky="0" algn="bl" rotWithShape="0" blurRad="304800" dist="1270" dir="16200000">
              <a:srgbClr val="8462D8">
                <a:alpha val="25000"/>
              </a:srgbClr>
            </a:outerShdw>
          </a:effectLst>
        </p:spPr>
      </p:sp>
      <p:pic>
        <p:nvPicPr>
          <p:cNvPr id="20" name="b5-img" descr="Adam Kwak">    </p:cNvPr>
          <p:cNvPicPr>
            <a:picLocks noChangeAspect="1"/>
          </p:cNvPicPr>
          <p:nvPr/>
        </p:nvPicPr>
        <p:blipFill>
          <a:blip r:embed="rId6"/>
          <a:stretch>
            <a:fillRect/>
          </a:stretch>
        </p:blipFill>
        <p:spPr>
          <a:xfrm>
            <a:off x="1016000" y="5029200"/>
            <a:ext cx="609600" cy="609600"/>
          </a:xfrm>
          <a:prstGeom prst="rect">
            <a:avLst/>
          </a:prstGeom>
        </p:spPr>
      </p:pic>
      <p:sp>
        <p:nvSpPr>
          <p:cNvPr id="21" name="b5-txt"/>
          <p:cNvSpPr txBox="1"/>
          <p:nvPr/>
        </p:nvSpPr>
        <p:spPr>
          <a:xfrm>
            <a:off x="1803400" y="4902200"/>
            <a:ext cx="9372600" cy="863600"/>
          </a:xfrm>
          <a:prstGeom prst="rect">
            <a:avLst/>
          </a:prstGeom>
          <a:noFill/>
          <a:ln/>
        </p:spPr>
        <p:txBody>
          <a:bodyPr wrap="square" lIns="0" tIns="0" rIns="0" bIns="0" rtlCol="0" anchor="ctr"/>
          <a:lstStyle/>
          <a:p>
            <a:pPr algn="l" indent="0" marL="0">
              <a:lnSpc>
                <a:spcPct val="125000"/>
              </a:lnSpc>
              <a:buNone/>
            </a:pPr>
            <a:r>
              <a:rPr lang="en-US" sz="1600" b="1" dirty="0">
                <a:solidFill>
                  <a:srgbClr val="E8F1F2"/>
                </a:solidFill>
                <a:latin typeface="Calibri" pitchFamily="34" charset="0"/>
                <a:ea typeface="Calibri" pitchFamily="34" charset="-122"/>
                <a:cs typeface="Calibri" pitchFamily="34" charset="-120"/>
              </a:rPr>
              <a:t>Advisor · Adam Kwak</a:t>
            </a:r>
            <a:pPr algn="l" indent="0" marL="0">
              <a:lnSpc>
                <a:spcPct val="125000"/>
              </a:lnSpc>
              <a:buNone/>
            </a:pPr>
            <a:r>
              <a:rPr lang="en-US" sz="1600" dirty="0">
                <a:solidFill>
                  <a:srgbClr val="BFD3D6"/>
                </a:solidFill>
                <a:latin typeface="Calibri" pitchFamily="34" charset="0"/>
                <a:ea typeface="Calibri" pitchFamily="34" charset="-122"/>
                <a:cs typeface="Calibri" pitchFamily="34" charset="-120"/>
              </a:rPr>
              <a:t> — staff-level COBOL / mainframe, 20 yrs core financial infrastructure (Scandinavia)</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0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0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00"/>
                                        <p:tgtEl>
                                          <p:spTgt spid="5"/>
                                        </p:tgtEl>
                                      </p:cBhvr>
                                    </p:animEffect>
                                  </p:childTnLst>
                                </p:cTn>
                              </p:par>
                            </p:childTnLst>
                          </p:cTn>
                        </p:par>
                        <p:par>
                          <p:cTn id="23" fill="hold">
                            <p:stCondLst>
                              <p:cond delay="40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childTnLst>
                          </p:cTn>
                        </p:par>
                        <p:par>
                          <p:cTn id="33" fill="hold">
                            <p:stCondLst>
                              <p:cond delay="800"/>
                            </p:stCondLst>
                            <p:childTnLst>
                              <p:par>
                                <p:cTn id="24" presetID="10" presetClass="entr" presetSubtype="0"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childTnLst>
                                </p:cTn>
                              </p:par>
                            </p:childTnLst>
                          </p:cTn>
                        </p:par>
                        <p:par>
                          <p:cTn id="46" fill="hold">
                            <p:stCondLst>
                              <p:cond delay="12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childTnLst>
                          </p:cTn>
                        </p:par>
                        <p:par>
                          <p:cTn id="56" fill="hold">
                            <p:stCondLst>
                              <p:cond delay="1600"/>
                            </p:stCondLst>
                            <p:childTnLst>
                              <p:par>
                                <p:cTn id="47" presetID="10" presetClass="entr" presetSubtype="0" fill="hold" grpId="0"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10" grpId="0"/>
      <p:bldP spid="11" grpId="0"/>
      <p:bldP spid="12" grpId="0"/>
      <p:bldP spid="13" grpId="0"/>
      <p:bldP spid="14" grpId="0"/>
      <p:bldP spid="15" grpId="0"/>
      <p:bldP spid="19"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b1-tile"/>
          <p:cNvSpPr/>
          <p:nvPr/>
        </p:nvSpPr>
        <p:spPr>
          <a:xfrm>
            <a:off x="5537200" y="1206500"/>
            <a:ext cx="1117600" cy="1117600"/>
          </a:xfrm>
          <a:prstGeom prst="roundRect">
            <a:avLst>
              <a:gd name="adj" fmla="val 15909"/>
            </a:avLst>
          </a:prstGeom>
          <a:solidFill>
            <a:srgbClr val="0B0E14"/>
          </a:solidFill>
          <a:ln w="9525">
            <a:solidFill>
              <a:srgbClr val="2CD8DF">
                <a:alpha val="28000"/>
              </a:srgbClr>
            </a:solidFill>
            <a:prstDash val="solid"/>
          </a:ln>
          <a:effectLst>
            <a:outerShdw sx="100000" sy="100000" kx="0" ky="0" algn="bl" rotWithShape="0" blurRad="381000" dist="1270" dir="16200000">
              <a:srgbClr val="2CD8DF">
                <a:alpha val="35000"/>
              </a:srgbClr>
            </a:outerShdw>
          </a:effectLst>
        </p:spPr>
      </p:sp>
      <p:pic>
        <p:nvPicPr>
          <p:cNvPr id="3" name="b1-logo" descr="RWA Shield logo">    </p:cNvPr>
          <p:cNvPicPr>
            <a:picLocks noChangeAspect="1"/>
          </p:cNvPicPr>
          <p:nvPr/>
        </p:nvPicPr>
        <p:blipFill>
          <a:blip r:embed="rId2"/>
          <a:stretch>
            <a:fillRect/>
          </a:stretch>
        </p:blipFill>
        <p:spPr>
          <a:xfrm>
            <a:off x="5638800" y="1308100"/>
            <a:ext cx="914400" cy="914400"/>
          </a:xfrm>
          <a:prstGeom prst="rect">
            <a:avLst/>
          </a:prstGeom>
        </p:spPr>
      </p:pic>
      <p:sp>
        <p:nvSpPr>
          <p:cNvPr id="4" name="b2-h"/>
          <p:cNvSpPr txBox="1"/>
          <p:nvPr/>
        </p:nvSpPr>
        <p:spPr>
          <a:xfrm>
            <a:off x="1651000" y="2730500"/>
            <a:ext cx="8890000" cy="1206500"/>
          </a:xfrm>
          <a:prstGeom prst="rect">
            <a:avLst/>
          </a:prstGeom>
          <a:noFill/>
          <a:ln/>
        </p:spPr>
        <p:txBody>
          <a:bodyPr wrap="square" lIns="0" tIns="0" rIns="0" bIns="0" rtlCol="0" anchor="ctr"/>
          <a:lstStyle/>
          <a:p>
            <a:pPr algn="ctr" indent="0" marL="0">
              <a:lnSpc>
                <a:spcPct val="110000"/>
              </a:lnSpc>
              <a:buNone/>
            </a:pPr>
            <a:r>
              <a:rPr lang="en-US" sz="3600" b="1" dirty="0">
                <a:solidFill>
                  <a:srgbClr val="E8F1F2"/>
                </a:solidFill>
                <a:effectLst>
                  <a:glow rad="177800">
                    <a:srgbClr val="2CD8DF">
                      <a:alpha val="20000"/>
                    </a:srgbClr>
                  </a:glow>
                </a:effectLst>
                <a:latin typeface="Calibri" pitchFamily="34" charset="0"/>
                <a:ea typeface="Calibri" pitchFamily="34" charset="-122"/>
                <a:cs typeface="Calibri" pitchFamily="34" charset="-120"/>
              </a:rPr>
              <a:t>Recoverable collateral quotes — not a price print.</a:t>
            </a:r>
            <a:endParaRPr lang="en-US" sz="3600" dirty="0"/>
          </a:p>
        </p:txBody>
      </p:sp>
      <p:sp>
        <p:nvSpPr>
          <p:cNvPr id="5" name="b3-pill"/>
          <p:cNvSpPr/>
          <p:nvPr/>
        </p:nvSpPr>
        <p:spPr>
          <a:xfrm>
            <a:off x="2794000" y="4318000"/>
            <a:ext cx="6604000" cy="495300"/>
          </a:xfrm>
          <a:prstGeom prst="roundRect">
            <a:avLst>
              <a:gd name="adj" fmla="val 50000"/>
            </a:avLst>
          </a:prstGeom>
          <a:solidFill>
            <a:srgbClr val="2CD8DF">
              <a:alpha val="8000"/>
            </a:srgbClr>
          </a:solidFill>
          <a:ln w="9525">
            <a:solidFill>
              <a:srgbClr val="2CD8DF">
                <a:alpha val="45000"/>
              </a:srgbClr>
            </a:solidFill>
            <a:prstDash val="solid"/>
          </a:ln>
        </p:spPr>
      </p:sp>
      <p:sp>
        <p:nvSpPr>
          <p:cNvPr id="6" name="b3-url"/>
          <p:cNvSpPr txBox="1"/>
          <p:nvPr/>
        </p:nvSpPr>
        <p:spPr>
          <a:xfrm>
            <a:off x="2794000" y="4318000"/>
            <a:ext cx="6604000" cy="495300"/>
          </a:xfrm>
          <a:prstGeom prst="rect">
            <a:avLst/>
          </a:prstGeom>
          <a:noFill/>
          <a:ln/>
        </p:spPr>
        <p:txBody>
          <a:bodyPr wrap="square" lIns="0" tIns="0" rIns="0" bIns="0" rtlCol="0" anchor="ctr"/>
          <a:lstStyle/>
          <a:p>
            <a:pPr algn="ctr" indent="0" marL="0">
              <a:lnSpc>
                <a:spcPct val="115000"/>
              </a:lnSpc>
              <a:buNone/>
            </a:pPr>
            <a:r>
              <a:rPr lang="en-US" sz="1600" u="sng" dirty="0">
                <a:solidFill>
                  <a:srgbClr val="2CD8DF"/>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github.com/Dorianos85/rwa-shield/tree/main/onchain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400"/>
                                        <p:tgtEl>
                                          <p:spTgt spid="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400"/>
                                        <p:tgtEl>
                                          <p:spTgt spid="3"/>
                                        </p:tgtEl>
                                      </p:cBhvr>
                                    </p:animEffect>
                                  </p:childTnLst>
                                </p:cTn>
                              </p:par>
                            </p:childTnLst>
                          </p:cTn>
                        </p:par>
                        <p:par>
                          <p:cTn id="14" fill="hold">
                            <p:stCondLst>
                              <p:cond delay="4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00"/>
                                        <p:tgtEl>
                                          <p:spTgt spid="4"/>
                                        </p:tgtEl>
                                      </p:cBhvr>
                                    </p:animEffect>
                                  </p:childTnLst>
                                </p:cTn>
                              </p:par>
                            </p:childTnLst>
                          </p:cTn>
                        </p:par>
                        <p:par>
                          <p:cTn id="21" fill="hold">
                            <p:stCondLst>
                              <p:cond delay="80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RWA Shield — Warsaw pitch</dc:title>
  <dc:subject>PptxGenJS Presentation</dc:subject>
  <dc:creator>Dorian Żaczek</dc:creator>
  <cp:lastModifiedBy>Dorian Żaczek</cp:lastModifiedBy>
  <cp:revision>1</cp:revision>
  <dcterms:created xsi:type="dcterms:W3CDTF">2026-09-27T17:32:03Z</dcterms:created>
  <dcterms:modified xsi:type="dcterms:W3CDTF">2026-09-27T17:32:03Z</dcterms:modified>
</cp:coreProperties>
</file>