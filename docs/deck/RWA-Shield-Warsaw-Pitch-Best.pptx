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price is not cash. I'm Dorian, and this is RWA Shield. We price recoverable collateral.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deposit USDC into a tokenized stock pool to earn some yield, lent against a tokenized stock. The oracle says the collateral is worth one hundred. But the market is closed, or the book is thin. The position gets liquidated, and you get much less. That gap is bad debt. Press reports: over two hundred million dollars of tokenized stocks traded on Solana in one day. Our first user is not retail — it is a lending venue on Solana that accepts xStocks.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theory. Collateral that cannot be sold at its mark has left lenders with losses many times. July this year, Edel Finance: GOOGLx collateral, the tokenized Google share. Chainlink was right, but the protocol valued the collateral 78 times too high and lost about four hundred thousand dollars. November 2025, Stream: curator vaults on Morpho and Euler took a token hard-coded at one dollar. It fell 77 percent, liquidations never fired, 93 million lost. Aave with CRV, Mango on Solana, and Solend: one whale, 108 million borrowed, more SOL to liquidate than Solana DEXes could take. Common thread: the protocol trusted a price, the market paid far less. If asked whether these were hacks: Mango and Edel were manipulations, and both worked because the collateral mark was never checked against what the market would really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real data: Kamino's rules allow thirty-four point eight million dollars of debt against nine tokenized stocks at full deposit caps. Selling all of that collateral on-chain at once returns about seven point eight million. On the right, today's deposits: for GOOGLx the market repays eighteen percent of the debt the rules allow; for five of nine assets, less than half. Measured: Kamino API parameters and Jupiter quotes, 26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Kamino look today? We read all seven thousand forty accounts of the xStocks market. Five point one million dollars borrowed in fourteen hundred twenty-four positions. Honestly: today it is safe. Fifty-nine percent of the debt needs a drop of more than thirty percent to be liquidated. But one asset already stands out: GOOGLx. Nine hundred ten thousand of debt, and the on-chain market takes about seven hundred fifty tokens. At minus twenty percent liquidators lose eighteen thousand, at minus thirty two hundred twenty-four thousand. Irony: the same asset Edel lost on in July. That is what we look for: concrete risk in real positions, before it becomes bad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NVDAx three times: Thursday with the market open, Friday night with it closed, Saturday in the weekend. What a liquidator can sell at a profit went from one point zero two to one point three six million, plus thirty-three percent, with no market event. The same minus twenty-five percent shock: Thursday liquidators lose twenty-two thousand, Saturday they make thirty-four. Kamino's parameters did not move at all. The frozen oracle is not the problem; the missing buyer is. So exit liquidity must be measured continuously, and that is what our oracle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ECV — Executable Collateral Value. How much USDC can you really recover, right now? Five outputs: max borrow, cap, route, premium, and borrow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Watch the breaker. This is our Kamino risk dashboard. Recorded Kamino market data, Jupiter quotes measured at four-seventeen, stress sandbox — not a live signal. Tesla xStock, one hundred thousand dollars, weekend. Oracle price: about three hundred seventy-two dollars. ECV: about eighty-four thousand of that hundred thousand — a haircut of about sixteen percent, mostly our weekend buffer — a policy choice. Safe max borrow: about fifty-nine thousand, next to Kamino's LTV limit of fifty-five thousand. Status: WARNING, because USDC utilization is at the ninety-percent rate kink.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label: synthetic, in-sample. Based on historical mainnet. A fixed seventy percent LTV could potentially leave about three point nine eight million dollars of bad debt. ECV: zero bad debt. How? In the tail scenario it refuses all sixty-seven new loans. In the calm base scenario it lends about the same as fixed LTV.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our last pitch, ECV went on-chain: our Anchor program, published on Solana devnet yesterday. Scan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Solana? Because the collateral already lives here. xStocks are native on Solana, and Jupiter routes are the real liquidation path. And publishing is cheap: the base fee is 5,000 lamports per signature, a fraction of a cent, so the ECV record can be refreshed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anyone pay for this? Yes, a lot. Chaos Labs ran Aave's risk for three years while deposits grew from five to twenty-six billion. Their Risk Oracles move LTVs and thresholds automatically, and they build RWA risk for Aave Horizon. In April they left Aave because five million a year was too little; they wanted at least eight. Gauntlet raised a hundred twenty-five million from SBI in July and curates about one point six billion for Coinbase, Circle and Apollo. On Solana, only about seven and a half million. The gap: tokenized stocks on Solana, where nobody measures exit liquidity position by position. That is where we go in. If asked what happens when they come: they can. Our edge is focus and time, and realistically we can also become a data supplier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make money? First, a risk API and SDK: lending venues pay for ECV quotes and breakers. Second, we may build our own money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Mieszko Manijak, our DeFi expert, built the Anchor program and the Rust poster. Julita Szaruta leads legal and regulatory, with experience in Web3. Adam Książkiewicz did the devnet deployment. And as an advisor we have Adam Kwak: staff-level COBOL/mainframe, 20 years of core financial infrastructure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fourteen days: we fix the xStocks mint mapping on-chain, then a vault and a borrow gate that reads the ECV record. From you: intros to lending venues that hold xStocks, and Rust and frontend engineers. Oracle price is not cash.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orianos85/rwa-shield/tree/main/onchain"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80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6080C">
                  <a:alpha val="92000"/>
                </a:srgbClr>
              </a:gs>
              <a:gs pos="32000">
                <a:srgbClr val="06080C">
                  <a:alpha val="70000"/>
                </a:srgbClr>
              </a:gs>
              <a:gs pos="58000">
                <a:srgbClr val="06080C">
                  <a:alpha val="0"/>
                </a:srgbClr>
              </a:gs>
            </a:gsLst>
            <a:lin ang="0" scaled="0"/>
          </a:gradFill>
          <a:ln/>
        </p:spPr>
      </p:sp>
      <p:sp>
        <p:nvSpPr>
          <p:cNvPr id="4" name="Shape 1"/>
          <p:cNvSpPr/>
          <p:nvPr/>
        </p:nvSpPr>
        <p:spPr>
          <a:xfrm>
            <a:off x="815975" y="955675"/>
            <a:ext cx="1111250" cy="1111250"/>
          </a:xfrm>
          <a:prstGeom prst="roundRect">
            <a:avLst>
              <a:gd name="adj" fmla="val 15714"/>
            </a:avLst>
          </a:prstGeom>
          <a:solidFill>
            <a:srgbClr val="0B0E14"/>
          </a:solidFill>
          <a:ln w="6350">
            <a:solidFill>
              <a:srgbClr val="2CD8DF">
                <a:alpha val="28000"/>
              </a:srgbClr>
            </a:solidFill>
            <a:prstDash val="solid"/>
          </a:ln>
          <a:effectLst>
            <a:outerShdw sx="100000" sy="100000" kx="0" ky="0" algn="bl" rotWithShape="0" blurRad="355600" dist="0" dir="60000">
              <a:srgbClr val="2CD8DF">
                <a:alpha val="18000"/>
              </a:srgbClr>
            </a:outerShdw>
          </a:effectLst>
        </p:spPr>
      </p:sp>
      <p:pic>
        <p:nvPicPr>
          <p:cNvPr id="5" name="Image 1" descr="RWA Shield logo">    </p:cNvPr>
          <p:cNvPicPr>
            <a:picLocks noChangeAspect="1"/>
          </p:cNvPicPr>
          <p:nvPr/>
        </p:nvPicPr>
        <p:blipFill>
          <a:blip r:embed="rId2"/>
          <a:srcRect l="0" r="0" t="0" b="0"/>
          <a:stretch/>
        </p:blipFill>
        <p:spPr>
          <a:xfrm>
            <a:off x="914400" y="1054100"/>
            <a:ext cx="914400" cy="914400"/>
          </a:xfrm>
          <a:prstGeom prst="rect">
            <a:avLst/>
          </a:prstGeom>
        </p:spPr>
      </p:pic>
      <p:sp>
        <p:nvSpPr>
          <p:cNvPr id="6" name="Shape 2"/>
          <p:cNvSpPr/>
          <p:nvPr/>
        </p:nvSpPr>
        <p:spPr>
          <a:xfrm>
            <a:off x="812800" y="2438400"/>
            <a:ext cx="812800" cy="38100"/>
          </a:xfrm>
          <a:prstGeom prst="roundRect">
            <a:avLst>
              <a:gd name="adj" fmla="val 50000"/>
            </a:avLst>
          </a:prstGeom>
          <a:gradFill rotWithShape="1">
            <a:gsLst>
              <a:gs pos="0">
                <a:srgbClr val="2CD8DF"/>
              </a:gs>
              <a:gs pos="100000">
                <a:srgbClr val="8462D8"/>
              </a:gs>
            </a:gsLst>
            <a:lin ang="0" scaled="0"/>
          </a:gradFill>
          <a:ln/>
        </p:spPr>
      </p:sp>
      <p:sp>
        <p:nvSpPr>
          <p:cNvPr id="7" name="Text 3"/>
          <p:cNvSpPr/>
          <p:nvPr/>
        </p:nvSpPr>
        <p:spPr>
          <a:xfrm>
            <a:off x="812800" y="2616200"/>
            <a:ext cx="4447540" cy="1762760"/>
          </a:xfrm>
          <a:prstGeom prst="rect">
            <a:avLst/>
          </a:prstGeom>
          <a:noFill/>
          <a:ln/>
        </p:spPr>
        <p:txBody>
          <a:bodyPr wrap="square" lIns="0" tIns="0" rIns="0" bIns="0" rtlCol="0" anchor="t">
            <a:normAutofit/>
          </a:bodyPr>
          <a:lstStyle/>
          <a:p>
            <a:pPr algn="l" indent="0" marL="0">
              <a:lnSpc>
                <a:spcPts val="6840"/>
              </a:lnSpc>
              <a:buNone/>
            </a:pPr>
            <a:r>
              <a:rPr lang="en-US" sz="7200" b="1" spc="200" kern="0" dirty="0">
                <a:solidFill>
                  <a:srgbClr val="E8F1F2"/>
                </a:solidFill>
                <a:latin typeface="Inter" pitchFamily="34" charset="0"/>
                <a:ea typeface="Inter" pitchFamily="34" charset="-122"/>
                <a:cs typeface="Inter" pitchFamily="34" charset="-120"/>
              </a:rPr>
              <a:t>RWA SHIELD</a:t>
            </a:r>
            <a:endParaRPr lang="en-US" sz="7200" dirty="0"/>
          </a:p>
        </p:txBody>
      </p:sp>
      <p:sp>
        <p:nvSpPr>
          <p:cNvPr id="8" name="Text 4"/>
          <p:cNvSpPr/>
          <p:nvPr/>
        </p:nvSpPr>
        <p:spPr>
          <a:xfrm>
            <a:off x="812800" y="4597400"/>
            <a:ext cx="510159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8F1F2"/>
                </a:solidFill>
                <a:latin typeface="Inter" pitchFamily="34" charset="0"/>
                <a:ea typeface="Inter" pitchFamily="34" charset="-122"/>
                <a:cs typeface="Inter" pitchFamily="34" charset="-120"/>
              </a:rPr>
              <a:t>Oracle price is not cash.</a:t>
            </a:r>
            <a:endParaRPr lang="en-US" sz="2200" dirty="0"/>
          </a:p>
          <a:p>
            <a:pPr algn="l" indent="0" marL="0">
              <a:lnSpc>
                <a:spcPts val="2860"/>
              </a:lnSpc>
              <a:buNone/>
            </a:pPr>
            <a:r>
              <a:rPr lang="en-US" sz="2200" dirty="0">
                <a:solidFill>
                  <a:srgbClr val="2CD8DF"/>
                </a:solidFill>
                <a:latin typeface="Inter" pitchFamily="34" charset="0"/>
                <a:ea typeface="Inter" pitchFamily="34" charset="-122"/>
                <a:cs typeface="Inter" pitchFamily="34" charset="-120"/>
              </a:rPr>
              <a:t>We price recoverable collateral.</a:t>
            </a:r>
            <a:endParaRPr lang="en-US" sz="2200" dirty="0"/>
          </a:p>
        </p:txBody>
      </p:sp>
      <p:sp>
        <p:nvSpPr>
          <p:cNvPr id="9" name="Text 5"/>
          <p:cNvSpPr/>
          <p:nvPr/>
        </p:nvSpPr>
        <p:spPr>
          <a:xfrm>
            <a:off x="812800" y="59436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FA3A7"/>
                </a:solidFill>
                <a:latin typeface="Inter" pitchFamily="34" charset="0"/>
                <a:ea typeface="Inter" pitchFamily="34" charset="-122"/>
                <a:cs typeface="Inter" pitchFamily="34" charset="-120"/>
              </a:rPr>
              <a:t>Solana · xStocks risk data · 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pic>
        <p:nvPicPr>
          <p:cNvPr id="3" name="Image 0" descr="Decorative shield outline">    </p:cNvPr>
          <p:cNvPicPr>
            <a:picLocks noChangeAspect="1"/>
          </p:cNvPicPr>
          <p:nvPr/>
        </p:nvPicPr>
        <p:blipFill>
          <a:blip r:embed="rId1">
            <a:alphaModFix amt="50000"/>
          </a:blip>
          <a:srcRect l="0" r="0" t="0" b="0"/>
          <a:stretch/>
        </p:blipFill>
        <p:spPr>
          <a:xfrm>
            <a:off x="7620000" y="2286000"/>
            <a:ext cx="4572000" cy="4572000"/>
          </a:xfrm>
          <a:prstGeom prst="rect">
            <a:avLst/>
          </a:prstGeom>
        </p:spPr>
      </p:pic>
      <p:sp>
        <p:nvSpPr>
          <p:cNvPr id="4"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Oracle price ≠ cash in the pool</a:t>
            </a:r>
            <a:endParaRPr lang="en-US" sz="3600" dirty="0"/>
          </a:p>
        </p:txBody>
      </p:sp>
      <p:sp>
        <p:nvSpPr>
          <p:cNvPr id="5" name="Text 2"/>
          <p:cNvSpPr/>
          <p:nvPr/>
        </p:nvSpPr>
        <p:spPr>
          <a:xfrm>
            <a:off x="812800" y="14351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First user: Solana lending / vault integrating xStocks — not retail.</a:t>
            </a:r>
            <a:endParaRPr lang="en-US" sz="1600" dirty="0"/>
          </a:p>
        </p:txBody>
      </p:sp>
      <p:sp>
        <p:nvSpPr>
          <p:cNvPr id="6" name="Shape 3"/>
          <p:cNvSpPr/>
          <p:nvPr/>
        </p:nvSpPr>
        <p:spPr>
          <a:xfrm>
            <a:off x="815975" y="2035175"/>
            <a:ext cx="3346450" cy="2406650"/>
          </a:xfrm>
          <a:prstGeom prst="roundRect">
            <a:avLst>
              <a:gd name="adj" fmla="val 6201"/>
            </a:avLst>
          </a:prstGeom>
          <a:solidFill>
            <a:srgbClr val="0E151C">
              <a:alpha val="88000"/>
            </a:srgbClr>
          </a:solidFill>
          <a:ln w="6350">
            <a:solidFill>
              <a:srgbClr val="2CD8DF">
                <a:alpha val="25000"/>
              </a:srgbClr>
            </a:solidFill>
            <a:prstDash val="solid"/>
          </a:ln>
          <a:effectLst>
            <a:outerShdw sx="100000" sy="100000" kx="0" ky="0" algn="bl" rotWithShape="0" blurRad="406400" dist="0" dir="60000">
              <a:srgbClr val="2CD8DF">
                <a:alpha val="10000"/>
              </a:srgbClr>
            </a:outerShdw>
          </a:effectLst>
        </p:spPr>
      </p:sp>
      <p:sp>
        <p:nvSpPr>
          <p:cNvPr id="7" name="Shape 4"/>
          <p:cNvSpPr/>
          <p:nvPr/>
        </p:nvSpPr>
        <p:spPr>
          <a:xfrm>
            <a:off x="1097280" y="2316480"/>
            <a:ext cx="406400" cy="25400"/>
          </a:xfrm>
          <a:prstGeom prst="roundRect">
            <a:avLst>
              <a:gd name="adj" fmla="val 50000"/>
            </a:avLst>
          </a:prstGeom>
          <a:gradFill rotWithShape="1">
            <a:gsLst>
              <a:gs pos="0">
                <a:srgbClr val="2CD8DF"/>
              </a:gs>
              <a:gs pos="100000">
                <a:srgbClr val="8462D8"/>
              </a:gs>
            </a:gsLst>
            <a:lin ang="0" scaled="0"/>
          </a:gradFill>
          <a:ln/>
        </p:spPr>
      </p:sp>
      <p:sp>
        <p:nvSpPr>
          <p:cNvPr id="8" name="Text 5"/>
          <p:cNvSpPr/>
          <p:nvPr/>
        </p:nvSpPr>
        <p:spPr>
          <a:xfrm>
            <a:off x="1097280" y="2468880"/>
            <a:ext cx="286735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2CD8DF"/>
                </a:solidFill>
                <a:latin typeface="Inter" pitchFamily="34" charset="0"/>
                <a:ea typeface="Inter" pitchFamily="34" charset="-122"/>
                <a:cs typeface="Inter" pitchFamily="34" charset="-120"/>
              </a:rPr>
              <a:t>$200M+</a:t>
            </a:r>
            <a:endParaRPr lang="en-US" sz="4800" dirty="0"/>
          </a:p>
        </p:txBody>
      </p:sp>
      <p:sp>
        <p:nvSpPr>
          <p:cNvPr id="9" name="Text 6"/>
          <p:cNvSpPr/>
          <p:nvPr/>
        </p:nvSpPr>
        <p:spPr>
          <a:xfrm>
            <a:off x="1097280" y="3205480"/>
            <a:ext cx="2867355"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D3D6"/>
                </a:solidFill>
                <a:latin typeface="Inter" pitchFamily="34" charset="0"/>
                <a:ea typeface="Inter" pitchFamily="34" charset="-122"/>
                <a:cs typeface="Inter" pitchFamily="34" charset="-120"/>
              </a:rPr>
              <a:t>Tokenized-equity trading volume on Solana in one day (12.09.2026)</a:t>
            </a:r>
            <a:endParaRPr lang="en-US" sz="1600" dirty="0"/>
          </a:p>
        </p:txBody>
      </p:sp>
      <p:sp>
        <p:nvSpPr>
          <p:cNvPr id="10" name="Shape 7"/>
          <p:cNvSpPr/>
          <p:nvPr/>
        </p:nvSpPr>
        <p:spPr>
          <a:xfrm>
            <a:off x="4422775" y="2035175"/>
            <a:ext cx="3346450" cy="2406650"/>
          </a:xfrm>
          <a:prstGeom prst="roundRect">
            <a:avLst>
              <a:gd name="adj" fmla="val 6201"/>
            </a:avLst>
          </a:prstGeom>
          <a:solidFill>
            <a:srgbClr val="0E151C">
              <a:alpha val="88000"/>
            </a:srgbClr>
          </a:solidFill>
          <a:ln w="6350">
            <a:solidFill>
              <a:srgbClr val="9469F2">
                <a:alpha val="30000"/>
              </a:srgbClr>
            </a:solidFill>
            <a:prstDash val="solid"/>
          </a:ln>
          <a:effectLst>
            <a:outerShdw sx="100000" sy="100000" kx="0" ky="0" algn="bl" rotWithShape="0" blurRad="406400" dist="0" dir="60000">
              <a:srgbClr val="8462D8">
                <a:alpha val="12000"/>
              </a:srgbClr>
            </a:outerShdw>
          </a:effectLst>
        </p:spPr>
      </p:sp>
      <p:sp>
        <p:nvSpPr>
          <p:cNvPr id="11" name="Shape 8"/>
          <p:cNvSpPr/>
          <p:nvPr/>
        </p:nvSpPr>
        <p:spPr>
          <a:xfrm>
            <a:off x="4704080" y="2316480"/>
            <a:ext cx="406400" cy="25400"/>
          </a:xfrm>
          <a:prstGeom prst="roundRect">
            <a:avLst>
              <a:gd name="adj" fmla="val 50000"/>
            </a:avLst>
          </a:prstGeom>
          <a:gradFill rotWithShape="1">
            <a:gsLst>
              <a:gs pos="0">
                <a:srgbClr val="8462D8"/>
              </a:gs>
              <a:gs pos="100000">
                <a:srgbClr val="2CD8DF"/>
              </a:gs>
            </a:gsLst>
            <a:lin ang="0" scaled="0"/>
          </a:gradFill>
          <a:ln/>
        </p:spPr>
      </p:sp>
      <p:sp>
        <p:nvSpPr>
          <p:cNvPr id="12" name="Text 9"/>
          <p:cNvSpPr/>
          <p:nvPr/>
        </p:nvSpPr>
        <p:spPr>
          <a:xfrm>
            <a:off x="4704080" y="2468880"/>
            <a:ext cx="286735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A58BF5"/>
                </a:solidFill>
                <a:latin typeface="Inter" pitchFamily="34" charset="0"/>
                <a:ea typeface="Inter" pitchFamily="34" charset="-122"/>
                <a:cs typeface="Inter" pitchFamily="34" charset="-120"/>
              </a:rPr>
              <a:t>$53M</a:t>
            </a:r>
            <a:endParaRPr lang="en-US" sz="4800" dirty="0"/>
          </a:p>
        </p:txBody>
      </p:sp>
      <p:sp>
        <p:nvSpPr>
          <p:cNvPr id="13" name="Text 10"/>
          <p:cNvSpPr/>
          <p:nvPr/>
        </p:nvSpPr>
        <p:spPr>
          <a:xfrm>
            <a:off x="4704080" y="3205480"/>
            <a:ext cx="2867355"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D3D6"/>
                </a:solidFill>
                <a:latin typeface="Inter" pitchFamily="34" charset="0"/>
                <a:ea typeface="Inter" pitchFamily="34" charset="-122"/>
                <a:cs typeface="Inter" pitchFamily="34" charset="-120"/>
              </a:rPr>
              <a:t>Tokenized-stock lending TVL on Solana, all-time high (late Jul 2026)</a:t>
            </a:r>
            <a:endParaRPr lang="en-US" sz="1600" dirty="0"/>
          </a:p>
        </p:txBody>
      </p:sp>
      <p:sp>
        <p:nvSpPr>
          <p:cNvPr id="14" name="Shape 11"/>
          <p:cNvSpPr/>
          <p:nvPr/>
        </p:nvSpPr>
        <p:spPr>
          <a:xfrm>
            <a:off x="8029575" y="2035175"/>
            <a:ext cx="3346450" cy="2406650"/>
          </a:xfrm>
          <a:prstGeom prst="roundRect">
            <a:avLst>
              <a:gd name="adj" fmla="val 6201"/>
            </a:avLst>
          </a:prstGeom>
          <a:solidFill>
            <a:srgbClr val="0E151C">
              <a:alpha val="88000"/>
            </a:srgbClr>
          </a:solidFill>
          <a:ln w="6350">
            <a:solidFill>
              <a:srgbClr val="2CD8DF">
                <a:alpha val="25000"/>
              </a:srgbClr>
            </a:solidFill>
            <a:prstDash val="solid"/>
          </a:ln>
          <a:effectLst>
            <a:outerShdw sx="100000" sy="100000" kx="0" ky="0" algn="bl" rotWithShape="0" blurRad="406400" dist="0" dir="60000">
              <a:srgbClr val="2CD8DF">
                <a:alpha val="10000"/>
              </a:srgbClr>
            </a:outerShdw>
          </a:effectLst>
        </p:spPr>
      </p:sp>
      <p:sp>
        <p:nvSpPr>
          <p:cNvPr id="15" name="Shape 12"/>
          <p:cNvSpPr/>
          <p:nvPr/>
        </p:nvSpPr>
        <p:spPr>
          <a:xfrm>
            <a:off x="8310880" y="2316480"/>
            <a:ext cx="406400" cy="25400"/>
          </a:xfrm>
          <a:prstGeom prst="roundRect">
            <a:avLst>
              <a:gd name="adj" fmla="val 50000"/>
            </a:avLst>
          </a:prstGeom>
          <a:gradFill rotWithShape="1">
            <a:gsLst>
              <a:gs pos="0">
                <a:srgbClr val="2CD8DF"/>
              </a:gs>
              <a:gs pos="100000">
                <a:srgbClr val="8462D8"/>
              </a:gs>
            </a:gsLst>
            <a:lin ang="0" scaled="0"/>
          </a:gradFill>
          <a:ln/>
        </p:spPr>
      </p:sp>
      <p:sp>
        <p:nvSpPr>
          <p:cNvPr id="16" name="Text 13"/>
          <p:cNvSpPr/>
          <p:nvPr/>
        </p:nvSpPr>
        <p:spPr>
          <a:xfrm>
            <a:off x="8310880" y="2468880"/>
            <a:ext cx="286735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2CD8DF"/>
                </a:solidFill>
                <a:latin typeface="Inter" pitchFamily="34" charset="0"/>
                <a:ea typeface="Inter" pitchFamily="34" charset="-122"/>
                <a:cs typeface="Inter" pitchFamily="34" charset="-120"/>
              </a:rPr>
              <a:t>~63%</a:t>
            </a:r>
            <a:endParaRPr lang="en-US" sz="4800" dirty="0"/>
          </a:p>
        </p:txBody>
      </p:sp>
      <p:sp>
        <p:nvSpPr>
          <p:cNvPr id="17" name="Text 14"/>
          <p:cNvSpPr/>
          <p:nvPr/>
        </p:nvSpPr>
        <p:spPr>
          <a:xfrm>
            <a:off x="8310880" y="3205480"/>
            <a:ext cx="2867355"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D3D6"/>
                </a:solidFill>
                <a:latin typeface="Inter" pitchFamily="34" charset="0"/>
                <a:ea typeface="Inter" pitchFamily="34" charset="-122"/>
                <a:cs typeface="Inter" pitchFamily="34" charset="-120"/>
              </a:rPr>
              <a:t>Of cumulative trading through Aug 2026, settled outside US market hours</a:t>
            </a:r>
            <a:endParaRPr lang="en-US" sz="1600" dirty="0"/>
          </a:p>
        </p:txBody>
      </p:sp>
      <p:sp>
        <p:nvSpPr>
          <p:cNvPr id="18" name="Shape 15"/>
          <p:cNvSpPr/>
          <p:nvPr/>
        </p:nvSpPr>
        <p:spPr>
          <a:xfrm>
            <a:off x="831850" y="4775200"/>
            <a:ext cx="0" cy="400050"/>
          </a:xfrm>
          <a:prstGeom prst="line">
            <a:avLst/>
          </a:prstGeom>
          <a:noFill/>
          <a:ln w="38100">
            <a:solidFill>
              <a:srgbClr val="FF5C7A"/>
            </a:solidFill>
            <a:prstDash val="solid"/>
          </a:ln>
        </p:spPr>
      </p:sp>
      <p:sp>
        <p:nvSpPr>
          <p:cNvPr id="19" name="Text 16"/>
          <p:cNvSpPr/>
          <p:nvPr/>
        </p:nvSpPr>
        <p:spPr>
          <a:xfrm>
            <a:off x="1051560" y="4800600"/>
            <a:ext cx="10637469"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E8F1F2"/>
                </a:solidFill>
                <a:latin typeface="Inter" pitchFamily="34" charset="0"/>
                <a:ea typeface="Inter" pitchFamily="34" charset="-122"/>
                <a:cs typeface="Inter" pitchFamily="34" charset="-120"/>
              </a:rPr>
              <a:t>Fixed LTV treats a mark as recoverable USDC. Thin books say otherwise.</a:t>
            </a:r>
            <a:endParaRPr lang="en-US" sz="2200" dirty="0"/>
          </a:p>
        </p:txBody>
      </p:sp>
      <p:sp>
        <p:nvSpPr>
          <p:cNvPr id="20" name="Text 17"/>
          <p:cNvSpPr/>
          <p:nvPr/>
        </p:nvSpPr>
        <p:spPr>
          <a:xfrm>
            <a:off x="812800" y="5994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Sources: Solana Compass 13.09.2026 (Solana Foundation newsletter); Crypto Briefing 23.07.2026 + Solana Compass 24.07.2026 · not audited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This has already cost lenders</a:t>
            </a:r>
            <a:endParaRPr lang="en-US" sz="3600" dirty="0"/>
          </a:p>
        </p:txBody>
      </p:sp>
      <p:sp>
        <p:nvSpPr>
          <p:cNvPr id="4" name="Text 2"/>
          <p:cNvSpPr/>
          <p:nvPr/>
        </p:nvSpPr>
        <p:spPr>
          <a:xfrm>
            <a:off x="990600" y="16002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WHEN · WHERE</a:t>
            </a:r>
            <a:endParaRPr lang="en-US" sz="1200" dirty="0"/>
          </a:p>
        </p:txBody>
      </p:sp>
      <p:sp>
        <p:nvSpPr>
          <p:cNvPr id="5" name="Text 3"/>
          <p:cNvSpPr/>
          <p:nvPr/>
        </p:nvSpPr>
        <p:spPr>
          <a:xfrm>
            <a:off x="3556000" y="1600200"/>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LOSS</a:t>
            </a:r>
            <a:endParaRPr lang="en-US" sz="1200" dirty="0"/>
          </a:p>
        </p:txBody>
      </p:sp>
      <p:sp>
        <p:nvSpPr>
          <p:cNvPr id="6" name="Text 4"/>
          <p:cNvSpPr/>
          <p:nvPr/>
        </p:nvSpPr>
        <p:spPr>
          <a:xfrm>
            <a:off x="5359400" y="16002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WHAT FAILED</a:t>
            </a:r>
            <a:endParaRPr lang="en-US" sz="1200" dirty="0"/>
          </a:p>
        </p:txBody>
      </p:sp>
      <p:sp>
        <p:nvSpPr>
          <p:cNvPr id="7" name="Text 5"/>
          <p:cNvSpPr/>
          <p:nvPr/>
        </p:nvSpPr>
        <p:spPr>
          <a:xfrm>
            <a:off x="8940800" y="16002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RWA SHIELD MEASURES</a:t>
            </a:r>
            <a:endParaRPr lang="en-US" sz="1200" dirty="0"/>
          </a:p>
        </p:txBody>
      </p:sp>
      <p:sp>
        <p:nvSpPr>
          <p:cNvPr id="8" name="Shape 6"/>
          <p:cNvSpPr/>
          <p:nvPr/>
        </p:nvSpPr>
        <p:spPr>
          <a:xfrm>
            <a:off x="815975" y="1908175"/>
            <a:ext cx="10560050" cy="669290"/>
          </a:xfrm>
          <a:prstGeom prst="roundRect">
            <a:avLst>
              <a:gd name="adj" fmla="val 14706"/>
            </a:avLst>
          </a:prstGeom>
          <a:solidFill>
            <a:srgbClr val="281E0C">
              <a:alpha val="90000"/>
            </a:srgbClr>
          </a:solidFill>
          <a:ln w="6350">
            <a:solidFill>
              <a:srgbClr val="F2B84B">
                <a:alpha val="55000"/>
              </a:srgbClr>
            </a:solidFill>
            <a:prstDash val="solid"/>
          </a:ln>
        </p:spPr>
      </p:sp>
      <p:sp>
        <p:nvSpPr>
          <p:cNvPr id="9" name="Text 7"/>
          <p:cNvSpPr/>
          <p:nvPr/>
        </p:nvSpPr>
        <p:spPr>
          <a:xfrm>
            <a:off x="995680" y="2018348"/>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8F1F2"/>
                </a:solidFill>
                <a:latin typeface="Inter" pitchFamily="34" charset="0"/>
                <a:ea typeface="Inter" pitchFamily="34" charset="-122"/>
                <a:cs typeface="Inter" pitchFamily="34" charset="-120"/>
              </a:rPr>
              <a:t>07.2026 · Edel Finance</a:t>
            </a:r>
            <a:endParaRPr lang="en-US" sz="1500" dirty="0"/>
          </a:p>
        </p:txBody>
      </p:sp>
      <p:sp>
        <p:nvSpPr>
          <p:cNvPr id="10" name="Text 8"/>
          <p:cNvSpPr/>
          <p:nvPr/>
        </p:nvSpPr>
        <p:spPr>
          <a:xfrm>
            <a:off x="995680" y="2269173"/>
            <a:ext cx="248539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GOOGLx collateral (xStocks)</a:t>
            </a:r>
            <a:endParaRPr lang="en-US" sz="1200" dirty="0"/>
          </a:p>
        </p:txBody>
      </p:sp>
      <p:sp>
        <p:nvSpPr>
          <p:cNvPr id="11" name="Text 9"/>
          <p:cNvSpPr/>
          <p:nvPr/>
        </p:nvSpPr>
        <p:spPr>
          <a:xfrm>
            <a:off x="3561080" y="2011680"/>
            <a:ext cx="1701800" cy="27686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2B84B"/>
                </a:solidFill>
                <a:latin typeface="Inter" pitchFamily="34" charset="0"/>
                <a:ea typeface="Inter" pitchFamily="34" charset="-122"/>
                <a:cs typeface="Inter" pitchFamily="34" charset="-120"/>
              </a:rPr>
              <a:t>~$0.4M</a:t>
            </a:r>
            <a:endParaRPr lang="en-US" sz="1800" dirty="0"/>
          </a:p>
        </p:txBody>
      </p:sp>
      <p:sp>
        <p:nvSpPr>
          <p:cNvPr id="12" name="Text 10"/>
          <p:cNvSpPr/>
          <p:nvPr/>
        </p:nvSpPr>
        <p:spPr>
          <a:xfrm>
            <a:off x="3561080" y="2275841"/>
            <a:ext cx="1701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lost</a:t>
            </a:r>
            <a:endParaRPr lang="en-US" sz="1200" dirty="0"/>
          </a:p>
        </p:txBody>
      </p:sp>
      <p:sp>
        <p:nvSpPr>
          <p:cNvPr id="13" name="Text 11"/>
          <p:cNvSpPr/>
          <p:nvPr/>
        </p:nvSpPr>
        <p:spPr>
          <a:xfrm>
            <a:off x="5364480" y="2037080"/>
            <a:ext cx="353187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3D6"/>
                </a:solidFill>
                <a:latin typeface="Inter" pitchFamily="34" charset="0"/>
                <a:ea typeface="Inter" pitchFamily="34" charset="-122"/>
                <a:cs typeface="Inter" pitchFamily="34" charset="-120"/>
              </a:rPr>
              <a:t>Wrapper price pumped, collateral valued 78× too high. The Chainlink price was correct.</a:t>
            </a:r>
            <a:endParaRPr lang="en-US" sz="1200" dirty="0"/>
          </a:p>
        </p:txBody>
      </p:sp>
      <p:sp>
        <p:nvSpPr>
          <p:cNvPr id="14" name="Text 12"/>
          <p:cNvSpPr/>
          <p:nvPr/>
        </p:nvSpPr>
        <p:spPr>
          <a:xfrm>
            <a:off x="8945880" y="2037080"/>
            <a:ext cx="215836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CD8DF"/>
                </a:solidFill>
                <a:latin typeface="Inter" pitchFamily="34" charset="0"/>
                <a:ea typeface="Inter" pitchFamily="34" charset="-122"/>
                <a:cs typeface="Inter" pitchFamily="34" charset="-120"/>
              </a:rPr>
              <a:t>Collateral mark vs real DEX exit</a:t>
            </a:r>
            <a:endParaRPr lang="en-US" sz="1200" dirty="0"/>
          </a:p>
        </p:txBody>
      </p:sp>
      <p:sp>
        <p:nvSpPr>
          <p:cNvPr id="15" name="Shape 13"/>
          <p:cNvSpPr/>
          <p:nvPr/>
        </p:nvSpPr>
        <p:spPr>
          <a:xfrm>
            <a:off x="815975" y="2660016"/>
            <a:ext cx="10560050" cy="867410"/>
          </a:xfrm>
          <a:prstGeom prst="roundRect">
            <a:avLst>
              <a:gd name="adj" fmla="val 11347"/>
            </a:avLst>
          </a:prstGeom>
          <a:solidFill>
            <a:srgbClr val="0E151C">
              <a:alpha val="90000"/>
            </a:srgbClr>
          </a:solidFill>
          <a:ln w="6350">
            <a:solidFill>
              <a:srgbClr val="FFFFFF">
                <a:alpha val="10000"/>
              </a:srgbClr>
            </a:solidFill>
            <a:prstDash val="solid"/>
          </a:ln>
        </p:spPr>
      </p:sp>
      <p:sp>
        <p:nvSpPr>
          <p:cNvPr id="16" name="Text 14"/>
          <p:cNvSpPr/>
          <p:nvPr/>
        </p:nvSpPr>
        <p:spPr>
          <a:xfrm>
            <a:off x="995680" y="2869248"/>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8F1F2"/>
                </a:solidFill>
                <a:latin typeface="Inter" pitchFamily="34" charset="0"/>
                <a:ea typeface="Inter" pitchFamily="34" charset="-122"/>
                <a:cs typeface="Inter" pitchFamily="34" charset="-120"/>
              </a:rPr>
              <a:t>11.2025 · Stream xUSD</a:t>
            </a:r>
            <a:endParaRPr lang="en-US" sz="1500" dirty="0"/>
          </a:p>
        </p:txBody>
      </p:sp>
      <p:sp>
        <p:nvSpPr>
          <p:cNvPr id="17" name="Text 15"/>
          <p:cNvSpPr/>
          <p:nvPr/>
        </p:nvSpPr>
        <p:spPr>
          <a:xfrm>
            <a:off x="995680" y="3120073"/>
            <a:ext cx="248539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Morpho &amp; Euler curator vaults</a:t>
            </a:r>
            <a:endParaRPr lang="en-US" sz="1200" dirty="0"/>
          </a:p>
        </p:txBody>
      </p:sp>
      <p:sp>
        <p:nvSpPr>
          <p:cNvPr id="18" name="Text 16"/>
          <p:cNvSpPr/>
          <p:nvPr/>
        </p:nvSpPr>
        <p:spPr>
          <a:xfrm>
            <a:off x="3561080" y="2763520"/>
            <a:ext cx="1701800" cy="27686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2B84B"/>
                </a:solidFill>
                <a:latin typeface="Inter" pitchFamily="34" charset="0"/>
                <a:ea typeface="Inter" pitchFamily="34" charset="-122"/>
                <a:cs typeface="Inter" pitchFamily="34" charset="-120"/>
              </a:rPr>
              <a:t>$93M</a:t>
            </a:r>
            <a:endParaRPr lang="en-US" sz="1800" dirty="0"/>
          </a:p>
        </p:txBody>
      </p:sp>
      <p:sp>
        <p:nvSpPr>
          <p:cNvPr id="19" name="Text 17"/>
          <p:cNvSpPr/>
          <p:nvPr/>
        </p:nvSpPr>
        <p:spPr>
          <a:xfrm>
            <a:off x="3561080" y="3027680"/>
            <a:ext cx="17018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lost · ~$285M debt exposed</a:t>
            </a:r>
            <a:endParaRPr lang="en-US" sz="1200" dirty="0"/>
          </a:p>
        </p:txBody>
      </p:sp>
      <p:sp>
        <p:nvSpPr>
          <p:cNvPr id="20" name="Text 18"/>
          <p:cNvSpPr/>
          <p:nvPr/>
        </p:nvSpPr>
        <p:spPr>
          <a:xfrm>
            <a:off x="5364480" y="2887980"/>
            <a:ext cx="353187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3D6"/>
                </a:solidFill>
                <a:latin typeface="Inter" pitchFamily="34" charset="0"/>
                <a:ea typeface="Inter" pitchFamily="34" charset="-122"/>
                <a:cs typeface="Inter" pitchFamily="34" charset="-120"/>
              </a:rPr>
              <a:t>Collateral hard-coded at $1. The token fell 77% and liquidations never fired.</a:t>
            </a:r>
            <a:endParaRPr lang="en-US" sz="1200" dirty="0"/>
          </a:p>
        </p:txBody>
      </p:sp>
      <p:sp>
        <p:nvSpPr>
          <p:cNvPr id="21" name="Text 19"/>
          <p:cNvSpPr/>
          <p:nvPr/>
        </p:nvSpPr>
        <p:spPr>
          <a:xfrm>
            <a:off x="8945880" y="2887980"/>
            <a:ext cx="215836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CD8DF"/>
                </a:solidFill>
                <a:latin typeface="Inter" pitchFamily="34" charset="0"/>
                <a:ea typeface="Inter" pitchFamily="34" charset="-122"/>
                <a:cs typeface="Inter" pitchFamily="34" charset="-120"/>
              </a:rPr>
              <a:t>Curator limits from real liquidity</a:t>
            </a:r>
            <a:endParaRPr lang="en-US" sz="1200" dirty="0"/>
          </a:p>
        </p:txBody>
      </p:sp>
      <p:sp>
        <p:nvSpPr>
          <p:cNvPr id="22" name="Shape 20"/>
          <p:cNvSpPr/>
          <p:nvPr/>
        </p:nvSpPr>
        <p:spPr>
          <a:xfrm>
            <a:off x="815975" y="3609975"/>
            <a:ext cx="10560050" cy="669290"/>
          </a:xfrm>
          <a:prstGeom prst="roundRect">
            <a:avLst>
              <a:gd name="adj" fmla="val 14706"/>
            </a:avLst>
          </a:prstGeom>
          <a:solidFill>
            <a:srgbClr val="0E151C">
              <a:alpha val="90000"/>
            </a:srgbClr>
          </a:solidFill>
          <a:ln w="6350">
            <a:solidFill>
              <a:srgbClr val="FFFFFF">
                <a:alpha val="10000"/>
              </a:srgbClr>
            </a:solidFill>
            <a:prstDash val="solid"/>
          </a:ln>
        </p:spPr>
      </p:sp>
      <p:sp>
        <p:nvSpPr>
          <p:cNvPr id="23" name="Text 21"/>
          <p:cNvSpPr/>
          <p:nvPr/>
        </p:nvSpPr>
        <p:spPr>
          <a:xfrm>
            <a:off x="995680" y="3720148"/>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8F1F2"/>
                </a:solidFill>
                <a:latin typeface="Inter" pitchFamily="34" charset="0"/>
                <a:ea typeface="Inter" pitchFamily="34" charset="-122"/>
                <a:cs typeface="Inter" pitchFamily="34" charset="-120"/>
              </a:rPr>
              <a:t>11.2022 · Aave</a:t>
            </a:r>
            <a:endParaRPr lang="en-US" sz="1500" dirty="0"/>
          </a:p>
        </p:txBody>
      </p:sp>
      <p:sp>
        <p:nvSpPr>
          <p:cNvPr id="24" name="Text 22"/>
          <p:cNvSpPr/>
          <p:nvPr/>
        </p:nvSpPr>
        <p:spPr>
          <a:xfrm>
            <a:off x="995680" y="3970973"/>
            <a:ext cx="248539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CRV collateral and debt</a:t>
            </a:r>
            <a:endParaRPr lang="en-US" sz="1200" dirty="0"/>
          </a:p>
        </p:txBody>
      </p:sp>
      <p:sp>
        <p:nvSpPr>
          <p:cNvPr id="25" name="Text 23"/>
          <p:cNvSpPr/>
          <p:nvPr/>
        </p:nvSpPr>
        <p:spPr>
          <a:xfrm>
            <a:off x="3561080" y="3713480"/>
            <a:ext cx="1701800" cy="27686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2B84B"/>
                </a:solidFill>
                <a:latin typeface="Inter" pitchFamily="34" charset="0"/>
                <a:ea typeface="Inter" pitchFamily="34" charset="-122"/>
                <a:cs typeface="Inter" pitchFamily="34" charset="-120"/>
              </a:rPr>
              <a:t>~$1.6M</a:t>
            </a:r>
            <a:endParaRPr lang="en-US" sz="1800" dirty="0"/>
          </a:p>
        </p:txBody>
      </p:sp>
      <p:sp>
        <p:nvSpPr>
          <p:cNvPr id="26" name="Text 24"/>
          <p:cNvSpPr/>
          <p:nvPr/>
        </p:nvSpPr>
        <p:spPr>
          <a:xfrm>
            <a:off x="3561080" y="3977641"/>
            <a:ext cx="1701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bad debt</a:t>
            </a:r>
            <a:endParaRPr lang="en-US" sz="1200" dirty="0"/>
          </a:p>
        </p:txBody>
      </p:sp>
      <p:sp>
        <p:nvSpPr>
          <p:cNvPr id="27" name="Text 25"/>
          <p:cNvSpPr/>
          <p:nvPr/>
        </p:nvSpPr>
        <p:spPr>
          <a:xfrm>
            <a:off x="5364480" y="3738880"/>
            <a:ext cx="353187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3D6"/>
                </a:solidFill>
                <a:latin typeface="Inter" pitchFamily="34" charset="0"/>
                <a:ea typeface="Inter" pitchFamily="34" charset="-122"/>
                <a:cs typeface="Inter" pitchFamily="34" charset="-120"/>
              </a:rPr>
              <a:t>Position bigger than the market could absorb. Liquidators could not sell in time.</a:t>
            </a:r>
            <a:endParaRPr lang="en-US" sz="1200" dirty="0"/>
          </a:p>
        </p:txBody>
      </p:sp>
      <p:sp>
        <p:nvSpPr>
          <p:cNvPr id="28" name="Text 26"/>
          <p:cNvSpPr/>
          <p:nvPr/>
        </p:nvSpPr>
        <p:spPr>
          <a:xfrm>
            <a:off x="8945880" y="3738880"/>
            <a:ext cx="215836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CD8DF"/>
                </a:solidFill>
                <a:latin typeface="Inter" pitchFamily="34" charset="0"/>
                <a:ea typeface="Inter" pitchFamily="34" charset="-122"/>
                <a:cs typeface="Inter" pitchFamily="34" charset="-120"/>
              </a:rPr>
              <a:t>Liquidation capacity vs position size</a:t>
            </a:r>
            <a:endParaRPr lang="en-US" sz="1200" dirty="0"/>
          </a:p>
        </p:txBody>
      </p:sp>
      <p:sp>
        <p:nvSpPr>
          <p:cNvPr id="29" name="Shape 27"/>
          <p:cNvSpPr/>
          <p:nvPr/>
        </p:nvSpPr>
        <p:spPr>
          <a:xfrm>
            <a:off x="815975" y="4361816"/>
            <a:ext cx="10560050" cy="669290"/>
          </a:xfrm>
          <a:prstGeom prst="roundRect">
            <a:avLst>
              <a:gd name="adj" fmla="val 14706"/>
            </a:avLst>
          </a:prstGeom>
          <a:solidFill>
            <a:srgbClr val="0E151C">
              <a:alpha val="90000"/>
            </a:srgbClr>
          </a:solidFill>
          <a:ln w="6350">
            <a:solidFill>
              <a:srgbClr val="FFFFFF">
                <a:alpha val="10000"/>
              </a:srgbClr>
            </a:solidFill>
            <a:prstDash val="solid"/>
          </a:ln>
        </p:spPr>
      </p:sp>
      <p:sp>
        <p:nvSpPr>
          <p:cNvPr id="30" name="Text 28"/>
          <p:cNvSpPr/>
          <p:nvPr/>
        </p:nvSpPr>
        <p:spPr>
          <a:xfrm>
            <a:off x="995680" y="4471988"/>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8F1F2"/>
                </a:solidFill>
                <a:latin typeface="Inter" pitchFamily="34" charset="0"/>
                <a:ea typeface="Inter" pitchFamily="34" charset="-122"/>
                <a:cs typeface="Inter" pitchFamily="34" charset="-120"/>
              </a:rPr>
              <a:t>10.2022 · Mango Markets</a:t>
            </a:r>
            <a:endParaRPr lang="en-US" sz="1500" dirty="0"/>
          </a:p>
        </p:txBody>
      </p:sp>
      <p:sp>
        <p:nvSpPr>
          <p:cNvPr id="31" name="Text 29"/>
          <p:cNvSpPr/>
          <p:nvPr/>
        </p:nvSpPr>
        <p:spPr>
          <a:xfrm>
            <a:off x="995680" y="4722813"/>
            <a:ext cx="248539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Solana</a:t>
            </a:r>
            <a:endParaRPr lang="en-US" sz="1200" dirty="0"/>
          </a:p>
        </p:txBody>
      </p:sp>
      <p:sp>
        <p:nvSpPr>
          <p:cNvPr id="32" name="Text 30"/>
          <p:cNvSpPr/>
          <p:nvPr/>
        </p:nvSpPr>
        <p:spPr>
          <a:xfrm>
            <a:off x="3561080" y="4465320"/>
            <a:ext cx="1701800" cy="27686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2B84B"/>
                </a:solidFill>
                <a:latin typeface="Inter" pitchFamily="34" charset="0"/>
                <a:ea typeface="Inter" pitchFamily="34" charset="-122"/>
                <a:cs typeface="Inter" pitchFamily="34" charset="-120"/>
              </a:rPr>
              <a:t>&gt;$110M</a:t>
            </a:r>
            <a:endParaRPr lang="en-US" sz="1800" dirty="0"/>
          </a:p>
        </p:txBody>
      </p:sp>
      <p:sp>
        <p:nvSpPr>
          <p:cNvPr id="33" name="Text 31"/>
          <p:cNvSpPr/>
          <p:nvPr/>
        </p:nvSpPr>
        <p:spPr>
          <a:xfrm>
            <a:off x="3561080" y="4729480"/>
            <a:ext cx="1701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drained</a:t>
            </a:r>
            <a:endParaRPr lang="en-US" sz="1200" dirty="0"/>
          </a:p>
        </p:txBody>
      </p:sp>
      <p:sp>
        <p:nvSpPr>
          <p:cNvPr id="34" name="Text 32"/>
          <p:cNvSpPr/>
          <p:nvPr/>
        </p:nvSpPr>
        <p:spPr>
          <a:xfrm>
            <a:off x="5364480" y="4490720"/>
            <a:ext cx="353187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3D6"/>
                </a:solidFill>
                <a:latin typeface="Inter" pitchFamily="34" charset="0"/>
                <a:ea typeface="Inter" pitchFamily="34" charset="-122"/>
                <a:cs typeface="Inter" pitchFamily="34" charset="-120"/>
              </a:rPr>
              <a:t>A thin MNGO market let the attacker pump the collateral and borrow everything.</a:t>
            </a:r>
            <a:endParaRPr lang="en-US" sz="1200" dirty="0"/>
          </a:p>
        </p:txBody>
      </p:sp>
      <p:sp>
        <p:nvSpPr>
          <p:cNvPr id="35" name="Text 33"/>
          <p:cNvSpPr/>
          <p:nvPr/>
        </p:nvSpPr>
        <p:spPr>
          <a:xfrm>
            <a:off x="8945880" y="4490720"/>
            <a:ext cx="215836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CD8DF"/>
                </a:solidFill>
                <a:latin typeface="Inter" pitchFamily="34" charset="0"/>
                <a:ea typeface="Inter" pitchFamily="34" charset="-122"/>
                <a:cs typeface="Inter" pitchFamily="34" charset="-120"/>
              </a:rPr>
              <a:t>Marks capped by what the market pays</a:t>
            </a:r>
            <a:endParaRPr lang="en-US" sz="1200" dirty="0"/>
          </a:p>
        </p:txBody>
      </p:sp>
      <p:sp>
        <p:nvSpPr>
          <p:cNvPr id="36" name="Shape 34"/>
          <p:cNvSpPr/>
          <p:nvPr/>
        </p:nvSpPr>
        <p:spPr>
          <a:xfrm>
            <a:off x="815975" y="5113655"/>
            <a:ext cx="10560050" cy="824230"/>
          </a:xfrm>
          <a:prstGeom prst="roundRect">
            <a:avLst>
              <a:gd name="adj" fmla="val 11941"/>
            </a:avLst>
          </a:prstGeom>
          <a:solidFill>
            <a:srgbClr val="0E151C">
              <a:alpha val="90000"/>
            </a:srgbClr>
          </a:solidFill>
          <a:ln w="6350">
            <a:solidFill>
              <a:srgbClr val="FFFFFF">
                <a:alpha val="10000"/>
              </a:srgbClr>
            </a:solidFill>
            <a:prstDash val="solid"/>
          </a:ln>
        </p:spPr>
      </p:sp>
      <p:sp>
        <p:nvSpPr>
          <p:cNvPr id="37" name="Text 35"/>
          <p:cNvSpPr/>
          <p:nvPr/>
        </p:nvSpPr>
        <p:spPr>
          <a:xfrm>
            <a:off x="995680" y="5301298"/>
            <a:ext cx="24853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8F1F2"/>
                </a:solidFill>
                <a:latin typeface="Inter" pitchFamily="34" charset="0"/>
                <a:ea typeface="Inter" pitchFamily="34" charset="-122"/>
                <a:cs typeface="Inter" pitchFamily="34" charset="-120"/>
              </a:rPr>
              <a:t>06.2022 · Solend</a:t>
            </a:r>
            <a:endParaRPr lang="en-US" sz="1500" dirty="0"/>
          </a:p>
        </p:txBody>
      </p:sp>
      <p:sp>
        <p:nvSpPr>
          <p:cNvPr id="38" name="Text 36"/>
          <p:cNvSpPr/>
          <p:nvPr/>
        </p:nvSpPr>
        <p:spPr>
          <a:xfrm>
            <a:off x="995680" y="5552123"/>
            <a:ext cx="248539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Solana · one whale</a:t>
            </a:r>
            <a:endParaRPr lang="en-US" sz="1200" dirty="0"/>
          </a:p>
        </p:txBody>
      </p:sp>
      <p:sp>
        <p:nvSpPr>
          <p:cNvPr id="39" name="Text 37"/>
          <p:cNvSpPr/>
          <p:nvPr/>
        </p:nvSpPr>
        <p:spPr>
          <a:xfrm>
            <a:off x="3561080" y="5294630"/>
            <a:ext cx="1701800" cy="27686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2B84B"/>
                </a:solidFill>
                <a:latin typeface="Inter" pitchFamily="34" charset="0"/>
                <a:ea typeface="Inter" pitchFamily="34" charset="-122"/>
                <a:cs typeface="Inter" pitchFamily="34" charset="-120"/>
              </a:rPr>
              <a:t>$108M</a:t>
            </a:r>
            <a:endParaRPr lang="en-US" sz="1800" dirty="0"/>
          </a:p>
        </p:txBody>
      </p:sp>
      <p:sp>
        <p:nvSpPr>
          <p:cNvPr id="40" name="Text 38"/>
          <p:cNvSpPr/>
          <p:nvPr/>
        </p:nvSpPr>
        <p:spPr>
          <a:xfrm>
            <a:off x="3561080" y="5558791"/>
            <a:ext cx="1701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loan</a:t>
            </a:r>
            <a:endParaRPr lang="en-US" sz="1200" dirty="0"/>
          </a:p>
        </p:txBody>
      </p:sp>
      <p:sp>
        <p:nvSpPr>
          <p:cNvPr id="41" name="Text 39"/>
          <p:cNvSpPr/>
          <p:nvPr/>
        </p:nvSpPr>
        <p:spPr>
          <a:xfrm>
            <a:off x="5364480" y="5217161"/>
            <a:ext cx="353187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3D6"/>
                </a:solidFill>
                <a:latin typeface="Inter" pitchFamily="34" charset="0"/>
                <a:ea typeface="Inter" pitchFamily="34" charset="-122"/>
                <a:cs typeface="Inter" pitchFamily="34" charset="-120"/>
              </a:rPr>
              <a:t>~$21M of SOL to liquidate, more than Solana DEXes could take. Account seized by emergency vote.</a:t>
            </a:r>
            <a:endParaRPr lang="en-US" sz="1200" dirty="0"/>
          </a:p>
        </p:txBody>
      </p:sp>
      <p:sp>
        <p:nvSpPr>
          <p:cNvPr id="42" name="Text 40"/>
          <p:cNvSpPr/>
          <p:nvPr/>
        </p:nvSpPr>
        <p:spPr>
          <a:xfrm>
            <a:off x="8945880" y="5320030"/>
            <a:ext cx="215836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CD8DF"/>
                </a:solidFill>
                <a:latin typeface="Inter" pitchFamily="34" charset="0"/>
                <a:ea typeface="Inter" pitchFamily="34" charset="-122"/>
                <a:cs typeface="Inter" pitchFamily="34" charset="-120"/>
              </a:rPr>
              <a:t>Position and pool limits from exit liquidity</a:t>
            </a:r>
            <a:endParaRPr lang="en-US" sz="1200" dirty="0"/>
          </a:p>
        </p:txBody>
      </p:sp>
      <p:sp>
        <p:nvSpPr>
          <p:cNvPr id="43" name="Text 41"/>
          <p:cNvSpPr/>
          <p:nvPr/>
        </p:nvSpPr>
        <p:spPr>
          <a:xfrm>
            <a:off x="812800" y="59690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Common thread: the protocol trusted a price, the market paid far less. Sources: CoinDesk, CryptoSlate (Edel); Pharos, Tiger Research (Stream); The Defiant, Blockworks (Aave CRV); CoinDesk, Cointelegraph (Mango); Decrypt (Solend).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8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1838"/>
              </a:gs>
              <a:gs pos="50000">
                <a:srgbClr val="0B0E14"/>
              </a:gs>
              <a:gs pos="100000">
                <a:srgbClr val="070B12"/>
              </a:gs>
            </a:gsLst>
            <a:path path="circle">
              <a:fillToRect l="14000" t="86000" r="86000" b="14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Allowed debt: 4.5× what the chain repays</a:t>
            </a:r>
            <a:endParaRPr lang="en-US" sz="3600" dirty="0"/>
          </a:p>
        </p:txBody>
      </p:sp>
      <p:sp>
        <p:nvSpPr>
          <p:cNvPr id="4" name="Shape 2"/>
          <p:cNvSpPr/>
          <p:nvPr/>
        </p:nvSpPr>
        <p:spPr>
          <a:xfrm>
            <a:off x="815975" y="1908175"/>
            <a:ext cx="3803650" cy="1626870"/>
          </a:xfrm>
          <a:prstGeom prst="roundRect">
            <a:avLst>
              <a:gd name="adj" fmla="val 9173"/>
            </a:avLst>
          </a:prstGeom>
          <a:solidFill>
            <a:srgbClr val="0E151C">
              <a:alpha val="90000"/>
            </a:srgbClr>
          </a:solidFill>
          <a:ln w="6350">
            <a:solidFill>
              <a:srgbClr val="F2B84B">
                <a:alpha val="45000"/>
              </a:srgbClr>
            </a:solidFill>
            <a:prstDash val="solid"/>
          </a:ln>
        </p:spPr>
      </p:sp>
      <p:sp>
        <p:nvSpPr>
          <p:cNvPr id="5" name="Text 3"/>
          <p:cNvSpPr/>
          <p:nvPr/>
        </p:nvSpPr>
        <p:spPr>
          <a:xfrm>
            <a:off x="1071880" y="2138680"/>
            <a:ext cx="339059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F2B84B"/>
                </a:solidFill>
                <a:latin typeface="Inter" pitchFamily="34" charset="0"/>
                <a:ea typeface="Inter" pitchFamily="34" charset="-122"/>
                <a:cs typeface="Inter" pitchFamily="34" charset="-120"/>
              </a:rPr>
              <a:t>$34.8M</a:t>
            </a:r>
            <a:endParaRPr lang="en-US" sz="4800" dirty="0"/>
          </a:p>
        </p:txBody>
      </p:sp>
      <p:sp>
        <p:nvSpPr>
          <p:cNvPr id="6" name="Text 4"/>
          <p:cNvSpPr/>
          <p:nvPr/>
        </p:nvSpPr>
        <p:spPr>
          <a:xfrm>
            <a:off x="1071880" y="2824480"/>
            <a:ext cx="339059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debt Kamino's rules allow against 9 xStocks at full deposit caps</a:t>
            </a:r>
            <a:endParaRPr lang="en-US" sz="1400" dirty="0"/>
          </a:p>
        </p:txBody>
      </p:sp>
      <p:sp>
        <p:nvSpPr>
          <p:cNvPr id="7" name="Shape 5"/>
          <p:cNvSpPr/>
          <p:nvPr/>
        </p:nvSpPr>
        <p:spPr>
          <a:xfrm>
            <a:off x="815975" y="3693795"/>
            <a:ext cx="3803650" cy="1626870"/>
          </a:xfrm>
          <a:prstGeom prst="roundRect">
            <a:avLst>
              <a:gd name="adj" fmla="val 9173"/>
            </a:avLst>
          </a:prstGeom>
          <a:solidFill>
            <a:srgbClr val="0E151C">
              <a:alpha val="90000"/>
            </a:srgbClr>
          </a:solidFill>
          <a:ln w="6350">
            <a:solidFill>
              <a:srgbClr val="2CD8DF">
                <a:alpha val="35000"/>
              </a:srgbClr>
            </a:solidFill>
            <a:prstDash val="solid"/>
          </a:ln>
        </p:spPr>
      </p:sp>
      <p:sp>
        <p:nvSpPr>
          <p:cNvPr id="8" name="Text 6"/>
          <p:cNvSpPr/>
          <p:nvPr/>
        </p:nvSpPr>
        <p:spPr>
          <a:xfrm>
            <a:off x="1071880" y="3924300"/>
            <a:ext cx="339059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2CD8DF"/>
                </a:solidFill>
                <a:latin typeface="Inter" pitchFamily="34" charset="0"/>
                <a:ea typeface="Inter" pitchFamily="34" charset="-122"/>
                <a:cs typeface="Inter" pitchFamily="34" charset="-120"/>
              </a:rPr>
              <a:t>$7.8M</a:t>
            </a:r>
            <a:endParaRPr lang="en-US" sz="4800" dirty="0"/>
          </a:p>
        </p:txBody>
      </p:sp>
      <p:sp>
        <p:nvSpPr>
          <p:cNvPr id="9" name="Text 7"/>
          <p:cNvSpPr/>
          <p:nvPr/>
        </p:nvSpPr>
        <p:spPr>
          <a:xfrm>
            <a:off x="1071880" y="4610100"/>
            <a:ext cx="339059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what the on-chain market pays for all of that collateral</a:t>
            </a:r>
            <a:endParaRPr lang="en-US" sz="1400" dirty="0"/>
          </a:p>
        </p:txBody>
      </p:sp>
      <p:sp>
        <p:nvSpPr>
          <p:cNvPr id="10" name="Text 8"/>
          <p:cNvSpPr/>
          <p:nvPr/>
        </p:nvSpPr>
        <p:spPr>
          <a:xfrm>
            <a:off x="5029200" y="1663700"/>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EXIT BOOK ÷ DEBT ALLOWED ON TODAY'S DEPOSITS</a:t>
            </a:r>
            <a:endParaRPr lang="en-US" sz="1200" dirty="0"/>
          </a:p>
        </p:txBody>
      </p:sp>
      <p:pic>
        <p:nvPicPr>
          <p:cNvPr id="11" name="Image 0" descr="On-chain exit book as a share of the debt Kamino allows, per xStock">    </p:cNvPr>
          <p:cNvPicPr>
            <a:picLocks noChangeAspect="1"/>
          </p:cNvPicPr>
          <p:nvPr/>
        </p:nvPicPr>
        <p:blipFill>
          <a:blip r:embed="rId1"/>
          <a:srcRect l="0" r="0" t="0" b="0"/>
          <a:stretch/>
        </p:blipFill>
        <p:spPr>
          <a:xfrm>
            <a:off x="5029200" y="1905000"/>
            <a:ext cx="6350000" cy="3810000"/>
          </a:xfrm>
          <a:prstGeom prst="rect">
            <a:avLst/>
          </a:prstGeom>
        </p:spPr>
      </p:pic>
      <p:sp>
        <p:nvSpPr>
          <p:cNvPr id="12" name="Text 9"/>
          <p:cNvSpPr/>
          <p:nvPr/>
        </p:nvSpPr>
        <p:spPr>
          <a:xfrm>
            <a:off x="812800" y="59690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Kamino API + Jupiter quotes, 26.09.2026. 5 of 9 assets: the market cannot repay the debt the rules allow. Exit book = total USDC from selling into Jupiter routes at once. HOODx large sizes partly unquoted (lower bound).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Safe today. One asset already is not.</a:t>
            </a:r>
            <a:endParaRPr lang="en-US" sz="3600" dirty="0"/>
          </a:p>
        </p:txBody>
      </p:sp>
      <p:sp>
        <p:nvSpPr>
          <p:cNvPr id="4" name="Shape 2"/>
          <p:cNvSpPr/>
          <p:nvPr/>
        </p:nvSpPr>
        <p:spPr>
          <a:xfrm>
            <a:off x="815975" y="1704975"/>
            <a:ext cx="3380264" cy="1778000"/>
          </a:xfrm>
          <a:prstGeom prst="roundRect">
            <a:avLst>
              <a:gd name="adj" fmla="val 8393"/>
            </a:avLst>
          </a:prstGeom>
          <a:solidFill>
            <a:srgbClr val="0E151C">
              <a:alpha val="90000"/>
            </a:srgbClr>
          </a:solidFill>
          <a:ln w="6350">
            <a:solidFill>
              <a:srgbClr val="FFFFFF">
                <a:alpha val="12000"/>
              </a:srgbClr>
            </a:solidFill>
            <a:prstDash val="solid"/>
          </a:ln>
        </p:spPr>
      </p:sp>
      <p:sp>
        <p:nvSpPr>
          <p:cNvPr id="5" name="Text 3"/>
          <p:cNvSpPr/>
          <p:nvPr/>
        </p:nvSpPr>
        <p:spPr>
          <a:xfrm>
            <a:off x="1071880" y="1935482"/>
            <a:ext cx="2954507" cy="533400"/>
          </a:xfrm>
          <a:prstGeom prst="rect">
            <a:avLst/>
          </a:prstGeom>
          <a:noFill/>
          <a:ln/>
        </p:spPr>
        <p:txBody>
          <a:bodyPr wrap="square" lIns="0" tIns="0" rIns="0" bIns="0" rtlCol="0" anchor="t">
            <a:normAutofit/>
          </a:bodyPr>
          <a:lstStyle/>
          <a:p>
            <a:pPr algn="l" indent="0" marL="0">
              <a:lnSpc>
                <a:spcPts val="4000"/>
              </a:lnSpc>
              <a:buNone/>
            </a:pPr>
            <a:r>
              <a:rPr lang="en-US" sz="4000" b="1" spc="-100" kern="0" dirty="0">
                <a:solidFill>
                  <a:srgbClr val="E8F1F2"/>
                </a:solidFill>
                <a:latin typeface="Inter" pitchFamily="34" charset="0"/>
                <a:ea typeface="Inter" pitchFamily="34" charset="-122"/>
                <a:cs typeface="Inter" pitchFamily="34" charset="-120"/>
              </a:rPr>
              <a:t>$5.1M</a:t>
            </a:r>
            <a:endParaRPr lang="en-US" sz="4000" dirty="0"/>
          </a:p>
        </p:txBody>
      </p:sp>
      <p:sp>
        <p:nvSpPr>
          <p:cNvPr id="6" name="Text 4"/>
          <p:cNvSpPr/>
          <p:nvPr/>
        </p:nvSpPr>
        <p:spPr>
          <a:xfrm>
            <a:off x="1071880" y="2532382"/>
            <a:ext cx="2954507"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borrowed in 1,424 positions. We read all 7,040 accounts of the market.</a:t>
            </a:r>
            <a:endParaRPr lang="en-US" sz="1400" dirty="0"/>
          </a:p>
        </p:txBody>
      </p:sp>
      <p:sp>
        <p:nvSpPr>
          <p:cNvPr id="7" name="Shape 5"/>
          <p:cNvSpPr/>
          <p:nvPr/>
        </p:nvSpPr>
        <p:spPr>
          <a:xfrm>
            <a:off x="4405789" y="1704975"/>
            <a:ext cx="3380343" cy="1778000"/>
          </a:xfrm>
          <a:prstGeom prst="roundRect">
            <a:avLst>
              <a:gd name="adj" fmla="val 8393"/>
            </a:avLst>
          </a:prstGeom>
          <a:solidFill>
            <a:srgbClr val="0E151C">
              <a:alpha val="90000"/>
            </a:srgbClr>
          </a:solidFill>
          <a:ln w="6350">
            <a:solidFill>
              <a:srgbClr val="3DDC97">
                <a:alpha val="40000"/>
              </a:srgbClr>
            </a:solidFill>
            <a:prstDash val="solid"/>
          </a:ln>
        </p:spPr>
      </p:sp>
      <p:sp>
        <p:nvSpPr>
          <p:cNvPr id="8" name="Text 6"/>
          <p:cNvSpPr/>
          <p:nvPr/>
        </p:nvSpPr>
        <p:spPr>
          <a:xfrm>
            <a:off x="4661694" y="1935482"/>
            <a:ext cx="2954589" cy="533400"/>
          </a:xfrm>
          <a:prstGeom prst="rect">
            <a:avLst/>
          </a:prstGeom>
          <a:noFill/>
          <a:ln/>
        </p:spPr>
        <p:txBody>
          <a:bodyPr wrap="square" lIns="0" tIns="0" rIns="0" bIns="0" rtlCol="0" anchor="t">
            <a:normAutofit/>
          </a:bodyPr>
          <a:lstStyle/>
          <a:p>
            <a:pPr algn="l" indent="0" marL="0">
              <a:lnSpc>
                <a:spcPts val="4000"/>
              </a:lnSpc>
              <a:buNone/>
            </a:pPr>
            <a:r>
              <a:rPr lang="en-US" sz="4000" b="1" spc="-100" kern="0" dirty="0">
                <a:solidFill>
                  <a:srgbClr val="3DDC97"/>
                </a:solidFill>
                <a:latin typeface="Inter" pitchFamily="34" charset="0"/>
                <a:ea typeface="Inter" pitchFamily="34" charset="-122"/>
                <a:cs typeface="Inter" pitchFamily="34" charset="-120"/>
              </a:rPr>
              <a:t>59%</a:t>
            </a:r>
            <a:endParaRPr lang="en-US" sz="4000" dirty="0"/>
          </a:p>
        </p:txBody>
      </p:sp>
      <p:sp>
        <p:nvSpPr>
          <p:cNvPr id="9" name="Text 7"/>
          <p:cNvSpPr/>
          <p:nvPr/>
        </p:nvSpPr>
        <p:spPr>
          <a:xfrm>
            <a:off x="4661694" y="2532382"/>
            <a:ext cx="2954589"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of that debt needs a drop of more than 30% to be liquidated. Borrowers are careful.</a:t>
            </a:r>
            <a:endParaRPr lang="en-US" sz="1400" dirty="0"/>
          </a:p>
        </p:txBody>
      </p:sp>
      <p:sp>
        <p:nvSpPr>
          <p:cNvPr id="10" name="Shape 8"/>
          <p:cNvSpPr/>
          <p:nvPr/>
        </p:nvSpPr>
        <p:spPr>
          <a:xfrm>
            <a:off x="7995682" y="1704975"/>
            <a:ext cx="3380343" cy="1778000"/>
          </a:xfrm>
          <a:prstGeom prst="roundRect">
            <a:avLst>
              <a:gd name="adj" fmla="val 8393"/>
            </a:avLst>
          </a:prstGeom>
          <a:solidFill>
            <a:srgbClr val="0E151C">
              <a:alpha val="90000"/>
            </a:srgbClr>
          </a:solidFill>
          <a:ln w="6350">
            <a:solidFill>
              <a:srgbClr val="F2B84B">
                <a:alpha val="45000"/>
              </a:srgbClr>
            </a:solidFill>
            <a:prstDash val="solid"/>
          </a:ln>
        </p:spPr>
      </p:sp>
      <p:sp>
        <p:nvSpPr>
          <p:cNvPr id="11" name="Text 9"/>
          <p:cNvSpPr/>
          <p:nvPr/>
        </p:nvSpPr>
        <p:spPr>
          <a:xfrm>
            <a:off x="8251587" y="1935482"/>
            <a:ext cx="2954589" cy="533400"/>
          </a:xfrm>
          <a:prstGeom prst="rect">
            <a:avLst/>
          </a:prstGeom>
          <a:noFill/>
          <a:ln/>
        </p:spPr>
        <p:txBody>
          <a:bodyPr wrap="square" lIns="0" tIns="0" rIns="0" bIns="0" rtlCol="0" anchor="t">
            <a:normAutofit/>
          </a:bodyPr>
          <a:lstStyle/>
          <a:p>
            <a:pPr algn="l" indent="0" marL="0">
              <a:lnSpc>
                <a:spcPts val="4000"/>
              </a:lnSpc>
              <a:buNone/>
            </a:pPr>
            <a:r>
              <a:rPr lang="en-US" sz="4000" b="1" spc="-100" kern="0" dirty="0">
                <a:solidFill>
                  <a:srgbClr val="F2B84B"/>
                </a:solidFill>
                <a:latin typeface="Inter" pitchFamily="34" charset="0"/>
                <a:ea typeface="Inter" pitchFamily="34" charset="-122"/>
                <a:cs typeface="Inter" pitchFamily="34" charset="-120"/>
              </a:rPr>
              <a:t>−$197k</a:t>
            </a:r>
            <a:endParaRPr lang="en-US" sz="4000" dirty="0"/>
          </a:p>
        </p:txBody>
      </p:sp>
      <p:sp>
        <p:nvSpPr>
          <p:cNvPr id="12" name="Text 10"/>
          <p:cNvSpPr/>
          <p:nvPr/>
        </p:nvSpPr>
        <p:spPr>
          <a:xfrm>
            <a:off x="8251587" y="2532382"/>
            <a:ext cx="2954589"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liquidator result if all xStocks fall 30% together. Liquidations stall.</a:t>
            </a:r>
            <a:endParaRPr lang="en-US" sz="1400" dirty="0"/>
          </a:p>
        </p:txBody>
      </p:sp>
      <p:sp>
        <p:nvSpPr>
          <p:cNvPr id="13" name="Shape 11"/>
          <p:cNvSpPr/>
          <p:nvPr/>
        </p:nvSpPr>
        <p:spPr>
          <a:xfrm>
            <a:off x="815975" y="4244975"/>
            <a:ext cx="10560050" cy="1458595"/>
          </a:xfrm>
          <a:prstGeom prst="roundRect">
            <a:avLst>
              <a:gd name="adj" fmla="val 10231"/>
            </a:avLst>
          </a:prstGeom>
          <a:solidFill>
            <a:srgbClr val="281E0C">
              <a:alpha val="90000"/>
            </a:srgbClr>
          </a:solidFill>
          <a:ln w="6350">
            <a:solidFill>
              <a:srgbClr val="F2B84B">
                <a:alpha val="55000"/>
              </a:srgbClr>
            </a:solidFill>
            <a:prstDash val="solid"/>
          </a:ln>
          <a:effectLst>
            <a:outerShdw sx="100000" sy="100000" kx="0" ky="0" algn="bl" rotWithShape="0" blurRad="406400" dist="0" dir="60000">
              <a:srgbClr val="F2B84B">
                <a:alpha val="12000"/>
              </a:srgbClr>
            </a:outerShdw>
          </a:effectLst>
        </p:spPr>
      </p:sp>
      <p:sp>
        <p:nvSpPr>
          <p:cNvPr id="14" name="Text 12"/>
          <p:cNvSpPr/>
          <p:nvPr/>
        </p:nvSpPr>
        <p:spPr>
          <a:xfrm>
            <a:off x="1071880" y="4450082"/>
            <a:ext cx="647771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84B"/>
                </a:solidFill>
                <a:latin typeface="Inter" pitchFamily="34" charset="0"/>
                <a:ea typeface="Inter" pitchFamily="34" charset="-122"/>
                <a:cs typeface="Inter" pitchFamily="34" charset="-120"/>
              </a:rPr>
              <a:t>GOOGLx · RISK ALREADY TODAY</a:t>
            </a:r>
            <a:endParaRPr lang="en-US" sz="1200" dirty="0"/>
          </a:p>
        </p:txBody>
      </p:sp>
      <p:sp>
        <p:nvSpPr>
          <p:cNvPr id="15" name="Text 13"/>
          <p:cNvSpPr/>
          <p:nvPr/>
        </p:nvSpPr>
        <p:spPr>
          <a:xfrm>
            <a:off x="1071880" y="4726939"/>
            <a:ext cx="647771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8F1F2"/>
                </a:solidFill>
                <a:latin typeface="Inter" pitchFamily="34" charset="0"/>
                <a:ea typeface="Inter" pitchFamily="34" charset="-122"/>
                <a:cs typeface="Inter" pitchFamily="34" charset="-120"/>
              </a:rPr>
              <a:t>$0.91M of debt, but the on-chain book takes ~751 tokens. At −20% liquidators lose money, at −30% bad debt. Same asset as the Edel exploit.</a:t>
            </a:r>
            <a:endParaRPr lang="en-US" sz="1500" dirty="0"/>
          </a:p>
        </p:txBody>
      </p:sp>
      <p:sp>
        <p:nvSpPr>
          <p:cNvPr id="16" name="Shape 14"/>
          <p:cNvSpPr/>
          <p:nvPr/>
        </p:nvSpPr>
        <p:spPr>
          <a:xfrm>
            <a:off x="7614920" y="4604702"/>
            <a:ext cx="1117600" cy="739140"/>
          </a:xfrm>
          <a:prstGeom prst="roundRect">
            <a:avLst>
              <a:gd name="adj" fmla="val 12027"/>
            </a:avLst>
          </a:prstGeom>
          <a:solidFill>
            <a:srgbClr val="06080C">
              <a:alpha val="60000"/>
            </a:srgbClr>
          </a:solidFill>
          <a:ln/>
        </p:spPr>
      </p:sp>
      <p:sp>
        <p:nvSpPr>
          <p:cNvPr id="17" name="Text 15"/>
          <p:cNvSpPr/>
          <p:nvPr/>
        </p:nvSpPr>
        <p:spPr>
          <a:xfrm>
            <a:off x="7969409" y="4706302"/>
            <a:ext cx="4594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−10%</a:t>
            </a:r>
            <a:endParaRPr lang="en-US" sz="1200" dirty="0"/>
          </a:p>
        </p:txBody>
      </p:sp>
      <p:sp>
        <p:nvSpPr>
          <p:cNvPr id="18" name="Text 16"/>
          <p:cNvSpPr/>
          <p:nvPr/>
        </p:nvSpPr>
        <p:spPr>
          <a:xfrm>
            <a:off x="7929880" y="4957763"/>
            <a:ext cx="5384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DC97"/>
                </a:solidFill>
                <a:latin typeface="JetBrains Mono" pitchFamily="34" charset="0"/>
                <a:ea typeface="JetBrains Mono" pitchFamily="34" charset="-122"/>
                <a:cs typeface="JetBrains Mono" pitchFamily="34" charset="-120"/>
              </a:rPr>
              <a:t>+$2k</a:t>
            </a:r>
            <a:endParaRPr lang="en-US" sz="1600" dirty="0"/>
          </a:p>
        </p:txBody>
      </p:sp>
      <p:sp>
        <p:nvSpPr>
          <p:cNvPr id="19" name="Shape 17"/>
          <p:cNvSpPr/>
          <p:nvPr/>
        </p:nvSpPr>
        <p:spPr>
          <a:xfrm>
            <a:off x="8808720" y="4604702"/>
            <a:ext cx="1117600" cy="739140"/>
          </a:xfrm>
          <a:prstGeom prst="roundRect">
            <a:avLst>
              <a:gd name="adj" fmla="val 12027"/>
            </a:avLst>
          </a:prstGeom>
          <a:solidFill>
            <a:srgbClr val="06080C">
              <a:alpha val="60000"/>
            </a:srgbClr>
          </a:solidFill>
          <a:ln/>
        </p:spPr>
      </p:sp>
      <p:sp>
        <p:nvSpPr>
          <p:cNvPr id="20" name="Text 18"/>
          <p:cNvSpPr/>
          <p:nvPr/>
        </p:nvSpPr>
        <p:spPr>
          <a:xfrm>
            <a:off x="9150271" y="4706302"/>
            <a:ext cx="4852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−20%</a:t>
            </a:r>
            <a:endParaRPr lang="en-US" sz="1200" dirty="0"/>
          </a:p>
        </p:txBody>
      </p:sp>
      <p:sp>
        <p:nvSpPr>
          <p:cNvPr id="21" name="Text 19"/>
          <p:cNvSpPr/>
          <p:nvPr/>
        </p:nvSpPr>
        <p:spPr>
          <a:xfrm>
            <a:off x="9062720" y="4957763"/>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B84B"/>
                </a:solidFill>
                <a:latin typeface="JetBrains Mono" pitchFamily="34" charset="0"/>
                <a:ea typeface="JetBrains Mono" pitchFamily="34" charset="-122"/>
                <a:cs typeface="JetBrains Mono" pitchFamily="34" charset="-120"/>
              </a:rPr>
              <a:t>−$18k</a:t>
            </a:r>
            <a:endParaRPr lang="en-US" sz="1600" dirty="0"/>
          </a:p>
        </p:txBody>
      </p:sp>
      <p:sp>
        <p:nvSpPr>
          <p:cNvPr id="22" name="Shape 20"/>
          <p:cNvSpPr/>
          <p:nvPr/>
        </p:nvSpPr>
        <p:spPr>
          <a:xfrm>
            <a:off x="10002520" y="4604702"/>
            <a:ext cx="1117600" cy="739140"/>
          </a:xfrm>
          <a:prstGeom prst="roundRect">
            <a:avLst>
              <a:gd name="adj" fmla="val 12027"/>
            </a:avLst>
          </a:prstGeom>
          <a:solidFill>
            <a:srgbClr val="06080C">
              <a:alpha val="60000"/>
            </a:srgbClr>
          </a:solidFill>
          <a:ln/>
        </p:spPr>
      </p:sp>
      <p:sp>
        <p:nvSpPr>
          <p:cNvPr id="23" name="Text 21"/>
          <p:cNvSpPr/>
          <p:nvPr/>
        </p:nvSpPr>
        <p:spPr>
          <a:xfrm>
            <a:off x="10341769" y="4706302"/>
            <a:ext cx="4899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−30%</a:t>
            </a:r>
            <a:endParaRPr lang="en-US" sz="1200" dirty="0"/>
          </a:p>
        </p:txBody>
      </p:sp>
      <p:sp>
        <p:nvSpPr>
          <p:cNvPr id="24" name="Text 22"/>
          <p:cNvSpPr/>
          <p:nvPr/>
        </p:nvSpPr>
        <p:spPr>
          <a:xfrm>
            <a:off x="10195560" y="4957763"/>
            <a:ext cx="7823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5C7A"/>
                </a:solidFill>
                <a:latin typeface="JetBrains Mono" pitchFamily="34" charset="0"/>
                <a:ea typeface="JetBrains Mono" pitchFamily="34" charset="-122"/>
                <a:cs typeface="JetBrains Mono" pitchFamily="34" charset="-120"/>
              </a:rPr>
              <a:t>−$224k</a:t>
            </a:r>
            <a:endParaRPr lang="en-US" sz="1600" dirty="0"/>
          </a:p>
        </p:txBody>
      </p:sp>
      <p:sp>
        <p:nvSpPr>
          <p:cNvPr id="25" name="Text 23"/>
          <p:cNvSpPr/>
          <p:nvPr/>
        </p:nvSpPr>
        <p:spPr>
          <a:xfrm>
            <a:off x="812800" y="5867400"/>
            <a:ext cx="1088339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Read on-chain 27.09.2026: getProgramAccounts on KLend, xStocks Market: 7,040 obligations, debt matches the Kamino API at 99.6%. Stress: all xStocks drop together, liquidate to max LTV, 5% bonus, sell into Jupiter quotes of 26.09. xStocks also trade on CEXs; on-chain is the same-block exit, not the only 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C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1C33"/>
              </a:gs>
              <a:gs pos="55000">
                <a:srgbClr val="0B0E14"/>
              </a:gs>
              <a:gs pos="100000">
                <a:srgbClr val="070B12"/>
              </a:gs>
            </a:gsLst>
            <a:path path="circle">
              <a:fillToRect l="50000" t="0" r="50000" b="100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Exit liquidity moves faster than rules</a:t>
            </a:r>
            <a:endParaRPr lang="en-US" sz="3600" dirty="0"/>
          </a:p>
        </p:txBody>
      </p:sp>
      <p:sp>
        <p:nvSpPr>
          <p:cNvPr id="4" name="Text 2"/>
          <p:cNvSpPr/>
          <p:nvPr/>
        </p:nvSpPr>
        <p:spPr>
          <a:xfrm>
            <a:off x="812800" y="14097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A frozen oracle is not the risk. Missing buyers at liquidation are.</a:t>
            </a:r>
            <a:endParaRPr lang="en-US" sz="1600" dirty="0"/>
          </a:p>
        </p:txBody>
      </p:sp>
      <p:sp>
        <p:nvSpPr>
          <p:cNvPr id="5" name="Shape 3"/>
          <p:cNvSpPr/>
          <p:nvPr/>
        </p:nvSpPr>
        <p:spPr>
          <a:xfrm>
            <a:off x="815975" y="2035175"/>
            <a:ext cx="3676650" cy="1626870"/>
          </a:xfrm>
          <a:prstGeom prst="roundRect">
            <a:avLst>
              <a:gd name="adj" fmla="val 9173"/>
            </a:avLst>
          </a:prstGeom>
          <a:solidFill>
            <a:srgbClr val="0E151C">
              <a:alpha val="90000"/>
            </a:srgbClr>
          </a:solidFill>
          <a:ln w="6350">
            <a:solidFill>
              <a:srgbClr val="2CD8DF">
                <a:alpha val="35000"/>
              </a:srgbClr>
            </a:solidFill>
            <a:prstDash val="solid"/>
          </a:ln>
        </p:spPr>
      </p:sp>
      <p:sp>
        <p:nvSpPr>
          <p:cNvPr id="6" name="Text 4"/>
          <p:cNvSpPr/>
          <p:nvPr/>
        </p:nvSpPr>
        <p:spPr>
          <a:xfrm>
            <a:off x="1071880" y="2265682"/>
            <a:ext cx="3259785"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2CD8DF"/>
                </a:solidFill>
                <a:latin typeface="Inter" pitchFamily="34" charset="0"/>
                <a:ea typeface="Inter" pitchFamily="34" charset="-122"/>
                <a:cs typeface="Inter" pitchFamily="34" charset="-120"/>
              </a:rPr>
              <a:t>+33%</a:t>
            </a:r>
            <a:endParaRPr lang="en-US" sz="4800" dirty="0"/>
          </a:p>
        </p:txBody>
      </p:sp>
      <p:sp>
        <p:nvSpPr>
          <p:cNvPr id="7" name="Text 5"/>
          <p:cNvSpPr/>
          <p:nvPr/>
        </p:nvSpPr>
        <p:spPr>
          <a:xfrm>
            <a:off x="1071880" y="2951482"/>
            <a:ext cx="325978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3D6"/>
                </a:solidFill>
                <a:latin typeface="Inter" pitchFamily="34" charset="0"/>
                <a:ea typeface="Inter" pitchFamily="34" charset="-122"/>
                <a:cs typeface="Inter" pitchFamily="34" charset="-120"/>
              </a:rPr>
              <a:t>NVDAx exit capacity in 48 h, with no market event</a:t>
            </a:r>
            <a:endParaRPr lang="en-US" sz="1400" dirty="0"/>
          </a:p>
        </p:txBody>
      </p:sp>
      <p:sp>
        <p:nvSpPr>
          <p:cNvPr id="8" name="Shape 6"/>
          <p:cNvSpPr/>
          <p:nvPr/>
        </p:nvSpPr>
        <p:spPr>
          <a:xfrm>
            <a:off x="815975" y="3820796"/>
            <a:ext cx="3676650" cy="1995170"/>
          </a:xfrm>
          <a:prstGeom prst="roundRect">
            <a:avLst>
              <a:gd name="adj" fmla="val 7479"/>
            </a:avLst>
          </a:prstGeom>
          <a:solidFill>
            <a:srgbClr val="0E151C">
              <a:alpha val="90000"/>
            </a:srgbClr>
          </a:solidFill>
          <a:ln w="6350">
            <a:solidFill>
              <a:srgbClr val="FFFFFF">
                <a:alpha val="12000"/>
              </a:srgbClr>
            </a:solidFill>
            <a:prstDash val="solid"/>
          </a:ln>
        </p:spPr>
      </p:sp>
      <p:sp>
        <p:nvSpPr>
          <p:cNvPr id="9" name="Text 7"/>
          <p:cNvSpPr/>
          <p:nvPr/>
        </p:nvSpPr>
        <p:spPr>
          <a:xfrm>
            <a:off x="1071880" y="4025900"/>
            <a:ext cx="3259785"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SAME −25% SHOCK · LIQUIDATOR P&amp;L</a:t>
            </a:r>
            <a:endParaRPr lang="en-US" sz="1200" dirty="0"/>
          </a:p>
        </p:txBody>
      </p:sp>
      <p:sp>
        <p:nvSpPr>
          <p:cNvPr id="10" name="Text 8"/>
          <p:cNvSpPr/>
          <p:nvPr/>
        </p:nvSpPr>
        <p:spPr>
          <a:xfrm>
            <a:off x="1071880" y="4554221"/>
            <a:ext cx="866457" cy="3098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D6"/>
                </a:solidFill>
                <a:latin typeface="Inter" pitchFamily="34" charset="0"/>
                <a:ea typeface="Inter" pitchFamily="34" charset="-122"/>
                <a:cs typeface="Inter" pitchFamily="34" charset="-120"/>
              </a:rPr>
              <a:t>Thu 17:09</a:t>
            </a:r>
            <a:endParaRPr lang="en-US" sz="1400" dirty="0"/>
          </a:p>
        </p:txBody>
      </p:sp>
      <p:sp>
        <p:nvSpPr>
          <p:cNvPr id="11" name="Text 9"/>
          <p:cNvSpPr/>
          <p:nvPr/>
        </p:nvSpPr>
        <p:spPr>
          <a:xfrm>
            <a:off x="3627120" y="4554221"/>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5C7A"/>
                </a:solidFill>
                <a:latin typeface="JetBrains Mono" pitchFamily="34" charset="0"/>
                <a:ea typeface="JetBrains Mono" pitchFamily="34" charset="-122"/>
                <a:cs typeface="JetBrains Mono" pitchFamily="34" charset="-120"/>
              </a:rPr>
              <a:t>−$22k</a:t>
            </a:r>
            <a:endParaRPr lang="en-US" sz="1600" dirty="0"/>
          </a:p>
        </p:txBody>
      </p:sp>
      <p:sp>
        <p:nvSpPr>
          <p:cNvPr id="12" name="Text 10"/>
          <p:cNvSpPr/>
          <p:nvPr/>
        </p:nvSpPr>
        <p:spPr>
          <a:xfrm>
            <a:off x="1071880" y="4940300"/>
            <a:ext cx="805815" cy="3098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D6"/>
                </a:solidFill>
                <a:latin typeface="Inter" pitchFamily="34" charset="0"/>
                <a:ea typeface="Inter" pitchFamily="34" charset="-122"/>
                <a:cs typeface="Inter" pitchFamily="34" charset="-120"/>
              </a:rPr>
              <a:t>Fri 08:39</a:t>
            </a:r>
            <a:endParaRPr lang="en-US" sz="1400" dirty="0"/>
          </a:p>
        </p:txBody>
      </p:sp>
      <p:sp>
        <p:nvSpPr>
          <p:cNvPr id="13" name="Text 11"/>
          <p:cNvSpPr/>
          <p:nvPr/>
        </p:nvSpPr>
        <p:spPr>
          <a:xfrm>
            <a:off x="3749040" y="4940300"/>
            <a:ext cx="5384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B84B"/>
                </a:solidFill>
                <a:latin typeface="JetBrains Mono" pitchFamily="34" charset="0"/>
                <a:ea typeface="JetBrains Mono" pitchFamily="34" charset="-122"/>
                <a:cs typeface="JetBrains Mono" pitchFamily="34" charset="-120"/>
              </a:rPr>
              <a:t>−$8k</a:t>
            </a:r>
            <a:endParaRPr lang="en-US" sz="1600" dirty="0"/>
          </a:p>
        </p:txBody>
      </p:sp>
      <p:sp>
        <p:nvSpPr>
          <p:cNvPr id="14" name="Text 12"/>
          <p:cNvSpPr/>
          <p:nvPr/>
        </p:nvSpPr>
        <p:spPr>
          <a:xfrm>
            <a:off x="1071880" y="5326382"/>
            <a:ext cx="828437" cy="3098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D6"/>
                </a:solidFill>
                <a:latin typeface="Inter" pitchFamily="34" charset="0"/>
                <a:ea typeface="Inter" pitchFamily="34" charset="-122"/>
                <a:cs typeface="Inter" pitchFamily="34" charset="-120"/>
              </a:rPr>
              <a:t>Sat 13:08</a:t>
            </a:r>
            <a:endParaRPr lang="en-US" sz="1400" dirty="0"/>
          </a:p>
        </p:txBody>
      </p:sp>
      <p:sp>
        <p:nvSpPr>
          <p:cNvPr id="15" name="Text 13"/>
          <p:cNvSpPr/>
          <p:nvPr/>
        </p:nvSpPr>
        <p:spPr>
          <a:xfrm>
            <a:off x="3627120" y="5326382"/>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DC97"/>
                </a:solidFill>
                <a:latin typeface="JetBrains Mono" pitchFamily="34" charset="0"/>
                <a:ea typeface="JetBrains Mono" pitchFamily="34" charset="-122"/>
                <a:cs typeface="JetBrains Mono" pitchFamily="34" charset="-120"/>
              </a:rPr>
              <a:t>+$34k</a:t>
            </a:r>
            <a:endParaRPr lang="en-US" sz="1600" dirty="0"/>
          </a:p>
        </p:txBody>
      </p:sp>
      <p:sp>
        <p:nvSpPr>
          <p:cNvPr id="16" name="Shape 14"/>
          <p:cNvSpPr/>
          <p:nvPr/>
        </p:nvSpPr>
        <p:spPr>
          <a:xfrm>
            <a:off x="5029200" y="1871982"/>
            <a:ext cx="152400" cy="152400"/>
          </a:xfrm>
          <a:prstGeom prst="roundRect">
            <a:avLst>
              <a:gd name="adj" fmla="val 16667"/>
            </a:avLst>
          </a:prstGeom>
          <a:solidFill>
            <a:srgbClr val="2CD8DF"/>
          </a:solidFill>
          <a:ln/>
        </p:spPr>
      </p:sp>
      <p:sp>
        <p:nvSpPr>
          <p:cNvPr id="17" name="Text 15"/>
          <p:cNvSpPr/>
          <p:nvPr/>
        </p:nvSpPr>
        <p:spPr>
          <a:xfrm>
            <a:off x="5308600" y="1841500"/>
            <a:ext cx="28480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6"/>
                </a:solidFill>
                <a:latin typeface="Inter" pitchFamily="34" charset="0"/>
                <a:ea typeface="Inter" pitchFamily="34" charset="-122"/>
                <a:cs typeface="Inter" pitchFamily="34" charset="-120"/>
              </a:rPr>
              <a:t>liquidatable at a profit (5% bonus), $M</a:t>
            </a:r>
            <a:endParaRPr lang="en-US" sz="1200" dirty="0"/>
          </a:p>
        </p:txBody>
      </p:sp>
      <p:sp>
        <p:nvSpPr>
          <p:cNvPr id="18" name="Shape 16"/>
          <p:cNvSpPr/>
          <p:nvPr/>
        </p:nvSpPr>
        <p:spPr>
          <a:xfrm>
            <a:off x="8200708" y="1871982"/>
            <a:ext cx="152400" cy="152400"/>
          </a:xfrm>
          <a:prstGeom prst="roundRect">
            <a:avLst>
              <a:gd name="adj" fmla="val 16667"/>
            </a:avLst>
          </a:prstGeom>
          <a:solidFill>
            <a:srgbClr val="A58BF5"/>
          </a:solidFill>
          <a:ln/>
        </p:spPr>
      </p:sp>
      <p:sp>
        <p:nvSpPr>
          <p:cNvPr id="19" name="Text 17"/>
          <p:cNvSpPr/>
          <p:nvPr/>
        </p:nvSpPr>
        <p:spPr>
          <a:xfrm>
            <a:off x="8480108" y="1841500"/>
            <a:ext cx="12076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6"/>
                </a:solidFill>
                <a:latin typeface="Inter" pitchFamily="34" charset="0"/>
                <a:ea typeface="Inter" pitchFamily="34" charset="-122"/>
                <a:cs typeface="Inter" pitchFamily="34" charset="-120"/>
              </a:rPr>
              <a:t>whole book, $M</a:t>
            </a:r>
            <a:endParaRPr lang="en-US" sz="1200" dirty="0"/>
          </a:p>
        </p:txBody>
      </p:sp>
      <p:pic>
        <p:nvPicPr>
          <p:cNvPr id="20" name="Image 0" descr="NVDAx exit capacity and full on-chain book over 48 hours">    </p:cNvPr>
          <p:cNvPicPr>
            <a:picLocks noChangeAspect="1"/>
          </p:cNvPicPr>
          <p:nvPr/>
        </p:nvPicPr>
        <p:blipFill>
          <a:blip r:embed="rId1"/>
          <a:srcRect l="0" r="0" t="0" b="0"/>
          <a:stretch/>
        </p:blipFill>
        <p:spPr>
          <a:xfrm>
            <a:off x="5029200" y="2159000"/>
            <a:ext cx="6350000" cy="3556000"/>
          </a:xfrm>
          <a:prstGeom prst="rect">
            <a:avLst/>
          </a:prstGeom>
        </p:spPr>
      </p:pic>
      <p:sp>
        <p:nvSpPr>
          <p:cNvPr id="21" name="Text 18"/>
          <p:cNvSpPr/>
          <p:nvPr/>
        </p:nvSpPr>
        <p:spPr>
          <a:xfrm>
            <a:off x="812800" y="59690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NVDAx, Jupiter quotes NVDAx→USDC, 19 sizes, 24–26.09.2026; P&amp;L with every position at 55% LTV. Weekend depth was higher, not lower. Kamino parameters did not change once.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8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1838"/>
              </a:gs>
              <a:gs pos="50000">
                <a:srgbClr val="0B0E14"/>
              </a:gs>
              <a:gs pos="100000">
                <a:srgbClr val="070B12"/>
              </a:gs>
            </a:gsLst>
            <a:path path="circle">
              <a:fillToRect l="14000" t="86000" r="86000" b="14000"/>
            </a:path>
          </a:gradFill>
          <a:ln/>
        </p:spPr>
      </p:sp>
      <p:pic>
        <p:nvPicPr>
          <p:cNvPr id="3" name="Image 0" descr="ECV engine feeding five outputs">    </p:cNvPr>
          <p:cNvPicPr>
            <a:picLocks noChangeAspect="1"/>
          </p:cNvPicPr>
          <p:nvPr/>
        </p:nvPicPr>
        <p:blipFill>
          <a:blip r:embed="rId1"/>
          <a:srcRect l="0" r="0" t="0" b="0"/>
          <a:stretch/>
        </p:blipFill>
        <p:spPr>
          <a:xfrm>
            <a:off x="812800" y="2032000"/>
            <a:ext cx="5715000" cy="2794000"/>
          </a:xfrm>
          <a:prstGeom prst="rect">
            <a:avLst/>
          </a:prstGeom>
        </p:spPr>
      </p:pic>
      <p:sp>
        <p:nvSpPr>
          <p:cNvPr id="4"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ECV — Executable Collateral Value</a:t>
            </a:r>
            <a:endParaRPr lang="en-US" sz="3600" dirty="0"/>
          </a:p>
        </p:txBody>
      </p:sp>
      <p:sp>
        <p:nvSpPr>
          <p:cNvPr id="5" name="Text 2"/>
          <p:cNvSpPr/>
          <p:nvPr/>
        </p:nvSpPr>
        <p:spPr>
          <a:xfrm>
            <a:off x="812800" y="14351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One job: tell the venue what is still recoverable USDC under stress.</a:t>
            </a:r>
            <a:endParaRPr lang="en-US" sz="1600" dirty="0"/>
          </a:p>
        </p:txBody>
      </p:sp>
      <p:sp>
        <p:nvSpPr>
          <p:cNvPr id="6" name="Text 3"/>
          <p:cNvSpPr/>
          <p:nvPr/>
        </p:nvSpPr>
        <p:spPr>
          <a:xfrm>
            <a:off x="1384618" y="3175000"/>
            <a:ext cx="2158365" cy="528320"/>
          </a:xfrm>
          <a:prstGeom prst="rect">
            <a:avLst/>
          </a:prstGeom>
          <a:noFill/>
          <a:ln/>
        </p:spPr>
        <p:txBody>
          <a:bodyPr wrap="square" lIns="0" tIns="0" rIns="0" bIns="0" rtlCol="0" anchor="t">
            <a:normAutofit/>
          </a:bodyPr>
          <a:lstStyle/>
          <a:p>
            <a:pPr algn="ctr" indent="0" marL="0">
              <a:lnSpc>
                <a:spcPts val="3960"/>
              </a:lnSpc>
              <a:buNone/>
            </a:pPr>
            <a:r>
              <a:rPr lang="en-US" sz="3600" b="1" dirty="0">
                <a:gradFill rotWithShape="1">
                  <a:gsLst>
                    <a:gs pos="0">
                      <a:srgbClr val="2CD8DF"/>
                    </a:gs>
                    <a:gs pos="100000">
                      <a:srgbClr val="9469F2"/>
                    </a:gs>
                  </a:gsLst>
                  <a:lin ang="0" scaled="0"/>
                </a:gradFill>
                <a:latin typeface="Inter" pitchFamily="34" charset="0"/>
                <a:ea typeface="Inter" pitchFamily="34" charset="-122"/>
                <a:cs typeface="Inter" pitchFamily="34" charset="-120"/>
              </a:rPr>
              <a:t>ECV</a:t>
            </a:r>
            <a:endParaRPr lang="en-US" sz="3600" dirty="0"/>
          </a:p>
        </p:txBody>
      </p:sp>
      <p:sp>
        <p:nvSpPr>
          <p:cNvPr id="7" name="Shape 4"/>
          <p:cNvSpPr/>
          <p:nvPr/>
        </p:nvSpPr>
        <p:spPr>
          <a:xfrm>
            <a:off x="6530975" y="2098675"/>
            <a:ext cx="2660650" cy="450850"/>
          </a:xfrm>
          <a:prstGeom prst="roundRect">
            <a:avLst>
              <a:gd name="adj" fmla="val 19014"/>
            </a:avLst>
          </a:prstGeom>
          <a:solidFill>
            <a:srgbClr val="2CD8DF">
              <a:alpha val="8000"/>
            </a:srgbClr>
          </a:solidFill>
          <a:ln w="6350">
            <a:solidFill>
              <a:srgbClr val="2CD8DF">
                <a:alpha val="45000"/>
              </a:srgbClr>
            </a:solidFill>
            <a:prstDash val="solid"/>
          </a:ln>
          <a:effectLst>
            <a:outerShdw sx="100000" sy="100000" kx="0" ky="0" algn="bl" rotWithShape="0" blurRad="203200" dist="0" dir="60000">
              <a:srgbClr val="2CD8DF">
                <a:alpha val="12000"/>
              </a:srgbClr>
            </a:outerShdw>
          </a:effectLst>
        </p:spPr>
      </p:sp>
      <p:sp>
        <p:nvSpPr>
          <p:cNvPr id="8" name="Text 5"/>
          <p:cNvSpPr/>
          <p:nvPr/>
        </p:nvSpPr>
        <p:spPr>
          <a:xfrm>
            <a:off x="6710680" y="2202180"/>
            <a:ext cx="237027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CD8DF"/>
                </a:solidFill>
                <a:latin typeface="JetBrains Mono" pitchFamily="34" charset="0"/>
                <a:ea typeface="JetBrains Mono" pitchFamily="34" charset="-122"/>
                <a:cs typeface="JetBrains Mono" pitchFamily="34" charset="-120"/>
              </a:rPr>
              <a:t>max_borrow</a:t>
            </a:r>
            <a:endParaRPr lang="en-US" sz="1600" dirty="0"/>
          </a:p>
        </p:txBody>
      </p:sp>
      <p:sp>
        <p:nvSpPr>
          <p:cNvPr id="9" name="Shape 6"/>
          <p:cNvSpPr/>
          <p:nvPr/>
        </p:nvSpPr>
        <p:spPr>
          <a:xfrm>
            <a:off x="6530975" y="2670175"/>
            <a:ext cx="2660650" cy="450850"/>
          </a:xfrm>
          <a:prstGeom prst="roundRect">
            <a:avLst>
              <a:gd name="adj" fmla="val 19014"/>
            </a:avLst>
          </a:prstGeom>
          <a:solidFill>
            <a:srgbClr val="2CD8DF">
              <a:alpha val="8000"/>
            </a:srgbClr>
          </a:solidFill>
          <a:ln w="6350">
            <a:solidFill>
              <a:srgbClr val="2CD8DF">
                <a:alpha val="45000"/>
              </a:srgbClr>
            </a:solidFill>
            <a:prstDash val="solid"/>
          </a:ln>
          <a:effectLst>
            <a:outerShdw sx="100000" sy="100000" kx="0" ky="0" algn="bl" rotWithShape="0" blurRad="203200" dist="0" dir="60000">
              <a:srgbClr val="2CD8DF">
                <a:alpha val="12000"/>
              </a:srgbClr>
            </a:outerShdw>
          </a:effectLst>
        </p:spPr>
      </p:sp>
      <p:sp>
        <p:nvSpPr>
          <p:cNvPr id="10" name="Text 7"/>
          <p:cNvSpPr/>
          <p:nvPr/>
        </p:nvSpPr>
        <p:spPr>
          <a:xfrm>
            <a:off x="6710680" y="2773680"/>
            <a:ext cx="237027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CD8DF"/>
                </a:solidFill>
                <a:latin typeface="JetBrains Mono" pitchFamily="34" charset="0"/>
                <a:ea typeface="JetBrains Mono" pitchFamily="34" charset="-122"/>
                <a:cs typeface="JetBrains Mono" pitchFamily="34" charset="-120"/>
              </a:rPr>
              <a:t>collateral_cap</a:t>
            </a:r>
            <a:endParaRPr lang="en-US" sz="1600" dirty="0"/>
          </a:p>
        </p:txBody>
      </p:sp>
      <p:sp>
        <p:nvSpPr>
          <p:cNvPr id="11" name="Shape 8"/>
          <p:cNvSpPr/>
          <p:nvPr/>
        </p:nvSpPr>
        <p:spPr>
          <a:xfrm>
            <a:off x="6530975" y="3241675"/>
            <a:ext cx="2660650" cy="450850"/>
          </a:xfrm>
          <a:prstGeom prst="roundRect">
            <a:avLst>
              <a:gd name="adj" fmla="val 19014"/>
            </a:avLst>
          </a:prstGeom>
          <a:solidFill>
            <a:srgbClr val="2CD8DF">
              <a:alpha val="8000"/>
            </a:srgbClr>
          </a:solidFill>
          <a:ln w="6350">
            <a:solidFill>
              <a:srgbClr val="2CD8DF">
                <a:alpha val="45000"/>
              </a:srgbClr>
            </a:solidFill>
            <a:prstDash val="solid"/>
          </a:ln>
          <a:effectLst>
            <a:outerShdw sx="100000" sy="100000" kx="0" ky="0" algn="bl" rotWithShape="0" blurRad="203200" dist="0" dir="60000">
              <a:srgbClr val="2CD8DF">
                <a:alpha val="12000"/>
              </a:srgbClr>
            </a:outerShdw>
          </a:effectLst>
        </p:spPr>
      </p:sp>
      <p:sp>
        <p:nvSpPr>
          <p:cNvPr id="12" name="Text 9"/>
          <p:cNvSpPr/>
          <p:nvPr/>
        </p:nvSpPr>
        <p:spPr>
          <a:xfrm>
            <a:off x="6710680" y="3345180"/>
            <a:ext cx="237027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CD8DF"/>
                </a:solidFill>
                <a:latin typeface="JetBrains Mono" pitchFamily="34" charset="0"/>
                <a:ea typeface="JetBrains Mono" pitchFamily="34" charset="-122"/>
                <a:cs typeface="JetBrains Mono" pitchFamily="34" charset="-120"/>
              </a:rPr>
              <a:t>liquidation_route</a:t>
            </a:r>
            <a:endParaRPr lang="en-US" sz="1600" dirty="0"/>
          </a:p>
        </p:txBody>
      </p:sp>
      <p:sp>
        <p:nvSpPr>
          <p:cNvPr id="13" name="Shape 10"/>
          <p:cNvSpPr/>
          <p:nvPr/>
        </p:nvSpPr>
        <p:spPr>
          <a:xfrm>
            <a:off x="6530975" y="3813175"/>
            <a:ext cx="2660650" cy="450850"/>
          </a:xfrm>
          <a:prstGeom prst="roundRect">
            <a:avLst>
              <a:gd name="adj" fmla="val 19014"/>
            </a:avLst>
          </a:prstGeom>
          <a:solidFill>
            <a:srgbClr val="8462D8">
              <a:alpha val="10000"/>
            </a:srgbClr>
          </a:solidFill>
          <a:ln w="6350">
            <a:solidFill>
              <a:srgbClr val="9469F2">
                <a:alpha val="50000"/>
              </a:srgbClr>
            </a:solidFill>
            <a:prstDash val="solid"/>
          </a:ln>
          <a:effectLst>
            <a:outerShdw sx="100000" sy="100000" kx="0" ky="0" algn="bl" rotWithShape="0" blurRad="203200" dist="0" dir="60000">
              <a:srgbClr val="8462D8">
                <a:alpha val="14000"/>
              </a:srgbClr>
            </a:outerShdw>
          </a:effectLst>
        </p:spPr>
      </p:sp>
      <p:sp>
        <p:nvSpPr>
          <p:cNvPr id="14" name="Text 11"/>
          <p:cNvSpPr/>
          <p:nvPr/>
        </p:nvSpPr>
        <p:spPr>
          <a:xfrm>
            <a:off x="6710680" y="3916680"/>
            <a:ext cx="237027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9A4F7"/>
                </a:solidFill>
                <a:latin typeface="JetBrains Mono" pitchFamily="34" charset="0"/>
                <a:ea typeface="JetBrains Mono" pitchFamily="34" charset="-122"/>
                <a:cs typeface="JetBrains Mono" pitchFamily="34" charset="-120"/>
              </a:rPr>
              <a:t>risk_premium</a:t>
            </a:r>
            <a:endParaRPr lang="en-US" sz="1600" dirty="0"/>
          </a:p>
        </p:txBody>
      </p:sp>
      <p:sp>
        <p:nvSpPr>
          <p:cNvPr id="15" name="Shape 12"/>
          <p:cNvSpPr/>
          <p:nvPr/>
        </p:nvSpPr>
        <p:spPr>
          <a:xfrm>
            <a:off x="6530975" y="4384675"/>
            <a:ext cx="2660650" cy="450850"/>
          </a:xfrm>
          <a:prstGeom prst="roundRect">
            <a:avLst>
              <a:gd name="adj" fmla="val 19014"/>
            </a:avLst>
          </a:prstGeom>
          <a:solidFill>
            <a:srgbClr val="8462D8">
              <a:alpha val="10000"/>
            </a:srgbClr>
          </a:solidFill>
          <a:ln w="6350">
            <a:solidFill>
              <a:srgbClr val="9469F2">
                <a:alpha val="50000"/>
              </a:srgbClr>
            </a:solidFill>
            <a:prstDash val="solid"/>
          </a:ln>
          <a:effectLst>
            <a:outerShdw sx="100000" sy="100000" kx="0" ky="0" algn="bl" rotWithShape="0" blurRad="203200" dist="0" dir="60000">
              <a:srgbClr val="8462D8">
                <a:alpha val="14000"/>
              </a:srgbClr>
            </a:outerShdw>
          </a:effectLst>
        </p:spPr>
      </p:sp>
      <p:sp>
        <p:nvSpPr>
          <p:cNvPr id="16" name="Text 13"/>
          <p:cNvSpPr/>
          <p:nvPr/>
        </p:nvSpPr>
        <p:spPr>
          <a:xfrm>
            <a:off x="6710680" y="4488180"/>
            <a:ext cx="237027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9A4F7"/>
                </a:solidFill>
                <a:latin typeface="JetBrains Mono" pitchFamily="34" charset="0"/>
                <a:ea typeface="JetBrains Mono" pitchFamily="34" charset="-122"/>
                <a:cs typeface="JetBrains Mono" pitchFamily="34" charset="-120"/>
              </a:rPr>
              <a:t>borrow_disabled</a:t>
            </a:r>
            <a:endParaRPr lang="en-US" sz="1600" dirty="0"/>
          </a:p>
        </p:txBody>
      </p:sp>
      <p:pic>
        <p:nvPicPr>
          <p:cNvPr id="17" name="Image 1" descr="CheckCircle">    </p:cNvPr>
          <p:cNvPicPr>
            <a:picLocks noChangeAspect="1"/>
          </p:cNvPicPr>
          <p:nvPr/>
        </p:nvPicPr>
        <p:blipFill>
          <a:blip r:embed="rId2"/>
          <a:srcRect l="0" r="0" t="0" b="0"/>
          <a:stretch/>
        </p:blipFill>
        <p:spPr>
          <a:xfrm>
            <a:off x="812800" y="5207000"/>
            <a:ext cx="279400" cy="279400"/>
          </a:xfrm>
          <a:prstGeom prst="rect">
            <a:avLst/>
          </a:prstGeom>
        </p:spPr>
      </p:pic>
      <p:sp>
        <p:nvSpPr>
          <p:cNvPr id="18" name="Text 14"/>
          <p:cNvSpPr/>
          <p:nvPr/>
        </p:nvSpPr>
        <p:spPr>
          <a:xfrm>
            <a:off x="1193800" y="5209539"/>
            <a:ext cx="9310238"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8F1F2"/>
                </a:solidFill>
                <a:latin typeface="Inter" pitchFamily="34" charset="0"/>
                <a:ea typeface="Inter" pitchFamily="34" charset="-122"/>
                <a:cs typeface="Inter" pitchFamily="34" charset="-120"/>
              </a:rPr>
              <a:t>Works today: ECV engine + breaker demo + ECV record published on Solana devnet (Anchor).</a:t>
            </a:r>
            <a:endParaRPr lang="en-US" sz="1600" dirty="0"/>
          </a:p>
        </p:txBody>
      </p:sp>
      <p:sp>
        <p:nvSpPr>
          <p:cNvPr id="19" name="Text 15"/>
          <p:cNvSpPr/>
          <p:nvPr/>
        </p:nvSpPr>
        <p:spPr>
          <a:xfrm>
            <a:off x="1193800" y="5613400"/>
            <a:ext cx="104909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Five frozen outputs = the on-chain interface — published on Solana devnet (not mainnet).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pic>
        <p:nvPicPr>
          <p:cNvPr id="3" name="Image 0" descr="Decorative shield outline">    </p:cNvPr>
          <p:cNvPicPr>
            <a:picLocks noChangeAspect="1"/>
          </p:cNvPicPr>
          <p:nvPr/>
        </p:nvPicPr>
        <p:blipFill>
          <a:blip r:embed="rId1">
            <a:alphaModFix amt="40000"/>
          </a:blip>
          <a:srcRect l="0" r="0" t="0" b="0"/>
          <a:stretch/>
        </p:blipFill>
        <p:spPr>
          <a:xfrm>
            <a:off x="7620000" y="2286000"/>
            <a:ext cx="4572000" cy="4572000"/>
          </a:xfrm>
          <a:prstGeom prst="rect">
            <a:avLst/>
          </a:prstGeom>
        </p:spPr>
      </p:pic>
      <p:sp>
        <p:nvSpPr>
          <p:cNvPr id="4"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Watch the breaker</a:t>
            </a:r>
            <a:endParaRPr lang="en-US" sz="3600" dirty="0"/>
          </a:p>
        </p:txBody>
      </p:sp>
      <p:sp>
        <p:nvSpPr>
          <p:cNvPr id="5" name="Shape 2"/>
          <p:cNvSpPr/>
          <p:nvPr/>
        </p:nvSpPr>
        <p:spPr>
          <a:xfrm>
            <a:off x="815975" y="1450975"/>
            <a:ext cx="5708650" cy="359410"/>
          </a:xfrm>
          <a:prstGeom prst="roundRect">
            <a:avLst>
              <a:gd name="adj" fmla="val 50000"/>
            </a:avLst>
          </a:prstGeom>
          <a:solidFill>
            <a:srgbClr val="8462D8">
              <a:alpha val="14000"/>
            </a:srgbClr>
          </a:solidFill>
          <a:ln w="6350">
            <a:solidFill>
              <a:srgbClr val="9469F2">
                <a:alpha val="55000"/>
              </a:srgbClr>
            </a:solidFill>
            <a:prstDash val="dash"/>
          </a:ln>
        </p:spPr>
      </p:sp>
      <p:pic>
        <p:nvPicPr>
          <p:cNvPr id="6" name="Image 1" descr="Play">    </p:cNvPr>
          <p:cNvPicPr>
            <a:picLocks noChangeAspect="1"/>
          </p:cNvPicPr>
          <p:nvPr/>
        </p:nvPicPr>
        <p:blipFill>
          <a:blip r:embed="rId2"/>
          <a:srcRect l="0" r="0" t="0" b="0"/>
          <a:stretch/>
        </p:blipFill>
        <p:spPr>
          <a:xfrm>
            <a:off x="970280" y="1516382"/>
            <a:ext cx="228600" cy="228600"/>
          </a:xfrm>
          <a:prstGeom prst="rect">
            <a:avLst/>
          </a:prstGeom>
        </p:spPr>
      </p:pic>
      <p:sp>
        <p:nvSpPr>
          <p:cNvPr id="7" name="Text 3"/>
          <p:cNvSpPr/>
          <p:nvPr/>
        </p:nvSpPr>
        <p:spPr>
          <a:xfrm>
            <a:off x="1275080" y="1531621"/>
            <a:ext cx="448318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4C8FA"/>
                </a:solidFill>
                <a:latin typeface="Inter" pitchFamily="34" charset="0"/>
                <a:ea typeface="Inter" pitchFamily="34" charset="-122"/>
                <a:cs typeface="Inter" pitchFamily="34" charset="-120"/>
              </a:rPr>
              <a:t>Cut to demo UI (recorded Kamino snapshot, stress sandbox)</a:t>
            </a:r>
            <a:endParaRPr lang="en-US" sz="1200" dirty="0"/>
          </a:p>
        </p:txBody>
      </p:sp>
      <p:sp>
        <p:nvSpPr>
          <p:cNvPr id="8" name="Shape 4"/>
          <p:cNvSpPr/>
          <p:nvPr/>
        </p:nvSpPr>
        <p:spPr>
          <a:xfrm>
            <a:off x="815975" y="2162175"/>
            <a:ext cx="3041650" cy="1898650"/>
          </a:xfrm>
          <a:prstGeom prst="roundRect">
            <a:avLst>
              <a:gd name="adj" fmla="val 7860"/>
            </a:avLst>
          </a:prstGeom>
          <a:solidFill>
            <a:srgbClr val="0E151C">
              <a:alpha val="90000"/>
            </a:srgbClr>
          </a:solidFill>
          <a:ln w="6350">
            <a:solidFill>
              <a:srgbClr val="2CD8DF">
                <a:alpha val="25000"/>
              </a:srgbClr>
            </a:solidFill>
            <a:prstDash val="solid"/>
          </a:ln>
          <a:effectLst>
            <a:outerShdw sx="100000" sy="100000" kx="0" ky="0" algn="bl" rotWithShape="0" blurRad="355600" dist="0" dir="60000">
              <a:srgbClr val="2CD8DF">
                <a:alpha val="10000"/>
              </a:srgbClr>
            </a:outerShdw>
          </a:effectLst>
        </p:spPr>
      </p:sp>
      <p:sp>
        <p:nvSpPr>
          <p:cNvPr id="9" name="Text 5"/>
          <p:cNvSpPr/>
          <p:nvPr/>
        </p:nvSpPr>
        <p:spPr>
          <a:xfrm>
            <a:off x="1097280" y="2443482"/>
            <a:ext cx="255341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CD8DF"/>
                </a:solidFill>
                <a:latin typeface="JetBrains Mono" pitchFamily="34" charset="0"/>
                <a:ea typeface="JetBrains Mono" pitchFamily="34" charset="-122"/>
                <a:cs typeface="JetBrains Mono" pitchFamily="34" charset="-120"/>
              </a:rPr>
              <a:t>01</a:t>
            </a:r>
            <a:endParaRPr lang="en-US" sz="3600" dirty="0"/>
          </a:p>
        </p:txBody>
      </p:sp>
      <p:sp>
        <p:nvSpPr>
          <p:cNvPr id="10" name="Text 6"/>
          <p:cNvSpPr/>
          <p:nvPr/>
        </p:nvSpPr>
        <p:spPr>
          <a:xfrm>
            <a:off x="1097280" y="3027682"/>
            <a:ext cx="2553411"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Oracle price</a:t>
            </a:r>
            <a:endParaRPr lang="en-US" sz="2200" dirty="0"/>
          </a:p>
        </p:txBody>
      </p:sp>
      <p:pic>
        <p:nvPicPr>
          <p:cNvPr id="11" name="Image 2" descr="arrow-right">    </p:cNvPr>
          <p:cNvPicPr>
            <a:picLocks noChangeAspect="1"/>
          </p:cNvPicPr>
          <p:nvPr/>
        </p:nvPicPr>
        <p:blipFill>
          <a:blip r:embed="rId3"/>
          <a:srcRect l="0" r="0" t="0" b="0"/>
          <a:stretch/>
        </p:blipFill>
        <p:spPr>
          <a:xfrm>
            <a:off x="4013200" y="3009900"/>
            <a:ext cx="406400" cy="203200"/>
          </a:xfrm>
          <a:prstGeom prst="rect">
            <a:avLst/>
          </a:prstGeom>
        </p:spPr>
      </p:pic>
      <p:sp>
        <p:nvSpPr>
          <p:cNvPr id="12" name="Shape 7"/>
          <p:cNvSpPr/>
          <p:nvPr/>
        </p:nvSpPr>
        <p:spPr>
          <a:xfrm>
            <a:off x="4575175" y="2162175"/>
            <a:ext cx="3041650" cy="1898650"/>
          </a:xfrm>
          <a:prstGeom prst="roundRect">
            <a:avLst>
              <a:gd name="adj" fmla="val 7860"/>
            </a:avLst>
          </a:prstGeom>
          <a:solidFill>
            <a:srgbClr val="0E151C">
              <a:alpha val="90000"/>
            </a:srgbClr>
          </a:solidFill>
          <a:ln w="6350">
            <a:solidFill>
              <a:srgbClr val="9469F2">
                <a:alpha val="35000"/>
              </a:srgbClr>
            </a:solidFill>
            <a:prstDash val="solid"/>
          </a:ln>
          <a:effectLst>
            <a:outerShdw sx="100000" sy="100000" kx="0" ky="0" algn="bl" rotWithShape="0" blurRad="355600" dist="0" dir="60000">
              <a:srgbClr val="8462D8">
                <a:alpha val="12000"/>
              </a:srgbClr>
            </a:outerShdw>
          </a:effectLst>
        </p:spPr>
      </p:sp>
      <p:sp>
        <p:nvSpPr>
          <p:cNvPr id="13" name="Text 8"/>
          <p:cNvSpPr/>
          <p:nvPr/>
        </p:nvSpPr>
        <p:spPr>
          <a:xfrm>
            <a:off x="4856480" y="2443482"/>
            <a:ext cx="255341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58BF5"/>
                </a:solidFill>
                <a:latin typeface="JetBrains Mono" pitchFamily="34" charset="0"/>
                <a:ea typeface="JetBrains Mono" pitchFamily="34" charset="-122"/>
                <a:cs typeface="JetBrains Mono" pitchFamily="34" charset="-120"/>
              </a:rPr>
              <a:t>02</a:t>
            </a:r>
            <a:endParaRPr lang="en-US" sz="3600" dirty="0"/>
          </a:p>
        </p:txBody>
      </p:sp>
      <p:sp>
        <p:nvSpPr>
          <p:cNvPr id="14" name="Text 9"/>
          <p:cNvSpPr/>
          <p:nvPr/>
        </p:nvSpPr>
        <p:spPr>
          <a:xfrm>
            <a:off x="4856480" y="3027682"/>
            <a:ext cx="2553411"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ECV under stress</a:t>
            </a:r>
            <a:endParaRPr lang="en-US" sz="2200" dirty="0"/>
          </a:p>
        </p:txBody>
      </p:sp>
      <p:pic>
        <p:nvPicPr>
          <p:cNvPr id="15" name="Image 3" descr="arrow-right">    </p:cNvPr>
          <p:cNvPicPr>
            <a:picLocks noChangeAspect="1"/>
          </p:cNvPicPr>
          <p:nvPr/>
        </p:nvPicPr>
        <p:blipFill>
          <a:blip r:embed="rId4"/>
          <a:srcRect l="0" r="0" t="0" b="0"/>
          <a:stretch/>
        </p:blipFill>
        <p:spPr>
          <a:xfrm>
            <a:off x="7772400" y="3009900"/>
            <a:ext cx="406400" cy="203200"/>
          </a:xfrm>
          <a:prstGeom prst="rect">
            <a:avLst/>
          </a:prstGeom>
        </p:spPr>
      </p:pic>
      <p:sp>
        <p:nvSpPr>
          <p:cNvPr id="16" name="Shape 10"/>
          <p:cNvSpPr/>
          <p:nvPr/>
        </p:nvSpPr>
        <p:spPr>
          <a:xfrm>
            <a:off x="8334375" y="2162175"/>
            <a:ext cx="3041650" cy="1898650"/>
          </a:xfrm>
          <a:prstGeom prst="roundRect">
            <a:avLst>
              <a:gd name="adj" fmla="val 7860"/>
            </a:avLst>
          </a:prstGeom>
          <a:solidFill>
            <a:srgbClr val="1C160C">
              <a:alpha val="90000"/>
            </a:srgbClr>
          </a:solidFill>
          <a:ln w="6350">
            <a:solidFill>
              <a:srgbClr val="F2B84B">
                <a:alpha val="50000"/>
              </a:srgbClr>
            </a:solidFill>
            <a:prstDash val="solid"/>
          </a:ln>
          <a:effectLst>
            <a:outerShdw sx="100000" sy="100000" kx="0" ky="0" algn="bl" rotWithShape="0" blurRad="406400" dist="0" dir="60000">
              <a:srgbClr val="F2B84B">
                <a:alpha val="16000"/>
              </a:srgbClr>
            </a:outerShdw>
          </a:effectLst>
        </p:spPr>
      </p:sp>
      <p:sp>
        <p:nvSpPr>
          <p:cNvPr id="17" name="Text 11"/>
          <p:cNvSpPr/>
          <p:nvPr/>
        </p:nvSpPr>
        <p:spPr>
          <a:xfrm>
            <a:off x="8615680" y="2443482"/>
            <a:ext cx="59944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B84B"/>
                </a:solidFill>
                <a:latin typeface="JetBrains Mono" pitchFamily="34" charset="0"/>
                <a:ea typeface="JetBrains Mono" pitchFamily="34" charset="-122"/>
                <a:cs typeface="JetBrains Mono" pitchFamily="34" charset="-120"/>
              </a:rPr>
              <a:t>03</a:t>
            </a:r>
            <a:endParaRPr lang="en-US" sz="3600" dirty="0"/>
          </a:p>
        </p:txBody>
      </p:sp>
      <p:pic>
        <p:nvPicPr>
          <p:cNvPr id="18" name="Image 4" descr="Warning">    </p:cNvPr>
          <p:cNvPicPr>
            <a:picLocks noChangeAspect="1"/>
          </p:cNvPicPr>
          <p:nvPr/>
        </p:nvPicPr>
        <p:blipFill>
          <a:blip r:embed="rId5"/>
          <a:srcRect l="0" r="0" t="0" b="0"/>
          <a:stretch/>
        </p:blipFill>
        <p:spPr>
          <a:xfrm>
            <a:off x="10688320" y="2468882"/>
            <a:ext cx="406400" cy="406400"/>
          </a:xfrm>
          <a:prstGeom prst="rect">
            <a:avLst/>
          </a:prstGeom>
        </p:spPr>
      </p:pic>
      <p:sp>
        <p:nvSpPr>
          <p:cNvPr id="19" name="Text 12"/>
          <p:cNvSpPr/>
          <p:nvPr/>
        </p:nvSpPr>
        <p:spPr>
          <a:xfrm>
            <a:off x="8615680" y="3027682"/>
            <a:ext cx="2553411"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Breaker: WARNING</a:t>
            </a:r>
            <a:endParaRPr lang="en-US" sz="2200" dirty="0"/>
          </a:p>
        </p:txBody>
      </p:sp>
      <p:sp>
        <p:nvSpPr>
          <p:cNvPr id="20" name="Shape 13"/>
          <p:cNvSpPr/>
          <p:nvPr/>
        </p:nvSpPr>
        <p:spPr>
          <a:xfrm>
            <a:off x="815975" y="4473575"/>
            <a:ext cx="10560050" cy="979170"/>
          </a:xfrm>
          <a:prstGeom prst="roundRect">
            <a:avLst>
              <a:gd name="adj" fmla="val 12646"/>
            </a:avLst>
          </a:prstGeom>
          <a:solidFill>
            <a:srgbClr val="0E151C">
              <a:alpha val="90000"/>
            </a:srgbClr>
          </a:solidFill>
          <a:ln w="6350">
            <a:solidFill>
              <a:srgbClr val="FFFFFF">
                <a:alpha val="10000"/>
              </a:srgbClr>
            </a:solidFill>
            <a:prstDash val="solid"/>
          </a:ln>
        </p:spPr>
      </p:sp>
      <p:sp>
        <p:nvSpPr>
          <p:cNvPr id="21" name="Text 14"/>
          <p:cNvSpPr/>
          <p:nvPr/>
        </p:nvSpPr>
        <p:spPr>
          <a:xfrm>
            <a:off x="1071880" y="4678679"/>
            <a:ext cx="1034968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6"/>
                </a:solidFill>
                <a:latin typeface="Inter" pitchFamily="34" charset="0"/>
                <a:ea typeface="Inter" pitchFamily="34" charset="-122"/>
                <a:cs typeface="Inter" pitchFamily="34" charset="-120"/>
              </a:rPr>
              <a:t>TSLAx · $100k · stress sandbox: ECV </a:t>
            </a:r>
            <a:r>
              <a:rPr lang="en-US" sz="1600" dirty="0">
                <a:solidFill>
                  <a:srgbClr val="2CD8DF"/>
                </a:solidFill>
                <a:latin typeface="Inter" pitchFamily="34" charset="0"/>
                <a:ea typeface="Inter" pitchFamily="34" charset="-122"/>
                <a:cs typeface="Inter" pitchFamily="34" charset="-120"/>
              </a:rPr>
              <a:t>$84,358</a:t>
            </a:r>
            <a:r>
              <a:rPr lang="en-US" sz="1600" dirty="0">
                <a:solidFill>
                  <a:srgbClr val="BFD3D6"/>
                </a:solidFill>
                <a:latin typeface="Inter" pitchFamily="34" charset="0"/>
                <a:ea typeface="Inter" pitchFamily="34" charset="-122"/>
                <a:cs typeface="Inter" pitchFamily="34" charset="-120"/>
              </a:rPr>
              <a:t> · safe max borrow </a:t>
            </a:r>
            <a:r>
              <a:rPr lang="en-US" sz="1600" dirty="0">
                <a:solidFill>
                  <a:srgbClr val="2CD8DF"/>
                </a:solidFill>
                <a:latin typeface="Inter" pitchFamily="34" charset="0"/>
                <a:ea typeface="Inter" pitchFamily="34" charset="-122"/>
                <a:cs typeface="Inter" pitchFamily="34" charset="-120"/>
              </a:rPr>
              <a:t>$58,684</a:t>
            </a:r>
            <a:r>
              <a:rPr lang="en-US" sz="1600" dirty="0">
                <a:solidFill>
                  <a:srgbClr val="BFD3D6"/>
                </a:solidFill>
                <a:latin typeface="Inter" pitchFamily="34" charset="0"/>
                <a:ea typeface="Inter" pitchFamily="34" charset="-122"/>
                <a:cs typeface="Inter" pitchFamily="34" charset="-120"/>
              </a:rPr>
              <a:t> vs Kamino LTV $55,000 · </a:t>
            </a:r>
            <a:r>
              <a:rPr lang="en-US" sz="1600" dirty="0">
                <a:solidFill>
                  <a:srgbClr val="F2B84B"/>
                </a:solidFill>
                <a:latin typeface="Inter" pitchFamily="34" charset="0"/>
                <a:ea typeface="Inter" pitchFamily="34" charset="-122"/>
                <a:cs typeface="Inter" pitchFamily="34" charset="-120"/>
              </a:rPr>
              <a:t>WARNING</a:t>
            </a:r>
            <a:r>
              <a:rPr lang="en-US" sz="1600" dirty="0">
                <a:solidFill>
                  <a:srgbClr val="BFD3D6"/>
                </a:solidFill>
                <a:latin typeface="Inter" pitchFamily="34" charset="0"/>
                <a:ea typeface="Inter" pitchFamily="34" charset="-122"/>
                <a:cs typeface="Inter" pitchFamily="34" charset="-120"/>
              </a:rPr>
              <a:t>: USDC reserve utilization at the 90% rate kink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C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1C33"/>
              </a:gs>
              <a:gs pos="55000">
                <a:srgbClr val="0B0E14"/>
              </a:gs>
              <a:gs pos="100000">
                <a:srgbClr val="070B12"/>
              </a:gs>
            </a:gsLst>
            <a:path path="circle">
              <a:fillToRect l="50000" t="0" r="50000" b="100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Same book. Two models. Synthetic in-sample.</a:t>
            </a:r>
            <a:endParaRPr lang="en-US" sz="3600" dirty="0"/>
          </a:p>
        </p:txBody>
      </p:sp>
      <p:sp>
        <p:nvSpPr>
          <p:cNvPr id="4" name="Shape 2"/>
          <p:cNvSpPr/>
          <p:nvPr/>
        </p:nvSpPr>
        <p:spPr>
          <a:xfrm>
            <a:off x="815975" y="1476375"/>
            <a:ext cx="5581650" cy="354330"/>
          </a:xfrm>
          <a:prstGeom prst="roundRect">
            <a:avLst>
              <a:gd name="adj" fmla="val 50000"/>
            </a:avLst>
          </a:prstGeom>
          <a:solidFill>
            <a:srgbClr val="FFFFFF">
              <a:alpha val="4000"/>
            </a:srgbClr>
          </a:solidFill>
          <a:ln w="6350">
            <a:solidFill>
              <a:srgbClr val="E8F1F2">
                <a:alpha val="40000"/>
              </a:srgbClr>
            </a:solidFill>
            <a:prstDash val="solid"/>
          </a:ln>
        </p:spPr>
      </p:sp>
      <p:sp>
        <p:nvSpPr>
          <p:cNvPr id="5" name="Text 3"/>
          <p:cNvSpPr/>
          <p:nvPr/>
        </p:nvSpPr>
        <p:spPr>
          <a:xfrm>
            <a:off x="995680" y="1554480"/>
            <a:ext cx="5378907" cy="22352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E8F1F2"/>
                </a:solidFill>
                <a:latin typeface="Inter" pitchFamily="34" charset="0"/>
                <a:ea typeface="Inter" pitchFamily="34" charset="-122"/>
                <a:cs typeface="Inter" pitchFamily="34" charset="-120"/>
              </a:rPr>
              <a:t>SYNTHETIC IN-SAMPLE — not historical validation · not mainnet</a:t>
            </a:r>
            <a:endParaRPr lang="en-US" sz="1200" dirty="0"/>
          </a:p>
        </p:txBody>
      </p:sp>
      <p:sp>
        <p:nvSpPr>
          <p:cNvPr id="6" name="Shape 4"/>
          <p:cNvSpPr/>
          <p:nvPr/>
        </p:nvSpPr>
        <p:spPr>
          <a:xfrm>
            <a:off x="815975" y="2035175"/>
            <a:ext cx="5149850" cy="2482850"/>
          </a:xfrm>
          <a:prstGeom prst="roundRect">
            <a:avLst>
              <a:gd name="adj" fmla="val 7033"/>
            </a:avLst>
          </a:prstGeom>
          <a:solidFill>
            <a:srgbClr val="FF5C7A">
              <a:alpha val="6000"/>
            </a:srgbClr>
          </a:solidFill>
          <a:ln w="6350">
            <a:solidFill>
              <a:srgbClr val="FF5C7A">
                <a:alpha val="40000"/>
              </a:srgbClr>
            </a:solidFill>
            <a:prstDash val="solid"/>
          </a:ln>
          <a:effectLst>
            <a:outerShdw sx="100000" sy="100000" kx="0" ky="0" algn="bl" rotWithShape="0" blurRad="457200" dist="0" dir="60000">
              <a:srgbClr val="FF5C7A">
                <a:alpha val="12000"/>
              </a:srgbClr>
            </a:outerShdw>
          </a:effectLst>
        </p:spPr>
      </p:sp>
      <p:sp>
        <p:nvSpPr>
          <p:cNvPr id="7" name="Shape 5"/>
          <p:cNvSpPr/>
          <p:nvPr/>
        </p:nvSpPr>
        <p:spPr>
          <a:xfrm>
            <a:off x="1122680" y="2341879"/>
            <a:ext cx="457200" cy="31750"/>
          </a:xfrm>
          <a:prstGeom prst="roundRect">
            <a:avLst>
              <a:gd name="adj" fmla="val 50000"/>
            </a:avLst>
          </a:prstGeom>
          <a:solidFill>
            <a:srgbClr val="FF5C7A"/>
          </a:solidFill>
          <a:ln/>
        </p:spPr>
      </p:sp>
      <p:sp>
        <p:nvSpPr>
          <p:cNvPr id="8" name="Text 6"/>
          <p:cNvSpPr/>
          <p:nvPr/>
        </p:nvSpPr>
        <p:spPr>
          <a:xfrm>
            <a:off x="1122680" y="2526029"/>
            <a:ext cx="4672533" cy="939800"/>
          </a:xfrm>
          <a:prstGeom prst="rect">
            <a:avLst/>
          </a:prstGeom>
          <a:noFill/>
          <a:ln/>
        </p:spPr>
        <p:txBody>
          <a:bodyPr wrap="square" lIns="0" tIns="0" rIns="0" bIns="0" rtlCol="0" anchor="t">
            <a:normAutofit/>
          </a:bodyPr>
          <a:lstStyle/>
          <a:p>
            <a:pPr algn="l" indent="0" marL="0">
              <a:lnSpc>
                <a:spcPts val="7200"/>
              </a:lnSpc>
              <a:buNone/>
            </a:pPr>
            <a:r>
              <a:rPr lang="en-US" sz="7200" b="1" spc="-200" kern="0" dirty="0">
                <a:solidFill>
                  <a:srgbClr val="FF5C7A"/>
                </a:solidFill>
                <a:latin typeface="Inter" pitchFamily="34" charset="0"/>
                <a:ea typeface="Inter" pitchFamily="34" charset="-122"/>
                <a:cs typeface="Inter" pitchFamily="34" charset="-120"/>
              </a:rPr>
              <a:t>~$3.98M</a:t>
            </a:r>
            <a:endParaRPr lang="en-US" sz="7200" dirty="0"/>
          </a:p>
        </p:txBody>
      </p:sp>
      <p:sp>
        <p:nvSpPr>
          <p:cNvPr id="9" name="Text 7"/>
          <p:cNvSpPr/>
          <p:nvPr/>
        </p:nvSpPr>
        <p:spPr>
          <a:xfrm>
            <a:off x="1122680" y="3592829"/>
            <a:ext cx="467253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8D4D8"/>
                </a:solidFill>
                <a:latin typeface="Inter" pitchFamily="34" charset="0"/>
                <a:ea typeface="Inter" pitchFamily="34" charset="-122"/>
                <a:cs typeface="Inter" pitchFamily="34" charset="-120"/>
              </a:rPr>
              <a:t>Fixed 70% LTV · bad debt in synthetic tail stress</a:t>
            </a:r>
            <a:endParaRPr lang="en-US" sz="1600" dirty="0"/>
          </a:p>
        </p:txBody>
      </p:sp>
      <p:sp>
        <p:nvSpPr>
          <p:cNvPr id="10" name="Shape 8"/>
          <p:cNvSpPr/>
          <p:nvPr/>
        </p:nvSpPr>
        <p:spPr>
          <a:xfrm>
            <a:off x="6226175" y="2035175"/>
            <a:ext cx="5149850" cy="2482850"/>
          </a:xfrm>
          <a:prstGeom prst="roundRect">
            <a:avLst>
              <a:gd name="adj" fmla="val 7033"/>
            </a:avLst>
          </a:prstGeom>
          <a:solidFill>
            <a:srgbClr val="3DDC97">
              <a:alpha val="6000"/>
            </a:srgbClr>
          </a:solidFill>
          <a:ln w="6350">
            <a:solidFill>
              <a:srgbClr val="3DDC97">
                <a:alpha val="40000"/>
              </a:srgbClr>
            </a:solidFill>
            <a:prstDash val="solid"/>
          </a:ln>
          <a:effectLst>
            <a:outerShdw sx="100000" sy="100000" kx="0" ky="0" algn="bl" rotWithShape="0" blurRad="457200" dist="0" dir="60000">
              <a:srgbClr val="3DDC97">
                <a:alpha val="12000"/>
              </a:srgbClr>
            </a:outerShdw>
          </a:effectLst>
        </p:spPr>
      </p:sp>
      <p:sp>
        <p:nvSpPr>
          <p:cNvPr id="11" name="Shape 9"/>
          <p:cNvSpPr/>
          <p:nvPr/>
        </p:nvSpPr>
        <p:spPr>
          <a:xfrm>
            <a:off x="6532880" y="2341879"/>
            <a:ext cx="457200" cy="31750"/>
          </a:xfrm>
          <a:prstGeom prst="roundRect">
            <a:avLst>
              <a:gd name="adj" fmla="val 50000"/>
            </a:avLst>
          </a:prstGeom>
          <a:solidFill>
            <a:srgbClr val="3DDC97"/>
          </a:solidFill>
          <a:ln/>
        </p:spPr>
      </p:sp>
      <p:sp>
        <p:nvSpPr>
          <p:cNvPr id="12" name="Text 10"/>
          <p:cNvSpPr/>
          <p:nvPr/>
        </p:nvSpPr>
        <p:spPr>
          <a:xfrm>
            <a:off x="6532880" y="2526029"/>
            <a:ext cx="4672533" cy="939800"/>
          </a:xfrm>
          <a:prstGeom prst="rect">
            <a:avLst/>
          </a:prstGeom>
          <a:noFill/>
          <a:ln/>
        </p:spPr>
        <p:txBody>
          <a:bodyPr wrap="square" lIns="0" tIns="0" rIns="0" bIns="0" rtlCol="0" anchor="t">
            <a:normAutofit/>
          </a:bodyPr>
          <a:lstStyle/>
          <a:p>
            <a:pPr algn="l" indent="0" marL="0">
              <a:lnSpc>
                <a:spcPts val="7200"/>
              </a:lnSpc>
              <a:buNone/>
            </a:pPr>
            <a:r>
              <a:rPr lang="en-US" sz="7200" b="1" spc="-200" kern="0" dirty="0">
                <a:solidFill>
                  <a:srgbClr val="3DDC97"/>
                </a:solidFill>
                <a:latin typeface="Inter" pitchFamily="34" charset="0"/>
                <a:ea typeface="Inter" pitchFamily="34" charset="-122"/>
                <a:cs typeface="Inter" pitchFamily="34" charset="-120"/>
              </a:rPr>
              <a:t>$0</a:t>
            </a:r>
            <a:endParaRPr lang="en-US" sz="7200" dirty="0"/>
          </a:p>
        </p:txBody>
      </p:sp>
      <p:sp>
        <p:nvSpPr>
          <p:cNvPr id="13" name="Text 11"/>
          <p:cNvSpPr/>
          <p:nvPr/>
        </p:nvSpPr>
        <p:spPr>
          <a:xfrm>
            <a:off x="6532880" y="3592829"/>
            <a:ext cx="467253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FE8DC"/>
                </a:solidFill>
                <a:latin typeface="Inter" pitchFamily="34" charset="0"/>
                <a:ea typeface="Inter" pitchFamily="34" charset="-122"/>
                <a:cs typeface="Inter" pitchFamily="34" charset="-120"/>
              </a:rPr>
              <a:t>ECV · bad debt (synthetic, in-sample) + 369 refusals</a:t>
            </a:r>
            <a:endParaRPr lang="en-US" sz="1600" dirty="0"/>
          </a:p>
        </p:txBody>
      </p:sp>
      <p:sp>
        <p:nvSpPr>
          <p:cNvPr id="14" name="Text 12"/>
          <p:cNvSpPr/>
          <p:nvPr/>
        </p:nvSpPr>
        <p:spPr>
          <a:xfrm>
            <a:off x="812800" y="48260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8F1F2"/>
                </a:solidFill>
                <a:latin typeface="Inter" pitchFamily="34" charset="0"/>
                <a:ea typeface="Inter" pitchFamily="34" charset="-122"/>
                <a:cs typeface="Inter" pitchFamily="34" charset="-120"/>
              </a:rPr>
              <a:t>In the tail scenario ECV refuses all 369 new loans — that is how bad debt stays at </a:t>
            </a:r>
            <a:r>
              <a:rPr lang="en-US" sz="1600" dirty="0">
                <a:solidFill>
                  <a:srgbClr val="3DDC97"/>
                </a:solidFill>
                <a:latin typeface="Inter" pitchFamily="34" charset="0"/>
                <a:ea typeface="Inter" pitchFamily="34" charset="-122"/>
                <a:cs typeface="Inter" pitchFamily="34" charset="-120"/>
              </a:rPr>
              <a:t>$0</a:t>
            </a:r>
            <a:r>
              <a:rPr lang="en-US" sz="1600" dirty="0">
                <a:solidFill>
                  <a:srgbClr val="E8F1F2"/>
                </a:solidFill>
                <a:latin typeface="Inter" pitchFamily="34" charset="0"/>
                <a:ea typeface="Inter" pitchFamily="34" charset="-122"/>
                <a:cs typeface="Inter" pitchFamily="34" charset="-120"/>
              </a:rPr>
              <a:t>.</a:t>
            </a:r>
            <a:endParaRPr lang="en-US" sz="1600" dirty="0"/>
          </a:p>
        </p:txBody>
      </p:sp>
      <p:sp>
        <p:nvSpPr>
          <p:cNvPr id="15" name="Text 13"/>
          <p:cNvSpPr/>
          <p:nvPr/>
        </p:nvSpPr>
        <p:spPr>
          <a:xfrm>
            <a:off x="812800" y="52197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Trade-off: calm base ≈ 100% of fixed-LTV credit · all six synthetic scenarios ≈ 27%</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8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1838"/>
              </a:gs>
              <a:gs pos="50000">
                <a:srgbClr val="0B0E14"/>
              </a:gs>
              <a:gs pos="100000">
                <a:srgbClr val="070B12"/>
              </a:gs>
            </a:gsLst>
            <a:path path="circle">
              <a:fillToRect l="14000" t="86000" r="86000" b="14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ECV published on Solana devnet</a:t>
            </a:r>
            <a:endParaRPr lang="en-US" sz="3600" dirty="0"/>
          </a:p>
        </p:txBody>
      </p:sp>
      <p:sp>
        <p:nvSpPr>
          <p:cNvPr id="4" name="Text 2"/>
          <p:cNvSpPr/>
          <p:nvPr/>
        </p:nvSpPr>
        <p:spPr>
          <a:xfrm>
            <a:off x="812800" y="1409700"/>
            <a:ext cx="771779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Anchor program ecv_oracle · deployed 26.09</a:t>
            </a:r>
            <a:endParaRPr lang="en-US" sz="1600" dirty="0"/>
          </a:p>
        </p:txBody>
      </p:sp>
      <p:sp>
        <p:nvSpPr>
          <p:cNvPr id="5" name="Shape 3"/>
          <p:cNvSpPr/>
          <p:nvPr/>
        </p:nvSpPr>
        <p:spPr>
          <a:xfrm>
            <a:off x="815975" y="1857375"/>
            <a:ext cx="7486650" cy="1527810"/>
          </a:xfrm>
          <a:prstGeom prst="roundRect">
            <a:avLst>
              <a:gd name="adj" fmla="val 9767"/>
            </a:avLst>
          </a:prstGeom>
          <a:solidFill>
            <a:srgbClr val="0E151C">
              <a:alpha val="90000"/>
            </a:srgbClr>
          </a:solidFill>
          <a:ln w="6350">
            <a:solidFill>
              <a:srgbClr val="2CD8DF">
                <a:alpha val="28000"/>
              </a:srgbClr>
            </a:solidFill>
            <a:prstDash val="solid"/>
          </a:ln>
          <a:effectLst>
            <a:outerShdw sx="100000" sy="100000" kx="0" ky="0" algn="bl" rotWithShape="0" blurRad="355600" dist="0" dir="60000">
              <a:srgbClr val="2CD8DF">
                <a:alpha val="10000"/>
              </a:srgbClr>
            </a:outerShdw>
          </a:effectLst>
        </p:spPr>
      </p:sp>
      <p:sp>
        <p:nvSpPr>
          <p:cNvPr id="6" name="Text 4"/>
          <p:cNvSpPr/>
          <p:nvPr/>
        </p:nvSpPr>
        <p:spPr>
          <a:xfrm>
            <a:off x="1071880" y="2087879"/>
            <a:ext cx="7184085" cy="223520"/>
          </a:xfrm>
          <a:prstGeom prst="rect">
            <a:avLst/>
          </a:prstGeom>
          <a:noFill/>
          <a:ln/>
        </p:spPr>
        <p:txBody>
          <a:bodyPr wrap="square" lIns="0" tIns="0" rIns="0" bIns="0" rtlCol="0" anchor="t">
            <a:normAutofit/>
          </a:bodyPr>
          <a:lstStyle/>
          <a:p>
            <a:pPr algn="l" indent="0" marL="0">
              <a:lnSpc>
                <a:spcPts val="1560"/>
              </a:lnSpc>
              <a:buNone/>
            </a:pPr>
            <a:r>
              <a:rPr lang="en-US" sz="1200" b="1" spc="150" kern="0" dirty="0">
                <a:solidFill>
                  <a:srgbClr val="2CD8DF"/>
                </a:solidFill>
                <a:latin typeface="Inter" pitchFamily="34" charset="0"/>
                <a:ea typeface="Inter" pitchFamily="34" charset="-122"/>
                <a:cs typeface="Inter" pitchFamily="34" charset="-120"/>
              </a:rPr>
              <a:t>PROGRAM ID · DEVNET</a:t>
            </a:r>
            <a:endParaRPr lang="en-US" sz="1200" dirty="0"/>
          </a:p>
        </p:txBody>
      </p:sp>
      <p:sp>
        <p:nvSpPr>
          <p:cNvPr id="7" name="Text 5"/>
          <p:cNvSpPr/>
          <p:nvPr/>
        </p:nvSpPr>
        <p:spPr>
          <a:xfrm>
            <a:off x="1071880" y="2362200"/>
            <a:ext cx="718408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F1F2"/>
                </a:solidFill>
                <a:latin typeface="JetBrains Mono" pitchFamily="34" charset="0"/>
                <a:ea typeface="JetBrains Mono" pitchFamily="34" charset="-122"/>
                <a:cs typeface="JetBrains Mono" pitchFamily="34" charset="-120"/>
              </a:rPr>
              <a:t>5nsdYo…Euc</a:t>
            </a:r>
            <a:endParaRPr lang="en-US" sz="3600" dirty="0"/>
          </a:p>
        </p:txBody>
      </p:sp>
      <p:sp>
        <p:nvSpPr>
          <p:cNvPr id="8" name="Text 6"/>
          <p:cNvSpPr/>
          <p:nvPr/>
        </p:nvSpPr>
        <p:spPr>
          <a:xfrm>
            <a:off x="1071880" y="2941321"/>
            <a:ext cx="71840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Solana Explorer · cluster = devnet · scan the QR →</a:t>
            </a:r>
            <a:endParaRPr lang="en-US" sz="1200" dirty="0"/>
          </a:p>
        </p:txBody>
      </p:sp>
      <p:sp>
        <p:nvSpPr>
          <p:cNvPr id="9" name="Text 7"/>
          <p:cNvSpPr/>
          <p:nvPr/>
        </p:nvSpPr>
        <p:spPr>
          <a:xfrm>
            <a:off x="812800" y="3606800"/>
            <a:ext cx="7717790" cy="223520"/>
          </a:xfrm>
          <a:prstGeom prst="rect">
            <a:avLst/>
          </a:prstGeom>
          <a:noFill/>
          <a:ln/>
        </p:spPr>
        <p:txBody>
          <a:bodyPr wrap="square" lIns="0" tIns="0" rIns="0" bIns="0" rtlCol="0" anchor="t">
            <a:normAutofit/>
          </a:bodyPr>
          <a:lstStyle/>
          <a:p>
            <a:pPr algn="l" indent="0" marL="0">
              <a:lnSpc>
                <a:spcPts val="1560"/>
              </a:lnSpc>
              <a:buNone/>
            </a:pPr>
            <a:r>
              <a:rPr lang="en-US" sz="1200" b="1" spc="150" kern="0" dirty="0">
                <a:solidFill>
                  <a:srgbClr val="A58BF5"/>
                </a:solidFill>
                <a:latin typeface="Inter" pitchFamily="34" charset="0"/>
                <a:ea typeface="Inter" pitchFamily="34" charset="-122"/>
                <a:cs typeface="Inter" pitchFamily="34" charset="-120"/>
              </a:rPr>
              <a:t>PUBLISHES THE FIVE ECV OUTPUTS</a:t>
            </a:r>
            <a:endParaRPr lang="en-US" sz="1200" dirty="0"/>
          </a:p>
        </p:txBody>
      </p:sp>
      <p:sp>
        <p:nvSpPr>
          <p:cNvPr id="10" name="Shape 8"/>
          <p:cNvSpPr/>
          <p:nvPr/>
        </p:nvSpPr>
        <p:spPr>
          <a:xfrm>
            <a:off x="815975" y="3909696"/>
            <a:ext cx="1096010" cy="288290"/>
          </a:xfrm>
          <a:prstGeom prst="roundRect">
            <a:avLst>
              <a:gd name="adj" fmla="val 20925"/>
            </a:avLst>
          </a:prstGeom>
          <a:solidFill>
            <a:srgbClr val="2CD8DF">
              <a:alpha val="8000"/>
            </a:srgbClr>
          </a:solidFill>
          <a:ln w="6350">
            <a:solidFill>
              <a:srgbClr val="2CD8DF">
                <a:alpha val="45000"/>
              </a:srgbClr>
            </a:solidFill>
            <a:prstDash val="solid"/>
          </a:ln>
        </p:spPr>
      </p:sp>
      <p:sp>
        <p:nvSpPr>
          <p:cNvPr id="11" name="Text 9"/>
          <p:cNvSpPr/>
          <p:nvPr/>
        </p:nvSpPr>
        <p:spPr>
          <a:xfrm>
            <a:off x="906780" y="3962401"/>
            <a:ext cx="965200" cy="20828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2CD8DF"/>
                </a:solidFill>
                <a:latin typeface="JetBrains Mono" pitchFamily="34" charset="0"/>
                <a:ea typeface="JetBrains Mono" pitchFamily="34" charset="-122"/>
                <a:cs typeface="JetBrains Mono" pitchFamily="34" charset="-120"/>
              </a:rPr>
              <a:t>max_borrow</a:t>
            </a:r>
            <a:endParaRPr lang="en-US" sz="1200" dirty="0"/>
          </a:p>
        </p:txBody>
      </p:sp>
      <p:sp>
        <p:nvSpPr>
          <p:cNvPr id="12" name="Shape 10"/>
          <p:cNvSpPr/>
          <p:nvPr/>
        </p:nvSpPr>
        <p:spPr>
          <a:xfrm>
            <a:off x="1969135" y="3909696"/>
            <a:ext cx="1461770" cy="288290"/>
          </a:xfrm>
          <a:prstGeom prst="roundRect">
            <a:avLst>
              <a:gd name="adj" fmla="val 20925"/>
            </a:avLst>
          </a:prstGeom>
          <a:solidFill>
            <a:srgbClr val="2CD8DF">
              <a:alpha val="8000"/>
            </a:srgbClr>
          </a:solidFill>
          <a:ln w="6350">
            <a:solidFill>
              <a:srgbClr val="2CD8DF">
                <a:alpha val="45000"/>
              </a:srgbClr>
            </a:solidFill>
            <a:prstDash val="solid"/>
          </a:ln>
        </p:spPr>
      </p:sp>
      <p:sp>
        <p:nvSpPr>
          <p:cNvPr id="13" name="Text 11"/>
          <p:cNvSpPr/>
          <p:nvPr/>
        </p:nvSpPr>
        <p:spPr>
          <a:xfrm>
            <a:off x="2059940" y="3962401"/>
            <a:ext cx="1330960" cy="20828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2CD8DF"/>
                </a:solidFill>
                <a:latin typeface="JetBrains Mono" pitchFamily="34" charset="0"/>
                <a:ea typeface="JetBrains Mono" pitchFamily="34" charset="-122"/>
                <a:cs typeface="JetBrains Mono" pitchFamily="34" charset="-120"/>
              </a:rPr>
              <a:t>collateral_cap</a:t>
            </a:r>
            <a:endParaRPr lang="en-US" sz="1200" dirty="0"/>
          </a:p>
        </p:txBody>
      </p:sp>
      <p:sp>
        <p:nvSpPr>
          <p:cNvPr id="14" name="Shape 12"/>
          <p:cNvSpPr/>
          <p:nvPr/>
        </p:nvSpPr>
        <p:spPr>
          <a:xfrm>
            <a:off x="3488055" y="3909696"/>
            <a:ext cx="1736090" cy="288290"/>
          </a:xfrm>
          <a:prstGeom prst="roundRect">
            <a:avLst>
              <a:gd name="adj" fmla="val 20925"/>
            </a:avLst>
          </a:prstGeom>
          <a:solidFill>
            <a:srgbClr val="2CD8DF">
              <a:alpha val="8000"/>
            </a:srgbClr>
          </a:solidFill>
          <a:ln w="6350">
            <a:solidFill>
              <a:srgbClr val="2CD8DF">
                <a:alpha val="45000"/>
              </a:srgbClr>
            </a:solidFill>
            <a:prstDash val="solid"/>
          </a:ln>
        </p:spPr>
      </p:sp>
      <p:sp>
        <p:nvSpPr>
          <p:cNvPr id="15" name="Text 13"/>
          <p:cNvSpPr/>
          <p:nvPr/>
        </p:nvSpPr>
        <p:spPr>
          <a:xfrm>
            <a:off x="3578860" y="3962401"/>
            <a:ext cx="1605280" cy="20828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2CD8DF"/>
                </a:solidFill>
                <a:latin typeface="JetBrains Mono" pitchFamily="34" charset="0"/>
                <a:ea typeface="JetBrains Mono" pitchFamily="34" charset="-122"/>
                <a:cs typeface="JetBrains Mono" pitchFamily="34" charset="-120"/>
              </a:rPr>
              <a:t>liquidation_route</a:t>
            </a:r>
            <a:endParaRPr lang="en-US" sz="1200" dirty="0"/>
          </a:p>
        </p:txBody>
      </p:sp>
      <p:sp>
        <p:nvSpPr>
          <p:cNvPr id="16" name="Shape 14"/>
          <p:cNvSpPr/>
          <p:nvPr/>
        </p:nvSpPr>
        <p:spPr>
          <a:xfrm>
            <a:off x="5281295" y="3909696"/>
            <a:ext cx="1278890" cy="288290"/>
          </a:xfrm>
          <a:prstGeom prst="roundRect">
            <a:avLst>
              <a:gd name="adj" fmla="val 20925"/>
            </a:avLst>
          </a:prstGeom>
          <a:solidFill>
            <a:srgbClr val="8462D8">
              <a:alpha val="10000"/>
            </a:srgbClr>
          </a:solidFill>
          <a:ln w="6350">
            <a:solidFill>
              <a:srgbClr val="9469F2">
                <a:alpha val="50000"/>
              </a:srgbClr>
            </a:solidFill>
            <a:prstDash val="solid"/>
          </a:ln>
        </p:spPr>
      </p:sp>
      <p:sp>
        <p:nvSpPr>
          <p:cNvPr id="17" name="Text 15"/>
          <p:cNvSpPr/>
          <p:nvPr/>
        </p:nvSpPr>
        <p:spPr>
          <a:xfrm>
            <a:off x="5372100" y="3962401"/>
            <a:ext cx="1148080" cy="20828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B9A4F7"/>
                </a:solidFill>
                <a:latin typeface="JetBrains Mono" pitchFamily="34" charset="0"/>
                <a:ea typeface="JetBrains Mono" pitchFamily="34" charset="-122"/>
                <a:cs typeface="JetBrains Mono" pitchFamily="34" charset="-120"/>
              </a:rPr>
              <a:t>risk_premium</a:t>
            </a:r>
            <a:endParaRPr lang="en-US" sz="1200" dirty="0"/>
          </a:p>
        </p:txBody>
      </p:sp>
      <p:sp>
        <p:nvSpPr>
          <p:cNvPr id="18" name="Shape 16"/>
          <p:cNvSpPr/>
          <p:nvPr/>
        </p:nvSpPr>
        <p:spPr>
          <a:xfrm>
            <a:off x="6617335" y="3909696"/>
            <a:ext cx="1553210" cy="288290"/>
          </a:xfrm>
          <a:prstGeom prst="roundRect">
            <a:avLst>
              <a:gd name="adj" fmla="val 20925"/>
            </a:avLst>
          </a:prstGeom>
          <a:solidFill>
            <a:srgbClr val="8462D8">
              <a:alpha val="10000"/>
            </a:srgbClr>
          </a:solidFill>
          <a:ln w="6350">
            <a:solidFill>
              <a:srgbClr val="9469F2">
                <a:alpha val="50000"/>
              </a:srgbClr>
            </a:solidFill>
            <a:prstDash val="solid"/>
          </a:ln>
        </p:spPr>
      </p:sp>
      <p:sp>
        <p:nvSpPr>
          <p:cNvPr id="19" name="Text 17"/>
          <p:cNvSpPr/>
          <p:nvPr/>
        </p:nvSpPr>
        <p:spPr>
          <a:xfrm>
            <a:off x="6708140" y="3962401"/>
            <a:ext cx="1422400" cy="20828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B9A4F7"/>
                </a:solidFill>
                <a:latin typeface="JetBrains Mono" pitchFamily="34" charset="0"/>
                <a:ea typeface="JetBrains Mono" pitchFamily="34" charset="-122"/>
                <a:cs typeface="JetBrains Mono" pitchFamily="34" charset="-120"/>
              </a:rPr>
              <a:t>borrow_disabled</a:t>
            </a:r>
            <a:endParaRPr lang="en-US" sz="1200" dirty="0"/>
          </a:p>
        </p:txBody>
      </p:sp>
      <p:sp>
        <p:nvSpPr>
          <p:cNvPr id="20" name="Text 18"/>
          <p:cNvSpPr/>
          <p:nvPr/>
        </p:nvSpPr>
        <p:spPr>
          <a:xfrm>
            <a:off x="812800" y="4445000"/>
            <a:ext cx="771779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CD8DF"/>
                </a:solidFill>
                <a:latin typeface="Inter" pitchFamily="34" charset="0"/>
                <a:ea typeface="Inter" pitchFamily="34" charset="-122"/>
                <a:cs typeface="Inter" pitchFamily="34" charset="-120"/>
              </a:rPr>
              <a:t>NEXT →</a:t>
            </a:r>
            <a:r>
              <a:rPr lang="en-US" sz="1600" dirty="0">
                <a:solidFill>
                  <a:srgbClr val="E8F1F2"/>
                </a:solidFill>
                <a:latin typeface="Inter" pitchFamily="34" charset="0"/>
                <a:ea typeface="Inter" pitchFamily="34" charset="-122"/>
                <a:cs typeface="Inter" pitchFamily="34" charset="-120"/>
              </a:rPr>
              <a:t> verifiable inputs · multi-signer posting · vault + borrow gate</a:t>
            </a:r>
            <a:endParaRPr lang="en-US" sz="1600" dirty="0"/>
          </a:p>
        </p:txBody>
      </p:sp>
      <p:sp>
        <p:nvSpPr>
          <p:cNvPr id="21" name="Shape 19"/>
          <p:cNvSpPr/>
          <p:nvPr/>
        </p:nvSpPr>
        <p:spPr>
          <a:xfrm>
            <a:off x="8712200" y="1854200"/>
            <a:ext cx="2667000" cy="2667000"/>
          </a:xfrm>
          <a:prstGeom prst="roundRect">
            <a:avLst>
              <a:gd name="adj" fmla="val 5714"/>
            </a:avLst>
          </a:prstGeom>
          <a:solidFill>
            <a:srgbClr val="FFFFFF"/>
          </a:solidFill>
          <a:ln/>
          <a:effectLst>
            <a:outerShdw sx="100000" sy="100000" kx="0" ky="0" algn="bl" rotWithShape="0" blurRad="457200" dist="0" dir="60000">
              <a:srgbClr val="2CD8DF">
                <a:alpha val="25000"/>
              </a:srgbClr>
            </a:outerShdw>
          </a:effectLst>
        </p:spPr>
      </p:sp>
      <p:pic>
        <p:nvPicPr>
          <p:cNvPr id="22" name="Image 0" descr="QR code linking to the ecv_oracle program on Solana Explorer (devnet)">    </p:cNvPr>
          <p:cNvPicPr>
            <a:picLocks noChangeAspect="1"/>
          </p:cNvPicPr>
          <p:nvPr/>
        </p:nvPicPr>
        <p:blipFill>
          <a:blip r:embed="rId1"/>
          <a:srcRect l="0" r="0" t="0" b="0"/>
          <a:stretch/>
        </p:blipFill>
        <p:spPr>
          <a:xfrm>
            <a:off x="8915400" y="2057400"/>
            <a:ext cx="2260600" cy="2260600"/>
          </a:xfrm>
          <a:prstGeom prst="rect">
            <a:avLst/>
          </a:prstGeom>
        </p:spPr>
      </p:pic>
      <p:sp>
        <p:nvSpPr>
          <p:cNvPr id="23" name="Text 20"/>
          <p:cNvSpPr/>
          <p:nvPr/>
        </p:nvSpPr>
        <p:spPr>
          <a:xfrm>
            <a:off x="8672195" y="4648200"/>
            <a:ext cx="274701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D3D6"/>
                </a:solidFill>
                <a:latin typeface="Inter" pitchFamily="34" charset="0"/>
                <a:ea typeface="Inter" pitchFamily="34" charset="-122"/>
                <a:cs typeface="Inter" pitchFamily="34" charset="-120"/>
              </a:rPr>
              <a:t>Scan → Solana Explorer (devnet)</a:t>
            </a:r>
            <a:endParaRPr lang="en-US" sz="1200" dirty="0"/>
          </a:p>
        </p:txBody>
      </p:sp>
      <p:sp>
        <p:nvSpPr>
          <p:cNvPr id="24" name="Text 21"/>
          <p:cNvSpPr/>
          <p:nvPr/>
        </p:nvSpPr>
        <p:spPr>
          <a:xfrm>
            <a:off x="812800" y="5410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Rust poster can re-post the ECV record on a schedule (--every-sec) · last devnet post: 26.09.2026, 19:55 (Warsaw)</a:t>
            </a:r>
            <a:endParaRPr lang="en-US" sz="1200" dirty="0"/>
          </a:p>
        </p:txBody>
      </p:sp>
      <p:sp>
        <p:nvSpPr>
          <p:cNvPr id="25" name="Text 22"/>
          <p:cNvSpPr/>
          <p:nvPr/>
        </p:nvSpPr>
        <p:spPr>
          <a:xfrm>
            <a:off x="812800" y="568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6"/>
                </a:solidFill>
                <a:latin typeface="Inter" pitchFamily="34" charset="0"/>
                <a:ea typeface="Inter" pitchFamily="34" charset="-122"/>
                <a:cs typeface="Inter" pitchFamily="34" charset="-120"/>
              </a:rPr>
              <a:t>Today: single-authority signer on devnet. Publishes ECV quotes; integrators enforce. Not mainnet.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pic>
        <p:nvPicPr>
          <p:cNvPr id="3" name="Image 0" descr="Decorative shield outline">    </p:cNvPr>
          <p:cNvPicPr>
            <a:picLocks noChangeAspect="1"/>
          </p:cNvPicPr>
          <p:nvPr/>
        </p:nvPicPr>
        <p:blipFill>
          <a:blip r:embed="rId1">
            <a:alphaModFix amt="50000"/>
          </a:blip>
          <a:srcRect l="0" r="0" t="0" b="0"/>
          <a:stretch/>
        </p:blipFill>
        <p:spPr>
          <a:xfrm>
            <a:off x="7620000" y="2286000"/>
            <a:ext cx="4572000" cy="4572000"/>
          </a:xfrm>
          <a:prstGeom prst="rect">
            <a:avLst/>
          </a:prstGeom>
        </p:spPr>
      </p:pic>
      <p:sp>
        <p:nvSpPr>
          <p:cNvPr id="4"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Built where the collateral already trades</a:t>
            </a:r>
            <a:endParaRPr lang="en-US" sz="3600" dirty="0"/>
          </a:p>
        </p:txBody>
      </p:sp>
      <p:sp>
        <p:nvSpPr>
          <p:cNvPr id="5" name="Shape 2"/>
          <p:cNvSpPr/>
          <p:nvPr/>
        </p:nvSpPr>
        <p:spPr>
          <a:xfrm>
            <a:off x="815975" y="1882775"/>
            <a:ext cx="9137650" cy="755650"/>
          </a:xfrm>
          <a:prstGeom prst="roundRect">
            <a:avLst>
              <a:gd name="adj" fmla="val 16387"/>
            </a:avLst>
          </a:prstGeom>
          <a:solidFill>
            <a:srgbClr val="0E151C">
              <a:alpha val="90000"/>
            </a:srgbClr>
          </a:solidFill>
          <a:ln w="6350">
            <a:solidFill>
              <a:srgbClr val="2CD8DF">
                <a:alpha val="25000"/>
              </a:srgbClr>
            </a:solidFill>
            <a:prstDash val="solid"/>
          </a:ln>
          <a:effectLst>
            <a:outerShdw sx="100000" sy="100000" kx="0" ky="0" algn="bl" rotWithShape="0" blurRad="304800" dist="0" dir="60000">
              <a:srgbClr val="2CD8DF">
                <a:alpha val="8000"/>
              </a:srgbClr>
            </a:outerShdw>
          </a:effectLst>
        </p:spPr>
      </p:sp>
      <p:sp>
        <p:nvSpPr>
          <p:cNvPr id="6" name="Shape 3"/>
          <p:cNvSpPr/>
          <p:nvPr/>
        </p:nvSpPr>
        <p:spPr>
          <a:xfrm>
            <a:off x="1021080" y="2032000"/>
            <a:ext cx="457200" cy="457200"/>
          </a:xfrm>
          <a:prstGeom prst="roundRect">
            <a:avLst>
              <a:gd name="adj" fmla="val 22222"/>
            </a:avLst>
          </a:prstGeom>
          <a:solidFill>
            <a:srgbClr val="2CD8DF">
              <a:alpha val="12000"/>
            </a:srgbClr>
          </a:solidFill>
          <a:ln/>
        </p:spPr>
      </p:sp>
      <p:pic>
        <p:nvPicPr>
          <p:cNvPr id="7" name="Image 1" descr="Globe">    </p:cNvPr>
          <p:cNvPicPr>
            <a:picLocks noChangeAspect="1"/>
          </p:cNvPicPr>
          <p:nvPr/>
        </p:nvPicPr>
        <p:blipFill>
          <a:blip r:embed="rId2"/>
          <a:srcRect l="0" r="0" t="0" b="0"/>
          <a:stretch/>
        </p:blipFill>
        <p:spPr>
          <a:xfrm>
            <a:off x="1097280" y="2108200"/>
            <a:ext cx="304800" cy="304800"/>
          </a:xfrm>
          <a:prstGeom prst="rect">
            <a:avLst/>
          </a:prstGeom>
        </p:spPr>
      </p:pic>
      <p:sp>
        <p:nvSpPr>
          <p:cNvPr id="8" name="Text 4"/>
          <p:cNvSpPr/>
          <p:nvPr/>
        </p:nvSpPr>
        <p:spPr>
          <a:xfrm>
            <a:off x="1681480" y="2123442"/>
            <a:ext cx="5360921"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8F1F2"/>
                </a:solidFill>
                <a:latin typeface="Inter" pitchFamily="34" charset="0"/>
                <a:ea typeface="Inter" pitchFamily="34" charset="-122"/>
                <a:cs typeface="Inter" pitchFamily="34" charset="-120"/>
              </a:rPr>
              <a:t>xStocks venues — where the collateral already trades</a:t>
            </a:r>
            <a:endParaRPr lang="en-US" sz="1600" dirty="0"/>
          </a:p>
        </p:txBody>
      </p:sp>
      <p:pic>
        <p:nvPicPr>
          <p:cNvPr id="9" name="Image 2" descr="connector">    </p:cNvPr>
          <p:cNvPicPr>
            <a:picLocks noChangeAspect="1"/>
          </p:cNvPicPr>
          <p:nvPr/>
        </p:nvPicPr>
        <p:blipFill>
          <a:blip r:embed="rId3"/>
          <a:srcRect l="0" r="0" t="0" b="0"/>
          <a:stretch/>
        </p:blipFill>
        <p:spPr>
          <a:xfrm>
            <a:off x="1193800" y="2590800"/>
            <a:ext cx="101600" cy="508000"/>
          </a:xfrm>
          <a:prstGeom prst="rect">
            <a:avLst/>
          </a:prstGeom>
        </p:spPr>
      </p:pic>
      <p:sp>
        <p:nvSpPr>
          <p:cNvPr id="10" name="Shape 5"/>
          <p:cNvSpPr/>
          <p:nvPr/>
        </p:nvSpPr>
        <p:spPr>
          <a:xfrm>
            <a:off x="815975" y="3051175"/>
            <a:ext cx="9137650" cy="946150"/>
          </a:xfrm>
          <a:prstGeom prst="roundRect">
            <a:avLst>
              <a:gd name="adj" fmla="val 13087"/>
            </a:avLst>
          </a:prstGeom>
          <a:solidFill>
            <a:srgbClr val="0E151C">
              <a:alpha val="90000"/>
            </a:srgbClr>
          </a:solidFill>
          <a:ln w="6350">
            <a:solidFill>
              <a:srgbClr val="9469F2">
                <a:alpha val="32000"/>
              </a:srgbClr>
            </a:solidFill>
            <a:prstDash val="solid"/>
          </a:ln>
          <a:effectLst>
            <a:outerShdw sx="100000" sy="100000" kx="0" ky="0" algn="bl" rotWithShape="0" blurRad="304800" dist="0" dir="60000">
              <a:srgbClr val="8462D8">
                <a:alpha val="10000"/>
              </a:srgbClr>
            </a:outerShdw>
          </a:effectLst>
        </p:spPr>
      </p:sp>
      <p:sp>
        <p:nvSpPr>
          <p:cNvPr id="11" name="Shape 6"/>
          <p:cNvSpPr/>
          <p:nvPr/>
        </p:nvSpPr>
        <p:spPr>
          <a:xfrm>
            <a:off x="1021080" y="3295650"/>
            <a:ext cx="457200" cy="457200"/>
          </a:xfrm>
          <a:prstGeom prst="roundRect">
            <a:avLst>
              <a:gd name="adj" fmla="val 22222"/>
            </a:avLst>
          </a:prstGeom>
          <a:solidFill>
            <a:srgbClr val="8462D8">
              <a:alpha val="16000"/>
            </a:srgbClr>
          </a:solidFill>
          <a:ln/>
        </p:spPr>
      </p:sp>
      <p:pic>
        <p:nvPicPr>
          <p:cNvPr id="12" name="Image 3" descr="Link">    </p:cNvPr>
          <p:cNvPicPr>
            <a:picLocks noChangeAspect="1"/>
          </p:cNvPicPr>
          <p:nvPr/>
        </p:nvPicPr>
        <p:blipFill>
          <a:blip r:embed="rId4"/>
          <a:srcRect l="0" r="0" t="0" b="0"/>
          <a:stretch/>
        </p:blipFill>
        <p:spPr>
          <a:xfrm>
            <a:off x="1097280" y="3371850"/>
            <a:ext cx="304800" cy="304800"/>
          </a:xfrm>
          <a:prstGeom prst="rect">
            <a:avLst/>
          </a:prstGeom>
        </p:spPr>
      </p:pic>
      <p:sp>
        <p:nvSpPr>
          <p:cNvPr id="13" name="Text 7"/>
          <p:cNvSpPr/>
          <p:nvPr/>
        </p:nvSpPr>
        <p:spPr>
          <a:xfrm>
            <a:off x="1681480" y="3261364"/>
            <a:ext cx="8309051"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8F1F2"/>
                </a:solidFill>
                <a:latin typeface="Inter" pitchFamily="34" charset="0"/>
                <a:ea typeface="Inter" pitchFamily="34" charset="-122"/>
                <a:cs typeface="Inter" pitchFamily="34" charset="-120"/>
              </a:rPr>
              <a:t>Jupiter routes = the liquidation path ECV quotes</a:t>
            </a:r>
            <a:endParaRPr lang="en-US" sz="1600" dirty="0"/>
          </a:p>
        </p:txBody>
      </p:sp>
      <p:sp>
        <p:nvSpPr>
          <p:cNvPr id="14" name="Text 8"/>
          <p:cNvSpPr/>
          <p:nvPr/>
        </p:nvSpPr>
        <p:spPr>
          <a:xfrm>
            <a:off x="1681480" y="3573779"/>
            <a:ext cx="83090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A7"/>
                </a:solidFill>
                <a:latin typeface="Inter" pitchFamily="34" charset="0"/>
                <a:ea typeface="Inter" pitchFamily="34" charset="-122"/>
                <a:cs typeface="Inter" pitchFamily="34" charset="-120"/>
              </a:rPr>
              <a:t>(demo: Jupiter quote ladder measured 16:17 + Kamino snapshot 13:50, stress sandbox)</a:t>
            </a:r>
            <a:endParaRPr lang="en-US" sz="1200" dirty="0"/>
          </a:p>
        </p:txBody>
      </p:sp>
      <p:pic>
        <p:nvPicPr>
          <p:cNvPr id="15" name="Image 4" descr="connector">    </p:cNvPr>
          <p:cNvPicPr>
            <a:picLocks noChangeAspect="1"/>
          </p:cNvPicPr>
          <p:nvPr/>
        </p:nvPicPr>
        <p:blipFill>
          <a:blip r:embed="rId5"/>
          <a:srcRect l="0" r="0" t="0" b="0"/>
          <a:stretch/>
        </p:blipFill>
        <p:spPr>
          <a:xfrm>
            <a:off x="1193800" y="3949700"/>
            <a:ext cx="101600" cy="508000"/>
          </a:xfrm>
          <a:prstGeom prst="rect">
            <a:avLst/>
          </a:prstGeom>
        </p:spPr>
      </p:pic>
      <p:sp>
        <p:nvSpPr>
          <p:cNvPr id="16" name="Shape 9"/>
          <p:cNvSpPr/>
          <p:nvPr/>
        </p:nvSpPr>
        <p:spPr>
          <a:xfrm>
            <a:off x="815975" y="4410075"/>
            <a:ext cx="9137650" cy="755650"/>
          </a:xfrm>
          <a:prstGeom prst="roundRect">
            <a:avLst>
              <a:gd name="adj" fmla="val 16387"/>
            </a:avLst>
          </a:prstGeom>
          <a:gradFill rotWithShape="1">
            <a:gsLst>
              <a:gs pos="0">
                <a:srgbClr val="2CD8DF">
                  <a:alpha val="14000"/>
                </a:srgbClr>
              </a:gs>
              <a:gs pos="100000">
                <a:srgbClr val="8462D8">
                  <a:alpha val="14000"/>
                </a:srgbClr>
              </a:gs>
            </a:gsLst>
            <a:lin ang="0" scaled="0"/>
          </a:gradFill>
          <a:ln w="6350">
            <a:solidFill>
              <a:srgbClr val="2CD8DF">
                <a:alpha val="40000"/>
              </a:srgbClr>
            </a:solidFill>
            <a:prstDash val="solid"/>
          </a:ln>
          <a:effectLst>
            <a:outerShdw sx="100000" sy="100000" kx="0" ky="0" algn="bl" rotWithShape="0" blurRad="406400" dist="0" dir="60000">
              <a:srgbClr val="2CD8DF">
                <a:alpha val="14000"/>
              </a:srgbClr>
            </a:outerShdw>
          </a:effectLst>
        </p:spPr>
      </p:sp>
      <p:sp>
        <p:nvSpPr>
          <p:cNvPr id="17" name="Shape 10"/>
          <p:cNvSpPr/>
          <p:nvPr/>
        </p:nvSpPr>
        <p:spPr>
          <a:xfrm>
            <a:off x="1021080" y="4559300"/>
            <a:ext cx="457200" cy="457200"/>
          </a:xfrm>
          <a:prstGeom prst="roundRect">
            <a:avLst>
              <a:gd name="adj" fmla="val 22222"/>
            </a:avLst>
          </a:prstGeom>
          <a:solidFill>
            <a:srgbClr val="0B0E14">
              <a:alpha val="80000"/>
            </a:srgbClr>
          </a:solidFill>
          <a:ln/>
        </p:spPr>
      </p:sp>
      <p:pic>
        <p:nvPicPr>
          <p:cNvPr id="18" name="Image 5" descr="Trust">    </p:cNvPr>
          <p:cNvPicPr>
            <a:picLocks noChangeAspect="1"/>
          </p:cNvPicPr>
          <p:nvPr/>
        </p:nvPicPr>
        <p:blipFill>
          <a:blip r:embed="rId6"/>
          <a:srcRect l="0" r="0" t="0" b="0"/>
          <a:stretch/>
        </p:blipFill>
        <p:spPr>
          <a:xfrm>
            <a:off x="1097280" y="4635500"/>
            <a:ext cx="304800" cy="304800"/>
          </a:xfrm>
          <a:prstGeom prst="rect">
            <a:avLst/>
          </a:prstGeom>
        </p:spPr>
      </p:pic>
      <p:sp>
        <p:nvSpPr>
          <p:cNvPr id="19" name="Text 11"/>
          <p:cNvSpPr/>
          <p:nvPr/>
        </p:nvSpPr>
        <p:spPr>
          <a:xfrm>
            <a:off x="1681480" y="4650742"/>
            <a:ext cx="4685206"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8F1F2"/>
                </a:solidFill>
                <a:latin typeface="Inter" pitchFamily="34" charset="0"/>
                <a:ea typeface="Inter" pitchFamily="34" charset="-122"/>
                <a:cs typeface="Inter" pitchFamily="34" charset="-120"/>
              </a:rPr>
              <a:t>Composable ECV risk quotes for those venues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8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1838"/>
              </a:gs>
              <a:gs pos="50000">
                <a:srgbClr val="0B0E14"/>
              </a:gs>
              <a:gs pos="100000">
                <a:srgbClr val="070B12"/>
              </a:gs>
            </a:gsLst>
            <a:path path="circle">
              <a:fillToRect l="14000" t="86000" r="86000" b="14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Protocols pay millions for risk management</a:t>
            </a:r>
            <a:endParaRPr lang="en-US" sz="3600" dirty="0"/>
          </a:p>
        </p:txBody>
      </p:sp>
      <p:sp>
        <p:nvSpPr>
          <p:cNvPr id="4" name="Shape 2"/>
          <p:cNvSpPr/>
          <p:nvPr/>
        </p:nvSpPr>
        <p:spPr>
          <a:xfrm>
            <a:off x="815975" y="1704975"/>
            <a:ext cx="3380264" cy="4649470"/>
          </a:xfrm>
          <a:prstGeom prst="roundRect">
            <a:avLst>
              <a:gd name="adj" fmla="val 4415"/>
            </a:avLst>
          </a:prstGeom>
          <a:solidFill>
            <a:srgbClr val="0E151C">
              <a:alpha val="90000"/>
            </a:srgbClr>
          </a:solidFill>
          <a:ln w="6350">
            <a:solidFill>
              <a:srgbClr val="9469F2">
                <a:alpha val="40000"/>
              </a:srgbClr>
            </a:solidFill>
            <a:prstDash val="solid"/>
          </a:ln>
        </p:spPr>
      </p:sp>
      <p:sp>
        <p:nvSpPr>
          <p:cNvPr id="5" name="Text 3"/>
          <p:cNvSpPr/>
          <p:nvPr/>
        </p:nvSpPr>
        <p:spPr>
          <a:xfrm>
            <a:off x="1071880" y="1960879"/>
            <a:ext cx="2954507"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A58BF5"/>
                </a:solidFill>
                <a:latin typeface="Inter" pitchFamily="34" charset="0"/>
                <a:ea typeface="Inter" pitchFamily="34" charset="-122"/>
                <a:cs typeface="Inter" pitchFamily="34" charset="-120"/>
              </a:rPr>
              <a:t>Chaos Labs</a:t>
            </a:r>
            <a:endParaRPr lang="en-US" sz="2200" dirty="0"/>
          </a:p>
        </p:txBody>
      </p:sp>
      <p:sp>
        <p:nvSpPr>
          <p:cNvPr id="6" name="Text 4"/>
          <p:cNvSpPr/>
          <p:nvPr/>
        </p:nvSpPr>
        <p:spPr>
          <a:xfrm>
            <a:off x="1071880" y="2369821"/>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RISK MANAGER · RISK ORACLES</a:t>
            </a:r>
            <a:endParaRPr lang="en-US" sz="1200" dirty="0"/>
          </a:p>
        </p:txBody>
      </p:sp>
      <p:sp>
        <p:nvSpPr>
          <p:cNvPr id="7" name="Text 5"/>
          <p:cNvSpPr/>
          <p:nvPr/>
        </p:nvSpPr>
        <p:spPr>
          <a:xfrm>
            <a:off x="1249680" y="2684779"/>
            <a:ext cx="2771373" cy="343916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Ran Aave risk for 3 years, TVL $5.2B → $26B.</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Risk Oracles adjust LTVs and liquidation thresholds.</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Building RWA risk for Aave Horizon, incl. closed markets.</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Left Aave 04.2026: offered $5M/yr, wanted ≥ $8M.</a:t>
            </a:r>
            <a:endParaRPr lang="en-US" sz="1600" dirty="0"/>
          </a:p>
        </p:txBody>
      </p:sp>
      <p:sp>
        <p:nvSpPr>
          <p:cNvPr id="8" name="Shape 6"/>
          <p:cNvSpPr/>
          <p:nvPr/>
        </p:nvSpPr>
        <p:spPr>
          <a:xfrm>
            <a:off x="4405789" y="1704975"/>
            <a:ext cx="3380343" cy="4649470"/>
          </a:xfrm>
          <a:prstGeom prst="roundRect">
            <a:avLst>
              <a:gd name="adj" fmla="val 4414"/>
            </a:avLst>
          </a:prstGeom>
          <a:solidFill>
            <a:srgbClr val="0E151C">
              <a:alpha val="90000"/>
            </a:srgbClr>
          </a:solidFill>
          <a:ln w="6350">
            <a:solidFill>
              <a:srgbClr val="2CD8DF">
                <a:alpha val="30000"/>
              </a:srgbClr>
            </a:solidFill>
            <a:prstDash val="solid"/>
          </a:ln>
        </p:spPr>
      </p:sp>
      <p:sp>
        <p:nvSpPr>
          <p:cNvPr id="9" name="Text 7"/>
          <p:cNvSpPr/>
          <p:nvPr/>
        </p:nvSpPr>
        <p:spPr>
          <a:xfrm>
            <a:off x="4661694" y="1960879"/>
            <a:ext cx="295458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CD8DF"/>
                </a:solidFill>
                <a:latin typeface="Inter" pitchFamily="34" charset="0"/>
                <a:ea typeface="Inter" pitchFamily="34" charset="-122"/>
                <a:cs typeface="Inter" pitchFamily="34" charset="-120"/>
              </a:rPr>
              <a:t>Gauntlet</a:t>
            </a:r>
            <a:endParaRPr lang="en-US" sz="2200" dirty="0"/>
          </a:p>
        </p:txBody>
      </p:sp>
      <p:sp>
        <p:nvSpPr>
          <p:cNvPr id="10" name="Text 8"/>
          <p:cNvSpPr/>
          <p:nvPr/>
        </p:nvSpPr>
        <p:spPr>
          <a:xfrm>
            <a:off x="4661694" y="23698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VAULT CURATOR</a:t>
            </a:r>
            <a:endParaRPr lang="en-US" sz="1200" dirty="0"/>
          </a:p>
        </p:txBody>
      </p:sp>
      <p:sp>
        <p:nvSpPr>
          <p:cNvPr id="11" name="Text 9"/>
          <p:cNvSpPr/>
          <p:nvPr/>
        </p:nvSpPr>
        <p:spPr>
          <a:xfrm>
            <a:off x="4839494" y="2684779"/>
            <a:ext cx="2771455" cy="201676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$125M Series C from SBI Holdings (07.2026).</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Curates ~$1.6B in vaults.</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Clients: Coinbase, Circle, Apollo.</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On Solana: only ~$7.6M in vaults.</a:t>
            </a:r>
            <a:endParaRPr lang="en-US" sz="1600" dirty="0"/>
          </a:p>
        </p:txBody>
      </p:sp>
      <p:sp>
        <p:nvSpPr>
          <p:cNvPr id="12" name="Shape 10"/>
          <p:cNvSpPr/>
          <p:nvPr/>
        </p:nvSpPr>
        <p:spPr>
          <a:xfrm>
            <a:off x="7995682" y="1704975"/>
            <a:ext cx="3380343" cy="4649470"/>
          </a:xfrm>
          <a:prstGeom prst="roundRect">
            <a:avLst>
              <a:gd name="adj" fmla="val 4414"/>
            </a:avLst>
          </a:prstGeom>
          <a:solidFill>
            <a:srgbClr val="0C201C">
              <a:alpha val="90000"/>
            </a:srgbClr>
          </a:solidFill>
          <a:ln w="6350">
            <a:solidFill>
              <a:srgbClr val="3DDC97">
                <a:alpha val="50000"/>
              </a:srgbClr>
            </a:solidFill>
            <a:prstDash val="solid"/>
          </a:ln>
        </p:spPr>
      </p:sp>
      <p:sp>
        <p:nvSpPr>
          <p:cNvPr id="13" name="Text 11"/>
          <p:cNvSpPr/>
          <p:nvPr/>
        </p:nvSpPr>
        <p:spPr>
          <a:xfrm>
            <a:off x="8251587" y="1960879"/>
            <a:ext cx="295458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3DDC97"/>
                </a:solidFill>
                <a:latin typeface="Inter" pitchFamily="34" charset="0"/>
                <a:ea typeface="Inter" pitchFamily="34" charset="-122"/>
                <a:cs typeface="Inter" pitchFamily="34" charset="-120"/>
              </a:rPr>
              <a:t>RWA Shield</a:t>
            </a:r>
            <a:endParaRPr lang="en-US" sz="2200" dirty="0"/>
          </a:p>
        </p:txBody>
      </p:sp>
      <p:sp>
        <p:nvSpPr>
          <p:cNvPr id="14" name="Text 12"/>
          <p:cNvSpPr/>
          <p:nvPr/>
        </p:nvSpPr>
        <p:spPr>
          <a:xfrm>
            <a:off x="8251587" y="23698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3A7"/>
                </a:solidFill>
                <a:latin typeface="Inter" pitchFamily="34" charset="0"/>
                <a:ea typeface="Inter" pitchFamily="34" charset="-122"/>
                <a:cs typeface="Inter" pitchFamily="34" charset="-120"/>
              </a:rPr>
              <a:t>OUR NICHE</a:t>
            </a:r>
            <a:endParaRPr lang="en-US" sz="1200" dirty="0"/>
          </a:p>
        </p:txBody>
      </p:sp>
      <p:sp>
        <p:nvSpPr>
          <p:cNvPr id="15" name="Text 13"/>
          <p:cNvSpPr/>
          <p:nvPr/>
        </p:nvSpPr>
        <p:spPr>
          <a:xfrm>
            <a:off x="8429387" y="2684779"/>
            <a:ext cx="2771455" cy="343916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Tokenized stocks on Solana: nobody measures exit liquidity per position.</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Liquidity data + position risk map for Kamino curators.</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Already: 9 xStocks, 7,040 accounts.</a:t>
            </a:r>
            <a:endParaRPr lang="en-US" sz="1600" dirty="0"/>
          </a:p>
          <a:p>
            <a:pPr algn="l" marL="243840" indent="-183642">
              <a:lnSpc>
                <a:spcPts val="2240"/>
              </a:lnSpc>
              <a:buSzPct val="100000"/>
              <a:buChar char="•"/>
            </a:pPr>
            <a:r>
              <a:rPr lang="en-US" sz="1600" dirty="0">
                <a:solidFill>
                  <a:srgbClr val="E8F1F2"/>
                </a:solidFill>
                <a:latin typeface="Inter" pitchFamily="34" charset="0"/>
                <a:ea typeface="Inter" pitchFamily="34" charset="-122"/>
                <a:cs typeface="Inter" pitchFamily="34" charset="-120"/>
              </a:rPr>
              <a:t>Big players can come. We win on focus and speed.</a:t>
            </a:r>
            <a:endParaRPr lang="en-US" sz="1600" dirty="0"/>
          </a:p>
        </p:txBody>
      </p:sp>
      <p:sp>
        <p:nvSpPr>
          <p:cNvPr id="16" name="Text 14"/>
          <p:cNvSpPr/>
          <p:nvPr/>
        </p:nvSpPr>
        <p:spPr>
          <a:xfrm>
            <a:off x="812800" y="59690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9195"/>
                </a:solidFill>
                <a:latin typeface="Inter" pitchFamily="34" charset="0"/>
                <a:ea typeface="Inter" pitchFamily="34" charset="-122"/>
                <a:cs typeface="Inter" pitchFamily="34" charset="-120"/>
              </a:rPr>
              <a:t>Per Chaos Labs, the industry standard is 6–10% of protocol revenue spent on risk. Sources: Blockonomi, CoinDesk (Aave, 04.2026); Fortune (Gauntlet, 09.07.2026); DefiLlama (27.09.2026); Chaos Labs.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83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1838"/>
              </a:gs>
              <a:gs pos="50000">
                <a:srgbClr val="0B0E14"/>
              </a:gs>
              <a:gs pos="100000">
                <a:srgbClr val="070B12"/>
              </a:gs>
            </a:gsLst>
            <a:path path="circle">
              <a:fillToRect l="14000" t="86000" r="86000" b="14000"/>
            </a:path>
          </a:gradFill>
          <a:ln/>
        </p:spPr>
      </p:sp>
      <p:sp>
        <p:nvSpPr>
          <p:cNvPr id="3" name="Text 1"/>
          <p:cNvSpPr/>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Monetization — </a:t>
            </a:r>
            <a:r>
              <a:rPr lang="en-US" sz="3600" b="1" spc="-50" kern="0" dirty="0">
                <a:solidFill>
                  <a:srgbClr val="A58BF5"/>
                </a:solidFill>
                <a:latin typeface="Inter" pitchFamily="34" charset="0"/>
                <a:ea typeface="Inter" pitchFamily="34" charset="-122"/>
                <a:cs typeface="Inter" pitchFamily="34" charset="-120"/>
              </a:rPr>
              <a:t>hypothesis, not ARR</a:t>
            </a:r>
            <a:endParaRPr lang="en-US" sz="3600" dirty="0"/>
          </a:p>
        </p:txBody>
      </p:sp>
      <p:sp>
        <p:nvSpPr>
          <p:cNvPr id="4" name="Shape 2"/>
          <p:cNvSpPr/>
          <p:nvPr/>
        </p:nvSpPr>
        <p:spPr>
          <a:xfrm>
            <a:off x="815975" y="1908175"/>
            <a:ext cx="3346450" cy="2724150"/>
          </a:xfrm>
          <a:prstGeom prst="roundRect">
            <a:avLst>
              <a:gd name="adj" fmla="val 5478"/>
            </a:avLst>
          </a:prstGeom>
          <a:solidFill>
            <a:srgbClr val="0E151C">
              <a:alpha val="90000"/>
            </a:srgbClr>
          </a:solidFill>
          <a:ln w="6350">
            <a:solidFill>
              <a:srgbClr val="2CD8DF">
                <a:alpha val="25000"/>
              </a:srgbClr>
            </a:solidFill>
            <a:prstDash val="solid"/>
          </a:ln>
          <a:effectLst>
            <a:outerShdw sx="100000" sy="100000" kx="0" ky="0" algn="bl" rotWithShape="0" blurRad="355600" dist="0" dir="60000">
              <a:srgbClr val="2CD8DF">
                <a:alpha val="10000"/>
              </a:srgbClr>
            </a:outerShdw>
          </a:effectLst>
        </p:spPr>
      </p:sp>
      <p:sp>
        <p:nvSpPr>
          <p:cNvPr id="5" name="Shape 3"/>
          <p:cNvSpPr/>
          <p:nvPr/>
        </p:nvSpPr>
        <p:spPr>
          <a:xfrm>
            <a:off x="1097280" y="2189479"/>
            <a:ext cx="457200" cy="457200"/>
          </a:xfrm>
          <a:prstGeom prst="roundRect">
            <a:avLst>
              <a:gd name="adj" fmla="val 22222"/>
            </a:avLst>
          </a:prstGeom>
          <a:solidFill>
            <a:srgbClr val="2CD8DF">
              <a:alpha val="12000"/>
            </a:srgbClr>
          </a:solidFill>
          <a:ln/>
        </p:spPr>
      </p:sp>
      <p:pic>
        <p:nvPicPr>
          <p:cNvPr id="6" name="Image 0" descr="Code">    </p:cNvPr>
          <p:cNvPicPr>
            <a:picLocks noChangeAspect="1"/>
          </p:cNvPicPr>
          <p:nvPr/>
        </p:nvPicPr>
        <p:blipFill>
          <a:blip r:embed="rId1"/>
          <a:srcRect l="0" r="0" t="0" b="0"/>
          <a:stretch/>
        </p:blipFill>
        <p:spPr>
          <a:xfrm>
            <a:off x="1173480" y="2265679"/>
            <a:ext cx="304800" cy="304800"/>
          </a:xfrm>
          <a:prstGeom prst="rect">
            <a:avLst/>
          </a:prstGeom>
        </p:spPr>
      </p:pic>
      <p:sp>
        <p:nvSpPr>
          <p:cNvPr id="7" name="Text 4"/>
          <p:cNvSpPr/>
          <p:nvPr/>
        </p:nvSpPr>
        <p:spPr>
          <a:xfrm>
            <a:off x="1097280" y="2799079"/>
            <a:ext cx="2867355"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Risk API / SDK</a:t>
            </a:r>
            <a:endParaRPr lang="en-US" sz="2200" dirty="0"/>
          </a:p>
        </p:txBody>
      </p:sp>
      <p:sp>
        <p:nvSpPr>
          <p:cNvPr id="8" name="Text 5"/>
          <p:cNvSpPr/>
          <p:nvPr/>
        </p:nvSpPr>
        <p:spPr>
          <a:xfrm>
            <a:off x="1097280" y="3272792"/>
            <a:ext cx="286735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ECV quotes &amp; breakers for lending venues</a:t>
            </a:r>
            <a:endParaRPr lang="en-US" sz="1600" dirty="0"/>
          </a:p>
        </p:txBody>
      </p:sp>
      <p:sp>
        <p:nvSpPr>
          <p:cNvPr id="9" name="Shape 6"/>
          <p:cNvSpPr/>
          <p:nvPr/>
        </p:nvSpPr>
        <p:spPr>
          <a:xfrm>
            <a:off x="4422775" y="1908175"/>
            <a:ext cx="3346450" cy="2724150"/>
          </a:xfrm>
          <a:prstGeom prst="roundRect">
            <a:avLst>
              <a:gd name="adj" fmla="val 5478"/>
            </a:avLst>
          </a:prstGeom>
          <a:solidFill>
            <a:srgbClr val="0E151C">
              <a:alpha val="90000"/>
            </a:srgbClr>
          </a:solidFill>
          <a:ln w="6350">
            <a:solidFill>
              <a:srgbClr val="9469F2">
                <a:alpha val="32000"/>
              </a:srgbClr>
            </a:solidFill>
            <a:prstDash val="solid"/>
          </a:ln>
          <a:effectLst>
            <a:outerShdw sx="100000" sy="100000" kx="0" ky="0" algn="bl" rotWithShape="0" blurRad="355600" dist="0" dir="60000">
              <a:srgbClr val="8462D8">
                <a:alpha val="12000"/>
              </a:srgbClr>
            </a:outerShdw>
          </a:effectLst>
        </p:spPr>
      </p:sp>
      <p:sp>
        <p:nvSpPr>
          <p:cNvPr id="10" name="Shape 7"/>
          <p:cNvSpPr/>
          <p:nvPr/>
        </p:nvSpPr>
        <p:spPr>
          <a:xfrm>
            <a:off x="4704080" y="2189479"/>
            <a:ext cx="457200" cy="457200"/>
          </a:xfrm>
          <a:prstGeom prst="roundRect">
            <a:avLst>
              <a:gd name="adj" fmla="val 22222"/>
            </a:avLst>
          </a:prstGeom>
          <a:solidFill>
            <a:srgbClr val="8462D8">
              <a:alpha val="16000"/>
            </a:srgbClr>
          </a:solidFill>
          <a:ln/>
        </p:spPr>
      </p:sp>
      <p:pic>
        <p:nvPicPr>
          <p:cNvPr id="11" name="Image 1" descr="Chart">    </p:cNvPr>
          <p:cNvPicPr>
            <a:picLocks noChangeAspect="1"/>
          </p:cNvPicPr>
          <p:nvPr/>
        </p:nvPicPr>
        <p:blipFill>
          <a:blip r:embed="rId2"/>
          <a:srcRect l="0" r="0" t="0" b="0"/>
          <a:stretch/>
        </p:blipFill>
        <p:spPr>
          <a:xfrm>
            <a:off x="4780280" y="2265679"/>
            <a:ext cx="304800" cy="304800"/>
          </a:xfrm>
          <a:prstGeom prst="rect">
            <a:avLst/>
          </a:prstGeom>
        </p:spPr>
      </p:pic>
      <p:sp>
        <p:nvSpPr>
          <p:cNvPr id="12" name="Text 8"/>
          <p:cNvSpPr/>
          <p:nvPr/>
        </p:nvSpPr>
        <p:spPr>
          <a:xfrm>
            <a:off x="4704080" y="2799079"/>
            <a:ext cx="2867355"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Share of risk premium</a:t>
            </a:r>
            <a:endParaRPr lang="en-US" sz="2200" dirty="0"/>
          </a:p>
        </p:txBody>
      </p:sp>
      <p:sp>
        <p:nvSpPr>
          <p:cNvPr id="13" name="Text 9"/>
          <p:cNvSpPr/>
          <p:nvPr/>
        </p:nvSpPr>
        <p:spPr>
          <a:xfrm>
            <a:off x="4704080" y="3594100"/>
            <a:ext cx="286735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When ECV sits in the borrow path</a:t>
            </a:r>
            <a:endParaRPr lang="en-US" sz="1600" dirty="0"/>
          </a:p>
        </p:txBody>
      </p:sp>
      <p:sp>
        <p:nvSpPr>
          <p:cNvPr id="14" name="Shape 10"/>
          <p:cNvSpPr/>
          <p:nvPr/>
        </p:nvSpPr>
        <p:spPr>
          <a:xfrm>
            <a:off x="8029575" y="1908175"/>
            <a:ext cx="3346450" cy="2724150"/>
          </a:xfrm>
          <a:prstGeom prst="roundRect">
            <a:avLst>
              <a:gd name="adj" fmla="val 5478"/>
            </a:avLst>
          </a:prstGeom>
          <a:solidFill>
            <a:srgbClr val="0E151C">
              <a:alpha val="90000"/>
            </a:srgbClr>
          </a:solidFill>
          <a:ln w="6350">
            <a:solidFill>
              <a:srgbClr val="FFFFFF">
                <a:alpha val="12000"/>
              </a:srgbClr>
            </a:solidFill>
            <a:prstDash val="solid"/>
          </a:ln>
        </p:spPr>
      </p:sp>
      <p:sp>
        <p:nvSpPr>
          <p:cNvPr id="15" name="Shape 11"/>
          <p:cNvSpPr/>
          <p:nvPr/>
        </p:nvSpPr>
        <p:spPr>
          <a:xfrm>
            <a:off x="8310880" y="2189479"/>
            <a:ext cx="457200" cy="457200"/>
          </a:xfrm>
          <a:prstGeom prst="roundRect">
            <a:avLst>
              <a:gd name="adj" fmla="val 22222"/>
            </a:avLst>
          </a:prstGeom>
          <a:solidFill>
            <a:srgbClr val="E8F1F2">
              <a:alpha val="8000"/>
            </a:srgbClr>
          </a:solidFill>
          <a:ln/>
        </p:spPr>
      </p:sp>
      <p:pic>
        <p:nvPicPr>
          <p:cNvPr id="16" name="Image 2" descr="Lock">    </p:cNvPr>
          <p:cNvPicPr>
            <a:picLocks noChangeAspect="1"/>
          </p:cNvPicPr>
          <p:nvPr/>
        </p:nvPicPr>
        <p:blipFill>
          <a:blip r:embed="rId3"/>
          <a:srcRect l="0" r="0" t="0" b="0"/>
          <a:stretch/>
        </p:blipFill>
        <p:spPr>
          <a:xfrm>
            <a:off x="8387080" y="2265679"/>
            <a:ext cx="304800" cy="304800"/>
          </a:xfrm>
          <a:prstGeom prst="rect">
            <a:avLst/>
          </a:prstGeom>
        </p:spPr>
      </p:pic>
      <p:sp>
        <p:nvSpPr>
          <p:cNvPr id="17" name="Text 12"/>
          <p:cNvSpPr/>
          <p:nvPr/>
        </p:nvSpPr>
        <p:spPr>
          <a:xfrm>
            <a:off x="8310880" y="2799079"/>
            <a:ext cx="2867355"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F1F2"/>
                </a:solidFill>
                <a:latin typeface="Inter" pitchFamily="34" charset="0"/>
                <a:ea typeface="Inter" pitchFamily="34" charset="-122"/>
                <a:cs typeface="Inter" pitchFamily="34" charset="-120"/>
              </a:rPr>
              <a:t>Optional vault fees</a:t>
            </a:r>
            <a:endParaRPr lang="en-US" sz="2200" dirty="0"/>
          </a:p>
        </p:txBody>
      </p:sp>
      <p:sp>
        <p:nvSpPr>
          <p:cNvPr id="18" name="Text 13"/>
          <p:cNvSpPr/>
          <p:nvPr/>
        </p:nvSpPr>
        <p:spPr>
          <a:xfrm>
            <a:off x="8310880" y="3272792"/>
            <a:ext cx="286735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8FA3A7"/>
                </a:solidFill>
                <a:latin typeface="Inter" pitchFamily="34" charset="0"/>
                <a:ea typeface="Inter" pitchFamily="34" charset="-122"/>
                <a:cs typeface="Inter" pitchFamily="34" charset="-120"/>
              </a:rPr>
              <a:t>If we operate a reference vault</a:t>
            </a:r>
            <a:endParaRPr lang="en-US" sz="1600" dirty="0"/>
          </a:p>
        </p:txBody>
      </p:sp>
      <p:sp>
        <p:nvSpPr>
          <p:cNvPr id="19" name="Shape 14"/>
          <p:cNvSpPr/>
          <p:nvPr/>
        </p:nvSpPr>
        <p:spPr>
          <a:xfrm>
            <a:off x="815975" y="5845175"/>
            <a:ext cx="2279650" cy="328930"/>
          </a:xfrm>
          <a:prstGeom prst="roundRect">
            <a:avLst>
              <a:gd name="adj" fmla="val 50000"/>
            </a:avLst>
          </a:prstGeom>
          <a:noFill/>
          <a:ln w="6350">
            <a:solidFill>
              <a:srgbClr val="8FA3A7">
                <a:alpha val="50000"/>
              </a:srgbClr>
            </a:solidFill>
            <a:prstDash val="dash"/>
          </a:ln>
        </p:spPr>
      </p:sp>
      <p:sp>
        <p:nvSpPr>
          <p:cNvPr id="20" name="Text 15"/>
          <p:cNvSpPr/>
          <p:nvPr/>
        </p:nvSpPr>
        <p:spPr>
          <a:xfrm>
            <a:off x="970280" y="5910580"/>
            <a:ext cx="203017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3A7"/>
                </a:solidFill>
                <a:latin typeface="Inter" pitchFamily="34" charset="0"/>
                <a:ea typeface="Inter" pitchFamily="34" charset="-122"/>
                <a:cs typeface="Inter" pitchFamily="34" charset="-120"/>
              </a:rPr>
              <a:t>Skip if short on time.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3243A"/>
              </a:gs>
              <a:gs pos="48000">
                <a:srgbClr val="0B0E14"/>
              </a:gs>
              <a:gs pos="100000">
                <a:srgbClr val="070B12"/>
              </a:gs>
            </a:gsLst>
            <a:path path="circle">
              <a:fillToRect l="88000" t="10000" r="12000" b="90000"/>
            </a:path>
          </a:gradFill>
          <a:ln/>
        </p:spPr>
      </p:sp>
      <p:sp>
        <p:nvSpPr>
          <p:cNvPr id="3" name="Text 1"/>
          <p:cNvSpPr/>
          <p:nvPr/>
        </p:nvSpPr>
        <p:spPr>
          <a:xfrm>
            <a:off x="812800" y="812800"/>
            <a:ext cx="5886450"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E8F1F2"/>
                </a:solidFill>
                <a:latin typeface="Inter" pitchFamily="34" charset="0"/>
                <a:ea typeface="Inter" pitchFamily="34" charset="-122"/>
                <a:cs typeface="Inter" pitchFamily="34" charset="-120"/>
              </a:rPr>
              <a:t>Team</a:t>
            </a:r>
            <a:endParaRPr lang="en-US" sz="3600" dirty="0"/>
          </a:p>
        </p:txBody>
      </p:sp>
      <p:pic>
        <p:nvPicPr>
          <p:cNvPr id="4" name="Image 0" descr="Dorian Żaczek">    </p:cNvPr>
          <p:cNvPicPr>
            <a:picLocks noChangeAspect="1"/>
          </p:cNvPicPr>
          <p:nvPr/>
        </p:nvPicPr>
        <p:blipFill>
          <a:blip r:embed="rId1"/>
          <a:srcRect l="0" r="0" t="0" b="0"/>
          <a:stretch/>
        </p:blipFill>
        <p:spPr>
          <a:xfrm>
            <a:off x="1339850" y="1727200"/>
            <a:ext cx="1397000" cy="1397000"/>
          </a:xfrm>
          <a:prstGeom prst="rect">
            <a:avLst/>
          </a:prstGeom>
        </p:spPr>
      </p:pic>
      <p:sp>
        <p:nvSpPr>
          <p:cNvPr id="5" name="Text 2"/>
          <p:cNvSpPr/>
          <p:nvPr/>
        </p:nvSpPr>
        <p:spPr>
          <a:xfrm>
            <a:off x="1301750" y="3213100"/>
            <a:ext cx="1473200"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E8F1F2"/>
                </a:solidFill>
                <a:latin typeface="Inter" pitchFamily="34" charset="0"/>
                <a:ea typeface="Inter" pitchFamily="34" charset="-122"/>
                <a:cs typeface="Inter" pitchFamily="34" charset="-120"/>
              </a:rPr>
              <a:t>Dorian Żaczek</a:t>
            </a:r>
            <a:endParaRPr lang="en-US" sz="1600" dirty="0"/>
          </a:p>
        </p:txBody>
      </p:sp>
      <p:sp>
        <p:nvSpPr>
          <p:cNvPr id="6" name="Text 3"/>
          <p:cNvSpPr/>
          <p:nvPr/>
        </p:nvSpPr>
        <p:spPr>
          <a:xfrm>
            <a:off x="790096" y="3566164"/>
            <a:ext cx="249650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A3A7"/>
                </a:solidFill>
                <a:latin typeface="Inter" pitchFamily="34" charset="0"/>
                <a:ea typeface="Inter" pitchFamily="34" charset="-122"/>
                <a:cs typeface="Inter" pitchFamily="34" charset="-120"/>
              </a:rPr>
              <a:t>CEO, Founder &amp; Product Manager</a:t>
            </a:r>
            <a:endParaRPr lang="en-US" sz="1200" dirty="0"/>
          </a:p>
        </p:txBody>
      </p:sp>
      <p:pic>
        <p:nvPicPr>
          <p:cNvPr id="7" name="Image 1" descr="Julita Szaruta">    </p:cNvPr>
          <p:cNvPicPr>
            <a:picLocks noChangeAspect="1"/>
          </p:cNvPicPr>
          <p:nvPr/>
        </p:nvPicPr>
        <p:blipFill>
          <a:blip r:embed="rId2"/>
          <a:srcRect l="0" r="0" t="0" b="0"/>
          <a:stretch/>
        </p:blipFill>
        <p:spPr>
          <a:xfrm>
            <a:off x="4044950" y="1727200"/>
            <a:ext cx="1397000" cy="1397000"/>
          </a:xfrm>
          <a:prstGeom prst="rect">
            <a:avLst/>
          </a:prstGeom>
        </p:spPr>
      </p:pic>
      <p:sp>
        <p:nvSpPr>
          <p:cNvPr id="8" name="Text 4"/>
          <p:cNvSpPr/>
          <p:nvPr/>
        </p:nvSpPr>
        <p:spPr>
          <a:xfrm>
            <a:off x="4034552" y="3213100"/>
            <a:ext cx="1417796"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E8F1F2"/>
                </a:solidFill>
                <a:latin typeface="Inter" pitchFamily="34" charset="0"/>
                <a:ea typeface="Inter" pitchFamily="34" charset="-122"/>
                <a:cs typeface="Inter" pitchFamily="34" charset="-120"/>
              </a:rPr>
              <a:t>Julita Szaruta</a:t>
            </a:r>
            <a:endParaRPr lang="en-US" sz="1600" dirty="0"/>
          </a:p>
        </p:txBody>
      </p:sp>
      <p:sp>
        <p:nvSpPr>
          <p:cNvPr id="9" name="Text 5"/>
          <p:cNvSpPr/>
          <p:nvPr/>
        </p:nvSpPr>
        <p:spPr>
          <a:xfrm>
            <a:off x="3604667" y="3566164"/>
            <a:ext cx="227756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A3A7"/>
                </a:solidFill>
                <a:latin typeface="Inter" pitchFamily="34" charset="0"/>
                <a:ea typeface="Inter" pitchFamily="34" charset="-122"/>
                <a:cs typeface="Inter" pitchFamily="34" charset="-120"/>
              </a:rPr>
              <a:t>Legal, Tax &amp; Regulatory · MiCA</a:t>
            </a:r>
            <a:endParaRPr lang="en-US" sz="1200" dirty="0"/>
          </a:p>
        </p:txBody>
      </p:sp>
      <p:pic>
        <p:nvPicPr>
          <p:cNvPr id="10" name="Image 2" descr="Mieszko Manijak">    </p:cNvPr>
          <p:cNvPicPr>
            <a:picLocks noChangeAspect="1"/>
          </p:cNvPicPr>
          <p:nvPr/>
        </p:nvPicPr>
        <p:blipFill>
          <a:blip r:embed="rId3"/>
          <a:srcRect l="0" r="0" t="0" b="0"/>
          <a:stretch/>
        </p:blipFill>
        <p:spPr>
          <a:xfrm>
            <a:off x="6750050" y="1727200"/>
            <a:ext cx="1397000" cy="1397000"/>
          </a:xfrm>
          <a:prstGeom prst="rect">
            <a:avLst/>
          </a:prstGeom>
        </p:spPr>
      </p:pic>
      <p:sp>
        <p:nvSpPr>
          <p:cNvPr id="11" name="Text 6"/>
          <p:cNvSpPr/>
          <p:nvPr/>
        </p:nvSpPr>
        <p:spPr>
          <a:xfrm>
            <a:off x="6592412" y="3213100"/>
            <a:ext cx="1712277"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E8F1F2"/>
                </a:solidFill>
                <a:latin typeface="Inter" pitchFamily="34" charset="0"/>
                <a:ea typeface="Inter" pitchFamily="34" charset="-122"/>
                <a:cs typeface="Inter" pitchFamily="34" charset="-120"/>
              </a:rPr>
              <a:t>Mieszko Manijak</a:t>
            </a:r>
            <a:endParaRPr lang="en-US" sz="1600" dirty="0"/>
          </a:p>
        </p:txBody>
      </p:sp>
      <p:sp>
        <p:nvSpPr>
          <p:cNvPr id="12" name="Text 7"/>
          <p:cNvSpPr/>
          <p:nvPr/>
        </p:nvSpPr>
        <p:spPr>
          <a:xfrm>
            <a:off x="6314265" y="3566164"/>
            <a:ext cx="2268491"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A3A7"/>
                </a:solidFill>
                <a:latin typeface="Inter" pitchFamily="34" charset="0"/>
                <a:ea typeface="Inter" pitchFamily="34" charset="-122"/>
                <a:cs typeface="Inter" pitchFamily="34" charset="-120"/>
              </a:rPr>
              <a:t>CTO &amp; DeFi Architect Engineer</a:t>
            </a:r>
            <a:endParaRPr lang="en-US" sz="1200" dirty="0"/>
          </a:p>
          <a:p>
            <a:pPr algn="ctr" indent="0" marL="0">
              <a:lnSpc>
                <a:spcPts val="1680"/>
              </a:lnSpc>
              <a:buNone/>
            </a:pPr>
            <a:r>
              <a:rPr lang="en-US" sz="1200" dirty="0">
                <a:solidFill>
                  <a:srgbClr val="8FA3A7"/>
                </a:solidFill>
                <a:latin typeface="Inter" pitchFamily="34" charset="0"/>
                <a:ea typeface="Inter" pitchFamily="34" charset="-122"/>
                <a:cs typeface="Inter" pitchFamily="34" charset="-120"/>
              </a:rPr>
              <a:t>Anchor program + Rust poster</a:t>
            </a:r>
            <a:endParaRPr lang="en-US" sz="1200" dirty="0"/>
          </a:p>
        </p:txBody>
      </p:sp>
      <p:sp>
        <p:nvSpPr>
          <p:cNvPr id="13" name="Shape 8"/>
          <p:cNvSpPr/>
          <p:nvPr/>
        </p:nvSpPr>
        <p:spPr>
          <a:xfrm>
            <a:off x="8588375" y="892175"/>
            <a:ext cx="2787650" cy="527050"/>
          </a:xfrm>
          <a:prstGeom prst="roundRect">
            <a:avLst>
              <a:gd name="adj" fmla="val 50000"/>
            </a:avLst>
          </a:prstGeom>
          <a:solidFill>
            <a:srgbClr val="2CD8DF">
              <a:alpha val="10000"/>
            </a:srgbClr>
          </a:solidFill>
          <a:ln w="6350">
            <a:solidFill>
              <a:srgbClr val="2CD8DF">
                <a:alpha val="45000"/>
              </a:srgbClr>
            </a:solidFill>
            <a:prstDash val="solid"/>
          </a:ln>
        </p:spPr>
      </p:sp>
      <p:pic>
        <p:nvPicPr>
          <p:cNvPr id="14" name="Image 3" descr="Users">    </p:cNvPr>
          <p:cNvPicPr>
            <a:picLocks noChangeAspect="1"/>
          </p:cNvPicPr>
          <p:nvPr/>
        </p:nvPicPr>
        <p:blipFill>
          <a:blip r:embed="rId4"/>
          <a:srcRect l="-607" r="-607" t="0" b="0"/>
          <a:stretch/>
        </p:blipFill>
        <p:spPr>
          <a:xfrm>
            <a:off x="8742680" y="1041400"/>
            <a:ext cx="224949" cy="228600"/>
          </a:xfrm>
          <a:prstGeom prst="rect">
            <a:avLst/>
          </a:prstGeom>
        </p:spPr>
      </p:pic>
      <p:sp>
        <p:nvSpPr>
          <p:cNvPr id="15" name="Text 9"/>
          <p:cNvSpPr/>
          <p:nvPr/>
        </p:nvSpPr>
        <p:spPr>
          <a:xfrm>
            <a:off x="9043829" y="957579"/>
            <a:ext cx="2243228"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CD8DF"/>
                </a:solidFill>
                <a:latin typeface="Inter" pitchFamily="34" charset="0"/>
                <a:ea typeface="Inter" pitchFamily="34" charset="-122"/>
                <a:cs typeface="Inter" pitchFamily="34" charset="-120"/>
              </a:rPr>
              <a:t>Hiring: Rust/Anchor · frontend</a:t>
            </a:r>
            <a:endParaRPr lang="en-US" sz="1200" dirty="0"/>
          </a:p>
        </p:txBody>
      </p:sp>
      <p:sp>
        <p:nvSpPr>
          <p:cNvPr id="16" name="Shape 10"/>
          <p:cNvSpPr/>
          <p:nvPr/>
        </p:nvSpPr>
        <p:spPr>
          <a:xfrm>
            <a:off x="9474200" y="1746250"/>
            <a:ext cx="1358900" cy="1358900"/>
          </a:xfrm>
          <a:prstGeom prst="roundRect">
            <a:avLst>
              <a:gd name="adj" fmla="val 50000"/>
            </a:avLst>
          </a:prstGeom>
          <a:gradFill rotWithShape="1">
            <a:gsLst>
              <a:gs pos="0">
                <a:srgbClr val="1F253B"/>
              </a:gs>
              <a:gs pos="100000">
                <a:srgbClr val="0E151C"/>
              </a:gs>
            </a:gsLst>
            <a:path path="circle">
              <a:fillToRect l="50000" t="35000" r="50000" b="65000"/>
            </a:path>
          </a:gradFill>
          <a:ln w="38100">
            <a:solidFill>
              <a:srgbClr val="2EE6D6"/>
            </a:solidFill>
            <a:prstDash val="solid"/>
          </a:ln>
        </p:spPr>
      </p:sp>
      <p:sp>
        <p:nvSpPr>
          <p:cNvPr id="17" name="Text 11"/>
          <p:cNvSpPr/>
          <p:nvPr/>
        </p:nvSpPr>
        <p:spPr>
          <a:xfrm>
            <a:off x="9793129" y="2197100"/>
            <a:ext cx="721043" cy="482600"/>
          </a:xfrm>
          <a:prstGeom prst="rect">
            <a:avLst/>
          </a:prstGeom>
          <a:noFill/>
          <a:ln/>
        </p:spPr>
        <p:txBody>
          <a:bodyPr wrap="square" lIns="0" tIns="0" rIns="0" bIns="0" rtlCol="0" anchor="t">
            <a:normAutofit/>
          </a:bodyPr>
          <a:lstStyle/>
          <a:p>
            <a:pPr algn="ctr" indent="0" marL="0">
              <a:lnSpc>
                <a:spcPts val="3600"/>
              </a:lnSpc>
              <a:buNone/>
            </a:pPr>
            <a:r>
              <a:rPr lang="en-US" sz="3600" b="1" dirty="0">
                <a:solidFill>
                  <a:srgbClr val="E8F1F2"/>
                </a:solidFill>
                <a:latin typeface="Inter" pitchFamily="34" charset="0"/>
                <a:ea typeface="Inter" pitchFamily="34" charset="-122"/>
                <a:cs typeface="Inter" pitchFamily="34" charset="-120"/>
              </a:rPr>
              <a:t>AK</a:t>
            </a:r>
            <a:endParaRPr lang="en-US" sz="3600" dirty="0"/>
          </a:p>
        </p:txBody>
      </p:sp>
      <p:sp>
        <p:nvSpPr>
          <p:cNvPr id="18" name="Text 12"/>
          <p:cNvSpPr/>
          <p:nvPr/>
        </p:nvSpPr>
        <p:spPr>
          <a:xfrm>
            <a:off x="9161213" y="3213100"/>
            <a:ext cx="1984796"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E8F1F2"/>
                </a:solidFill>
                <a:latin typeface="Inter" pitchFamily="34" charset="0"/>
                <a:ea typeface="Inter" pitchFamily="34" charset="-122"/>
                <a:cs typeface="Inter" pitchFamily="34" charset="-120"/>
              </a:rPr>
              <a:t>Adam Książkiewicz</a:t>
            </a:r>
            <a:endParaRPr lang="en-US" sz="1600" dirty="0"/>
          </a:p>
        </p:txBody>
      </p:sp>
      <p:sp>
        <p:nvSpPr>
          <p:cNvPr id="19" name="Text 13"/>
          <p:cNvSpPr/>
          <p:nvPr/>
        </p:nvSpPr>
        <p:spPr>
          <a:xfrm>
            <a:off x="8891334" y="3566164"/>
            <a:ext cx="252463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A3A7"/>
                </a:solidFill>
                <a:latin typeface="Inter" pitchFamily="34" charset="0"/>
                <a:ea typeface="Inter" pitchFamily="34" charset="-122"/>
                <a:cs typeface="Inter" pitchFamily="34" charset="-120"/>
              </a:rPr>
              <a:t>investiatech · Rust · devnet deployment · quant markets</a:t>
            </a:r>
            <a:endParaRPr lang="en-US" sz="1200" dirty="0"/>
          </a:p>
        </p:txBody>
      </p:sp>
      <p:sp>
        <p:nvSpPr>
          <p:cNvPr id="20" name="Shape 14"/>
          <p:cNvSpPr/>
          <p:nvPr/>
        </p:nvSpPr>
        <p:spPr>
          <a:xfrm>
            <a:off x="815975" y="4905375"/>
            <a:ext cx="10560050" cy="867410"/>
          </a:xfrm>
          <a:prstGeom prst="roundRect">
            <a:avLst>
              <a:gd name="adj" fmla="val 14275"/>
            </a:avLst>
          </a:prstGeom>
          <a:solidFill>
            <a:srgbClr val="0E151C">
              <a:alpha val="90000"/>
            </a:srgbClr>
          </a:solidFill>
          <a:ln w="6350">
            <a:solidFill>
              <a:srgbClr val="9469F2">
                <a:alpha val="32000"/>
              </a:srgbClr>
            </a:solidFill>
            <a:prstDash val="solid"/>
          </a:ln>
          <a:effectLst>
            <a:outerShdw sx="100000" sy="100000" kx="0" ky="0" algn="bl" rotWithShape="0" blurRad="304800" dist="0" dir="60000">
              <a:srgbClr val="8462D8">
                <a:alpha val="10000"/>
              </a:srgbClr>
            </a:outerShdw>
          </a:effectLst>
        </p:spPr>
      </p:sp>
      <p:pic>
        <p:nvPicPr>
          <p:cNvPr id="21" name="Image 4" descr="Adam Kwak">    </p:cNvPr>
          <p:cNvPicPr>
            <a:picLocks noChangeAspect="1"/>
          </p:cNvPicPr>
          <p:nvPr/>
        </p:nvPicPr>
        <p:blipFill>
          <a:blip r:embed="rId5"/>
          <a:srcRect l="0" r="0" t="0" b="0"/>
          <a:stretch/>
        </p:blipFill>
        <p:spPr>
          <a:xfrm>
            <a:off x="1021080" y="5034279"/>
            <a:ext cx="609600" cy="609600"/>
          </a:xfrm>
          <a:prstGeom prst="rect">
            <a:avLst/>
          </a:prstGeom>
        </p:spPr>
      </p:pic>
      <p:sp>
        <p:nvSpPr>
          <p:cNvPr id="22" name="Text 15"/>
          <p:cNvSpPr/>
          <p:nvPr/>
        </p:nvSpPr>
        <p:spPr>
          <a:xfrm>
            <a:off x="1808480" y="5064764"/>
            <a:ext cx="9643313"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BFD3D6"/>
                </a:solidFill>
                <a:latin typeface="Inter" pitchFamily="34" charset="0"/>
                <a:ea typeface="Inter" pitchFamily="34" charset="-122"/>
                <a:cs typeface="Inter" pitchFamily="34" charset="-120"/>
              </a:rPr>
              <a:t>Advisor · Adam Kwak</a:t>
            </a:r>
            <a:r>
              <a:rPr lang="en-US" sz="1600" dirty="0">
                <a:solidFill>
                  <a:srgbClr val="BFD3D6"/>
                </a:solidFill>
                <a:latin typeface="Inter" pitchFamily="34" charset="0"/>
                <a:ea typeface="Inter" pitchFamily="34" charset="-122"/>
                <a:cs typeface="Inter" pitchFamily="34" charset="-120"/>
              </a:rPr>
              <a:t> — staff-level COBOL / mainframe, 20 yrs core financial infrastructure (Scandinavia)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A2748"/>
              </a:gs>
              <a:gs pos="55000">
                <a:srgbClr val="0B0E14"/>
              </a:gs>
              <a:gs pos="100000">
                <a:srgbClr val="06080C"/>
              </a:gs>
            </a:gsLst>
            <a:path path="circle">
              <a:fillToRect l="50000" t="38000" r="50000" b="62000"/>
            </a:path>
          </a:gradFill>
          <a:ln/>
        </p:spPr>
      </p:sp>
      <p:pic>
        <p:nvPicPr>
          <p:cNvPr id="3" name="Image 0" descr="Decorative shield outline">    </p:cNvPr>
          <p:cNvPicPr>
            <a:picLocks noChangeAspect="1"/>
          </p:cNvPicPr>
          <p:nvPr/>
        </p:nvPicPr>
        <p:blipFill>
          <a:blip r:embed="rId1">
            <a:alphaModFix amt="45000"/>
          </a:blip>
          <a:srcRect l="0" r="0" t="0" b="0"/>
          <a:stretch/>
        </p:blipFill>
        <p:spPr>
          <a:xfrm>
            <a:off x="3238500" y="571500"/>
            <a:ext cx="5715000" cy="5715000"/>
          </a:xfrm>
          <a:prstGeom prst="rect">
            <a:avLst/>
          </a:prstGeom>
        </p:spPr>
      </p:pic>
      <p:sp>
        <p:nvSpPr>
          <p:cNvPr id="4" name="Shape 1"/>
          <p:cNvSpPr/>
          <p:nvPr/>
        </p:nvSpPr>
        <p:spPr>
          <a:xfrm>
            <a:off x="5540375" y="1209675"/>
            <a:ext cx="1111250" cy="1111250"/>
          </a:xfrm>
          <a:prstGeom prst="roundRect">
            <a:avLst>
              <a:gd name="adj" fmla="val 15714"/>
            </a:avLst>
          </a:prstGeom>
          <a:solidFill>
            <a:srgbClr val="0B0E14"/>
          </a:solidFill>
          <a:ln w="6350">
            <a:solidFill>
              <a:srgbClr val="2CD8DF">
                <a:alpha val="28000"/>
              </a:srgbClr>
            </a:solidFill>
            <a:prstDash val="solid"/>
          </a:ln>
          <a:effectLst>
            <a:outerShdw sx="100000" sy="100000" kx="0" ky="0" algn="bl" rotWithShape="0" blurRad="355600" dist="0" dir="60000">
              <a:srgbClr val="2CD8DF">
                <a:alpha val="20000"/>
              </a:srgbClr>
            </a:outerShdw>
          </a:effectLst>
        </p:spPr>
      </p:sp>
      <p:pic>
        <p:nvPicPr>
          <p:cNvPr id="5" name="Image 1" descr="RWA Shield logo">    </p:cNvPr>
          <p:cNvPicPr>
            <a:picLocks noChangeAspect="1"/>
          </p:cNvPicPr>
          <p:nvPr/>
        </p:nvPicPr>
        <p:blipFill>
          <a:blip r:embed="rId2"/>
          <a:srcRect l="0" r="0" t="0" b="0"/>
          <a:stretch/>
        </p:blipFill>
        <p:spPr>
          <a:xfrm>
            <a:off x="5638800" y="1308100"/>
            <a:ext cx="914400" cy="914400"/>
          </a:xfrm>
          <a:prstGeom prst="rect">
            <a:avLst/>
          </a:prstGeom>
        </p:spPr>
      </p:pic>
      <p:sp>
        <p:nvSpPr>
          <p:cNvPr id="6" name="Text 2"/>
          <p:cNvSpPr/>
          <p:nvPr/>
        </p:nvSpPr>
        <p:spPr>
          <a:xfrm>
            <a:off x="1517650" y="2794000"/>
            <a:ext cx="9156700" cy="1076960"/>
          </a:xfrm>
          <a:prstGeom prst="rect">
            <a:avLst/>
          </a:prstGeom>
          <a:noFill/>
          <a:ln/>
        </p:spPr>
        <p:txBody>
          <a:bodyPr wrap="square" lIns="0" tIns="0" rIns="0" bIns="0" rtlCol="0" anchor="t">
            <a:normAutofit/>
          </a:bodyPr>
          <a:lstStyle/>
          <a:p>
            <a:pPr algn="ctr" indent="0" marL="0">
              <a:lnSpc>
                <a:spcPts val="4140"/>
              </a:lnSpc>
              <a:buNone/>
            </a:pPr>
            <a:r>
              <a:rPr lang="en-US" sz="3600" b="1" spc="-50" kern="0" dirty="0">
                <a:solidFill>
                  <a:srgbClr val="E8F1F2"/>
                </a:solidFill>
                <a:latin typeface="Inter" pitchFamily="34" charset="0"/>
                <a:ea typeface="Inter" pitchFamily="34" charset="-122"/>
                <a:cs typeface="Inter" pitchFamily="34" charset="-120"/>
              </a:rPr>
              <a:t>Recoverable collateral quotes — not a price print.</a:t>
            </a:r>
            <a:endParaRPr lang="en-US" sz="3600" dirty="0"/>
          </a:p>
        </p:txBody>
      </p:sp>
      <p:sp>
        <p:nvSpPr>
          <p:cNvPr id="7" name="Shape 3"/>
          <p:cNvSpPr/>
          <p:nvPr/>
        </p:nvSpPr>
        <p:spPr>
          <a:xfrm>
            <a:off x="2797175" y="4321175"/>
            <a:ext cx="6597650" cy="496570"/>
          </a:xfrm>
          <a:prstGeom prst="roundRect">
            <a:avLst>
              <a:gd name="adj" fmla="val 50000"/>
            </a:avLst>
          </a:prstGeom>
          <a:solidFill>
            <a:srgbClr val="2CD8DF">
              <a:alpha val="8000"/>
            </a:srgbClr>
          </a:solidFill>
          <a:ln w="6350">
            <a:solidFill>
              <a:srgbClr val="2CD8DF">
                <a:alpha val="45000"/>
              </a:srgbClr>
            </a:solidFill>
            <a:prstDash val="solid"/>
          </a:ln>
        </p:spPr>
      </p:sp>
      <p:sp>
        <p:nvSpPr>
          <p:cNvPr id="8" name="Text 4"/>
          <p:cNvSpPr/>
          <p:nvPr/>
        </p:nvSpPr>
        <p:spPr>
          <a:xfrm>
            <a:off x="2909468" y="4437380"/>
            <a:ext cx="6373063" cy="289560"/>
          </a:xfrm>
          <a:prstGeom prst="rect">
            <a:avLst/>
          </a:prstGeom>
          <a:noFill/>
          <a:ln/>
        </p:spPr>
        <p:txBody>
          <a:bodyPr wrap="square" lIns="0" tIns="0" rIns="0" bIns="0" rtlCol="0" anchor="t">
            <a:normAutofit/>
          </a:bodyPr>
          <a:lstStyle/>
          <a:p>
            <a:pPr algn="ctr" indent="0" marL="0">
              <a:lnSpc>
                <a:spcPts val="2080"/>
              </a:lnSpc>
              <a:buNone/>
            </a:pPr>
            <a:r>
              <a:rPr lang="en-US" sz="1600" u="sng" dirty="0">
                <a:solidFill>
                  <a:srgbClr val="2CD8DF"/>
                </a:solidFill>
                <a:latin typeface="JetBrains Mono" pitchFamily="34" charset="0"/>
                <a:ea typeface="JetBrains Mono" pitchFamily="34" charset="-122"/>
                <a:cs typeface="JetBrains Mono"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github.com/Dorianos85/rwa-shield/tree/main/onchain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RWA Shield — Warsaw pitch</dc:title>
  <dc:subject>PptxGenJS Presentation</dc:subject>
  <dc:creator>PptxGenJS</dc:creator>
  <cp:lastModifiedBy>PptxGenJS</cp:lastModifiedBy>
  <cp:revision>1</cp:revision>
  <dcterms:created xsi:type="dcterms:W3CDTF">2026-09-27T21:58:29Z</dcterms:created>
  <dcterms:modified xsi:type="dcterms:W3CDTF">2026-09-27T21:58:29Z</dcterms:modified>
</cp:coreProperties>
</file>